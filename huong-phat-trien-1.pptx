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Inter Bold" charset="1" panose="02000503000000020004"/>
      <p:regular r:id="rId24"/>
    </p:embeddedFont>
    <p:embeddedFont>
      <p:font typeface="Inter" charset="1" panose="02000503000000020004"/>
      <p:regular r:id="rId25"/>
    </p:embeddedFont>
    <p:embeddedFont>
      <p:font typeface="Inters" charset="1" panose="02000503040000020002"/>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pn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svg" Type="http://schemas.openxmlformats.org/officeDocument/2006/relationships/image"/><Relationship Id="rId11" Target="../media/image24.png" Type="http://schemas.openxmlformats.org/officeDocument/2006/relationships/image"/><Relationship Id="rId12" Target="../media/image25.svg" Type="http://schemas.openxmlformats.org/officeDocument/2006/relationships/image"/><Relationship Id="rId13" Target="../media/image1.png" Type="http://schemas.openxmlformats.org/officeDocument/2006/relationships/image"/><Relationship Id="rId2" Target="../media/image15.pn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 Id="rId7" Target="../media/image20.png" Type="http://schemas.openxmlformats.org/officeDocument/2006/relationships/image"/><Relationship Id="rId8" Target="../media/image21.svg" Type="http://schemas.openxmlformats.org/officeDocument/2006/relationships/image"/><Relationship Id="rId9" Target="../media/image2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6.png" Type="http://schemas.openxmlformats.org/officeDocument/2006/relationships/image"/><Relationship Id="rId4" Target="../media/image5.png" Type="http://schemas.openxmlformats.org/officeDocument/2006/relationships/image"/><Relationship Id="rId5" Target="../media/image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png" Type="http://schemas.openxmlformats.org/officeDocument/2006/relationships/image"/><Relationship Id="rId4" Target="../media/image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6.png" Type="http://schemas.openxmlformats.org/officeDocument/2006/relationships/image"/><Relationship Id="rId4" Target="../media/image5.png" Type="http://schemas.openxmlformats.org/officeDocument/2006/relationships/image"/><Relationship Id="rId5" Target="../media/image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2.svg" Type="http://schemas.openxmlformats.org/officeDocument/2006/relationships/image"/><Relationship Id="rId4" Target="../media/image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377C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gradFill rotWithShape="true">
              <a:gsLst>
                <a:gs pos="0">
                  <a:srgbClr val="7AF6EE">
                    <a:alpha val="100000"/>
                  </a:srgbClr>
                </a:gs>
                <a:gs pos="100000">
                  <a:srgbClr val="EAFFFE">
                    <a:alpha val="100000"/>
                  </a:srgbClr>
                </a:gs>
              </a:gsLst>
              <a:lin ang="5400000"/>
            </a:gradFill>
          </p:spPr>
        </p:sp>
      </p:grpSp>
      <p:grpSp>
        <p:nvGrpSpPr>
          <p:cNvPr name="Group 6" id="6"/>
          <p:cNvGrpSpPr/>
          <p:nvPr/>
        </p:nvGrpSpPr>
        <p:grpSpPr>
          <a:xfrm rot="0">
            <a:off x="992238" y="1489920"/>
            <a:ext cx="1988934" cy="371475"/>
            <a:chOff x="0" y="0"/>
            <a:chExt cx="2651912" cy="495300"/>
          </a:xfrm>
        </p:grpSpPr>
        <p:sp>
          <p:nvSpPr>
            <p:cNvPr name="Freeform 7" id="7"/>
            <p:cNvSpPr/>
            <p:nvPr/>
          </p:nvSpPr>
          <p:spPr>
            <a:xfrm flipH="false" flipV="false" rot="0">
              <a:off x="0" y="0"/>
              <a:ext cx="2651887" cy="495300"/>
            </a:xfrm>
            <a:custGeom>
              <a:avLst/>
              <a:gdLst/>
              <a:ahLst/>
              <a:cxnLst/>
              <a:rect r="r" b="b" t="t" l="l"/>
              <a:pathLst>
                <a:path h="495300" w="2651887">
                  <a:moveTo>
                    <a:pt x="0" y="214376"/>
                  </a:moveTo>
                  <a:cubicBezTo>
                    <a:pt x="0" y="96012"/>
                    <a:pt x="96012" y="0"/>
                    <a:pt x="214376" y="0"/>
                  </a:cubicBezTo>
                  <a:lnTo>
                    <a:pt x="2437511" y="0"/>
                  </a:lnTo>
                  <a:cubicBezTo>
                    <a:pt x="2555875" y="0"/>
                    <a:pt x="2651887" y="96012"/>
                    <a:pt x="2651887" y="214376"/>
                  </a:cubicBezTo>
                  <a:lnTo>
                    <a:pt x="2651887" y="280924"/>
                  </a:lnTo>
                  <a:cubicBezTo>
                    <a:pt x="2651887" y="399288"/>
                    <a:pt x="2555875" y="495300"/>
                    <a:pt x="2437511" y="495300"/>
                  </a:cubicBezTo>
                  <a:lnTo>
                    <a:pt x="214376" y="495300"/>
                  </a:lnTo>
                  <a:cubicBezTo>
                    <a:pt x="96012" y="495300"/>
                    <a:pt x="0" y="399288"/>
                    <a:pt x="0" y="280924"/>
                  </a:cubicBezTo>
                  <a:close/>
                </a:path>
              </a:pathLst>
            </a:custGeom>
            <a:solidFill>
              <a:srgbClr val="5678F0"/>
            </a:solidFill>
          </p:spPr>
        </p:sp>
      </p:grpSp>
      <p:grpSp>
        <p:nvGrpSpPr>
          <p:cNvPr name="Group 8" id="8"/>
          <p:cNvGrpSpPr/>
          <p:nvPr/>
        </p:nvGrpSpPr>
        <p:grpSpPr>
          <a:xfrm rot="0">
            <a:off x="963663" y="6655889"/>
            <a:ext cx="57150" cy="889845"/>
            <a:chOff x="0" y="0"/>
            <a:chExt cx="76200" cy="1186459"/>
          </a:xfrm>
        </p:grpSpPr>
        <p:sp>
          <p:nvSpPr>
            <p:cNvPr name="Freeform 9" id="9"/>
            <p:cNvSpPr/>
            <p:nvPr/>
          </p:nvSpPr>
          <p:spPr>
            <a:xfrm flipH="false" flipV="false" rot="0">
              <a:off x="0" y="0"/>
              <a:ext cx="76200" cy="1186434"/>
            </a:xfrm>
            <a:custGeom>
              <a:avLst/>
              <a:gdLst/>
              <a:ahLst/>
              <a:cxnLst/>
              <a:rect r="r" b="b" t="t" l="l"/>
              <a:pathLst>
                <a:path h="1186434" w="76200">
                  <a:moveTo>
                    <a:pt x="0" y="0"/>
                  </a:moveTo>
                  <a:lnTo>
                    <a:pt x="76200" y="0"/>
                  </a:lnTo>
                  <a:lnTo>
                    <a:pt x="76200" y="1186434"/>
                  </a:lnTo>
                  <a:lnTo>
                    <a:pt x="0" y="1186434"/>
                  </a:lnTo>
                  <a:close/>
                </a:path>
              </a:pathLst>
            </a:custGeom>
            <a:solidFill>
              <a:srgbClr val="5678F0"/>
            </a:solidFill>
          </p:spPr>
        </p:sp>
      </p:grpSp>
      <p:grpSp>
        <p:nvGrpSpPr>
          <p:cNvPr name="Group 10" id="10"/>
          <p:cNvGrpSpPr/>
          <p:nvPr/>
        </p:nvGrpSpPr>
        <p:grpSpPr>
          <a:xfrm rot="0">
            <a:off x="5955506" y="6655889"/>
            <a:ext cx="57150" cy="889845"/>
            <a:chOff x="0" y="0"/>
            <a:chExt cx="76200" cy="1186459"/>
          </a:xfrm>
        </p:grpSpPr>
        <p:sp>
          <p:nvSpPr>
            <p:cNvPr name="Freeform 11" id="11"/>
            <p:cNvSpPr/>
            <p:nvPr/>
          </p:nvSpPr>
          <p:spPr>
            <a:xfrm flipH="false" flipV="false" rot="0">
              <a:off x="0" y="0"/>
              <a:ext cx="76200" cy="1186434"/>
            </a:xfrm>
            <a:custGeom>
              <a:avLst/>
              <a:gdLst/>
              <a:ahLst/>
              <a:cxnLst/>
              <a:rect r="r" b="b" t="t" l="l"/>
              <a:pathLst>
                <a:path h="1186434" w="76200">
                  <a:moveTo>
                    <a:pt x="0" y="0"/>
                  </a:moveTo>
                  <a:lnTo>
                    <a:pt x="76200" y="0"/>
                  </a:lnTo>
                  <a:lnTo>
                    <a:pt x="76200" y="1186434"/>
                  </a:lnTo>
                  <a:lnTo>
                    <a:pt x="0" y="1186434"/>
                  </a:lnTo>
                  <a:close/>
                </a:path>
              </a:pathLst>
            </a:custGeom>
            <a:solidFill>
              <a:srgbClr val="93CEF1"/>
            </a:solidFill>
          </p:spPr>
        </p:sp>
      </p:grpSp>
      <p:grpSp>
        <p:nvGrpSpPr>
          <p:cNvPr name="Group 12" id="12"/>
          <p:cNvGrpSpPr/>
          <p:nvPr/>
        </p:nvGrpSpPr>
        <p:grpSpPr>
          <a:xfrm rot="0">
            <a:off x="963663" y="7890424"/>
            <a:ext cx="57150" cy="889845"/>
            <a:chOff x="0" y="0"/>
            <a:chExt cx="76200" cy="1186459"/>
          </a:xfrm>
        </p:grpSpPr>
        <p:sp>
          <p:nvSpPr>
            <p:cNvPr name="Freeform 13" id="13"/>
            <p:cNvSpPr/>
            <p:nvPr/>
          </p:nvSpPr>
          <p:spPr>
            <a:xfrm flipH="false" flipV="false" rot="0">
              <a:off x="0" y="0"/>
              <a:ext cx="76200" cy="1186434"/>
            </a:xfrm>
            <a:custGeom>
              <a:avLst/>
              <a:gdLst/>
              <a:ahLst/>
              <a:cxnLst/>
              <a:rect r="r" b="b" t="t" l="l"/>
              <a:pathLst>
                <a:path h="1186434" w="76200">
                  <a:moveTo>
                    <a:pt x="0" y="0"/>
                  </a:moveTo>
                  <a:lnTo>
                    <a:pt x="76200" y="0"/>
                  </a:lnTo>
                  <a:lnTo>
                    <a:pt x="76200" y="1186434"/>
                  </a:lnTo>
                  <a:lnTo>
                    <a:pt x="0" y="1186434"/>
                  </a:lnTo>
                  <a:close/>
                </a:path>
              </a:pathLst>
            </a:custGeom>
            <a:solidFill>
              <a:srgbClr val="948BE2"/>
            </a:solidFill>
          </p:spPr>
        </p:sp>
      </p:grpSp>
      <p:sp>
        <p:nvSpPr>
          <p:cNvPr name="TextBox 14" id="14"/>
          <p:cNvSpPr txBox="true"/>
          <p:nvPr/>
        </p:nvSpPr>
        <p:spPr>
          <a:xfrm rot="0">
            <a:off x="992238" y="1941757"/>
            <a:ext cx="9732616" cy="3971925"/>
          </a:xfrm>
          <a:prstGeom prst="rect">
            <a:avLst/>
          </a:prstGeom>
        </p:spPr>
        <p:txBody>
          <a:bodyPr anchor="t" rtlCol="false" tIns="0" lIns="0" bIns="0" rIns="0">
            <a:spAutoFit/>
          </a:bodyPr>
          <a:lstStyle/>
          <a:p>
            <a:pPr algn="l">
              <a:lnSpc>
                <a:spcPts val="10500"/>
              </a:lnSpc>
            </a:pPr>
            <a:r>
              <a:rPr lang="en-US" sz="8750" b="true">
                <a:solidFill>
                  <a:srgbClr val="303030"/>
                </a:solidFill>
                <a:latin typeface="Inter Bold"/>
                <a:ea typeface="Inter Bold"/>
                <a:cs typeface="Inter Bold"/>
                <a:sym typeface="Inter Bold"/>
              </a:rPr>
              <a:t>Phát Hiện Deepfake Sử Dụng Học Sâu</a:t>
            </a:r>
          </a:p>
        </p:txBody>
      </p:sp>
      <p:sp>
        <p:nvSpPr>
          <p:cNvPr name="TextBox 15" id="15"/>
          <p:cNvSpPr txBox="true"/>
          <p:nvPr/>
        </p:nvSpPr>
        <p:spPr>
          <a:xfrm rot="0">
            <a:off x="6264478" y="7191670"/>
            <a:ext cx="4460377" cy="287337"/>
          </a:xfrm>
          <a:prstGeom prst="rect">
            <a:avLst/>
          </a:prstGeom>
        </p:spPr>
        <p:txBody>
          <a:bodyPr anchor="t" rtlCol="false" tIns="0" lIns="0" bIns="0" rIns="0">
            <a:spAutoFit/>
          </a:bodyPr>
          <a:lstStyle/>
          <a:p>
            <a:pPr algn="l">
              <a:lnSpc>
                <a:spcPts val="2312"/>
              </a:lnSpc>
            </a:pPr>
            <a:r>
              <a:rPr lang="en-US" sz="1750">
                <a:solidFill>
                  <a:srgbClr val="303030"/>
                </a:solidFill>
                <a:latin typeface="Inter"/>
                <a:ea typeface="Inter"/>
                <a:cs typeface="Inter"/>
                <a:sym typeface="Inter"/>
              </a:rPr>
              <a:t>Thiều Huy Lực — Khóa 66</a:t>
            </a:r>
          </a:p>
        </p:txBody>
      </p:sp>
      <p:grpSp>
        <p:nvGrpSpPr>
          <p:cNvPr name="Group 16" id="16"/>
          <p:cNvGrpSpPr/>
          <p:nvPr/>
        </p:nvGrpSpPr>
        <p:grpSpPr>
          <a:xfrm rot="0">
            <a:off x="10724845" y="5131227"/>
            <a:ext cx="5518394" cy="5518394"/>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87"/>
                </a:lnSpc>
              </a:pPr>
            </a:p>
          </p:txBody>
        </p:sp>
      </p:grpSp>
      <p:sp>
        <p:nvSpPr>
          <p:cNvPr name="TextBox 19" id="19"/>
          <p:cNvSpPr txBox="true"/>
          <p:nvPr/>
        </p:nvSpPr>
        <p:spPr>
          <a:xfrm rot="0">
            <a:off x="1126179" y="1537840"/>
            <a:ext cx="1721053" cy="227012"/>
          </a:xfrm>
          <a:prstGeom prst="rect">
            <a:avLst/>
          </a:prstGeom>
        </p:spPr>
        <p:txBody>
          <a:bodyPr anchor="t" rtlCol="false" tIns="0" lIns="0" bIns="0" rIns="0">
            <a:spAutoFit/>
          </a:bodyPr>
          <a:lstStyle/>
          <a:p>
            <a:pPr algn="l">
              <a:lnSpc>
                <a:spcPts val="1812"/>
              </a:lnSpc>
            </a:pPr>
            <a:r>
              <a:rPr lang="en-US" sz="1375">
                <a:solidFill>
                  <a:srgbClr val="FFFFFF"/>
                </a:solidFill>
                <a:latin typeface="Inter"/>
                <a:ea typeface="Inter"/>
                <a:cs typeface="Inter"/>
                <a:sym typeface="Inter"/>
              </a:rPr>
              <a:t>ĐỒ ÁN TỐT NGHIỆP</a:t>
            </a:r>
          </a:p>
        </p:txBody>
      </p:sp>
      <p:sp>
        <p:nvSpPr>
          <p:cNvPr name="TextBox 20" id="20"/>
          <p:cNvSpPr txBox="true"/>
          <p:nvPr/>
        </p:nvSpPr>
        <p:spPr>
          <a:xfrm rot="0">
            <a:off x="1272626" y="6684464"/>
            <a:ext cx="817126" cy="323850"/>
          </a:xfrm>
          <a:prstGeom prst="rect">
            <a:avLst/>
          </a:prstGeom>
        </p:spPr>
        <p:txBody>
          <a:bodyPr anchor="t" rtlCol="false" tIns="0" lIns="0" bIns="0" rIns="0">
            <a:spAutoFit/>
          </a:bodyPr>
          <a:lstStyle/>
          <a:p>
            <a:pPr algn="l">
              <a:lnSpc>
                <a:spcPts val="2625"/>
              </a:lnSpc>
            </a:pPr>
            <a:r>
              <a:rPr lang="en-US" sz="2187" b="true">
                <a:solidFill>
                  <a:srgbClr val="303030"/>
                </a:solidFill>
                <a:latin typeface="Inter Bold"/>
                <a:ea typeface="Inter Bold"/>
                <a:cs typeface="Inter Bold"/>
                <a:sym typeface="Inter Bold"/>
              </a:rPr>
              <a:t>GVHD</a:t>
            </a:r>
          </a:p>
        </p:txBody>
      </p:sp>
      <p:sp>
        <p:nvSpPr>
          <p:cNvPr name="TextBox 21" id="21"/>
          <p:cNvSpPr txBox="true"/>
          <p:nvPr/>
        </p:nvSpPr>
        <p:spPr>
          <a:xfrm rot="0">
            <a:off x="1272626" y="7191670"/>
            <a:ext cx="4460377" cy="287337"/>
          </a:xfrm>
          <a:prstGeom prst="rect">
            <a:avLst/>
          </a:prstGeom>
        </p:spPr>
        <p:txBody>
          <a:bodyPr anchor="t" rtlCol="false" tIns="0" lIns="0" bIns="0" rIns="0">
            <a:spAutoFit/>
          </a:bodyPr>
          <a:lstStyle/>
          <a:p>
            <a:pPr algn="l">
              <a:lnSpc>
                <a:spcPts val="2312"/>
              </a:lnSpc>
            </a:pPr>
            <a:r>
              <a:rPr lang="en-US" sz="1750">
                <a:solidFill>
                  <a:srgbClr val="303030"/>
                </a:solidFill>
                <a:latin typeface="Inter"/>
                <a:ea typeface="Inter"/>
                <a:cs typeface="Inter"/>
                <a:sym typeface="Inter"/>
              </a:rPr>
              <a:t>ThS. Đặng Văn Nam</a:t>
            </a:r>
          </a:p>
        </p:txBody>
      </p:sp>
      <p:sp>
        <p:nvSpPr>
          <p:cNvPr name="TextBox 22" id="22"/>
          <p:cNvSpPr txBox="true"/>
          <p:nvPr/>
        </p:nvSpPr>
        <p:spPr>
          <a:xfrm rot="0">
            <a:off x="6264478" y="6684464"/>
            <a:ext cx="775692" cy="323850"/>
          </a:xfrm>
          <a:prstGeom prst="rect">
            <a:avLst/>
          </a:prstGeom>
        </p:spPr>
        <p:txBody>
          <a:bodyPr anchor="t" rtlCol="false" tIns="0" lIns="0" bIns="0" rIns="0">
            <a:spAutoFit/>
          </a:bodyPr>
          <a:lstStyle/>
          <a:p>
            <a:pPr algn="l">
              <a:lnSpc>
                <a:spcPts val="2625"/>
              </a:lnSpc>
            </a:pPr>
            <a:r>
              <a:rPr lang="en-US" sz="2187" b="true">
                <a:solidFill>
                  <a:srgbClr val="303030"/>
                </a:solidFill>
                <a:latin typeface="Inter Bold"/>
                <a:ea typeface="Inter Bold"/>
                <a:cs typeface="Inter Bold"/>
                <a:sym typeface="Inter Bold"/>
              </a:rPr>
              <a:t>SVTH</a:t>
            </a:r>
          </a:p>
        </p:txBody>
      </p:sp>
      <p:sp>
        <p:nvSpPr>
          <p:cNvPr name="TextBox 23" id="23"/>
          <p:cNvSpPr txBox="true"/>
          <p:nvPr/>
        </p:nvSpPr>
        <p:spPr>
          <a:xfrm rot="0">
            <a:off x="1272626" y="7918999"/>
            <a:ext cx="850940" cy="323850"/>
          </a:xfrm>
          <a:prstGeom prst="rect">
            <a:avLst/>
          </a:prstGeom>
        </p:spPr>
        <p:txBody>
          <a:bodyPr anchor="t" rtlCol="false" tIns="0" lIns="0" bIns="0" rIns="0">
            <a:spAutoFit/>
          </a:bodyPr>
          <a:lstStyle/>
          <a:p>
            <a:pPr algn="l">
              <a:lnSpc>
                <a:spcPts val="2625"/>
              </a:lnSpc>
            </a:pPr>
            <a:r>
              <a:rPr lang="en-US" sz="2187" b="true">
                <a:solidFill>
                  <a:srgbClr val="303030"/>
                </a:solidFill>
                <a:latin typeface="Inter Bold"/>
                <a:ea typeface="Inter Bold"/>
                <a:cs typeface="Inter Bold"/>
                <a:sym typeface="Inter Bold"/>
              </a:rPr>
              <a:t>Đơn vị</a:t>
            </a:r>
          </a:p>
        </p:txBody>
      </p:sp>
      <p:sp>
        <p:nvSpPr>
          <p:cNvPr name="TextBox 24" id="24"/>
          <p:cNvSpPr txBox="true"/>
          <p:nvPr/>
        </p:nvSpPr>
        <p:spPr>
          <a:xfrm rot="0">
            <a:off x="1272626" y="8426206"/>
            <a:ext cx="9452219" cy="287337"/>
          </a:xfrm>
          <a:prstGeom prst="rect">
            <a:avLst/>
          </a:prstGeom>
        </p:spPr>
        <p:txBody>
          <a:bodyPr anchor="t" rtlCol="false" tIns="0" lIns="0" bIns="0" rIns="0">
            <a:spAutoFit/>
          </a:bodyPr>
          <a:lstStyle/>
          <a:p>
            <a:pPr algn="l">
              <a:lnSpc>
                <a:spcPts val="2312"/>
              </a:lnSpc>
            </a:pPr>
            <a:r>
              <a:rPr lang="en-US" sz="1750">
                <a:solidFill>
                  <a:srgbClr val="303030"/>
                </a:solidFill>
                <a:latin typeface="Inter"/>
                <a:ea typeface="Inter"/>
                <a:cs typeface="Inter"/>
                <a:sym typeface="Inter"/>
              </a:rPr>
              <a:t>Trường Đại học Mỏ - Địa chất</a:t>
            </a:r>
          </a:p>
        </p:txBody>
      </p:sp>
      <p:grpSp>
        <p:nvGrpSpPr>
          <p:cNvPr name="Group 25" id="25"/>
          <p:cNvGrpSpPr/>
          <p:nvPr/>
        </p:nvGrpSpPr>
        <p:grpSpPr>
          <a:xfrm rot="0">
            <a:off x="15325669" y="51616"/>
            <a:ext cx="2876606" cy="2876606"/>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0" t="0" r="0" b="0"/>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377CFF"/>
            </a:solidFill>
          </p:spPr>
        </p:sp>
      </p:grpSp>
      <p:grpSp>
        <p:nvGrpSpPr>
          <p:cNvPr name="Group 4" id="4"/>
          <p:cNvGrpSpPr/>
          <p:nvPr/>
        </p:nvGrpSpPr>
        <p:grpSpPr>
          <a:xfrm rot="0">
            <a:off x="5"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5F5F5"/>
            </a:solidFill>
          </p:spPr>
        </p:sp>
      </p:grpSp>
      <p:grpSp>
        <p:nvGrpSpPr>
          <p:cNvPr name="Group 6" id="6"/>
          <p:cNvGrpSpPr/>
          <p:nvPr/>
        </p:nvGrpSpPr>
        <p:grpSpPr>
          <a:xfrm rot="0">
            <a:off x="989562" y="688029"/>
            <a:ext cx="3113484" cy="396926"/>
            <a:chOff x="0" y="0"/>
            <a:chExt cx="4151312" cy="529234"/>
          </a:xfrm>
        </p:grpSpPr>
        <p:sp>
          <p:nvSpPr>
            <p:cNvPr name="Freeform 7" id="7"/>
            <p:cNvSpPr/>
            <p:nvPr/>
          </p:nvSpPr>
          <p:spPr>
            <a:xfrm flipH="false" flipV="false" rot="0">
              <a:off x="0" y="0"/>
              <a:ext cx="4151376" cy="529336"/>
            </a:xfrm>
            <a:custGeom>
              <a:avLst/>
              <a:gdLst/>
              <a:ahLst/>
              <a:cxnLst/>
              <a:rect r="r" b="b" t="t" l="l"/>
              <a:pathLst>
                <a:path h="529336" w="4151376">
                  <a:moveTo>
                    <a:pt x="0" y="225679"/>
                  </a:moveTo>
                  <a:cubicBezTo>
                    <a:pt x="0" y="100965"/>
                    <a:pt x="100965" y="0"/>
                    <a:pt x="225679" y="0"/>
                  </a:cubicBezTo>
                  <a:lnTo>
                    <a:pt x="3925697" y="0"/>
                  </a:lnTo>
                  <a:cubicBezTo>
                    <a:pt x="4050284" y="0"/>
                    <a:pt x="4151376" y="100965"/>
                    <a:pt x="4151376" y="225679"/>
                  </a:cubicBezTo>
                  <a:lnTo>
                    <a:pt x="4151376" y="303657"/>
                  </a:lnTo>
                  <a:cubicBezTo>
                    <a:pt x="4151376" y="428244"/>
                    <a:pt x="4050411" y="529336"/>
                    <a:pt x="3925697" y="529336"/>
                  </a:cubicBezTo>
                  <a:lnTo>
                    <a:pt x="225679" y="529336"/>
                  </a:lnTo>
                  <a:cubicBezTo>
                    <a:pt x="100965" y="529209"/>
                    <a:pt x="0" y="428244"/>
                    <a:pt x="0" y="303657"/>
                  </a:cubicBezTo>
                  <a:close/>
                </a:path>
              </a:pathLst>
            </a:custGeom>
            <a:solidFill>
              <a:srgbClr val="5678F0"/>
            </a:solidFill>
          </p:spPr>
        </p:sp>
      </p:grpSp>
      <p:sp>
        <p:nvSpPr>
          <p:cNvPr name="TextBox 8" id="8"/>
          <p:cNvSpPr txBox="true"/>
          <p:nvPr/>
        </p:nvSpPr>
        <p:spPr>
          <a:xfrm rot="0">
            <a:off x="1130503" y="729853"/>
            <a:ext cx="2831602" cy="241300"/>
          </a:xfrm>
          <a:prstGeom prst="rect">
            <a:avLst/>
          </a:prstGeom>
        </p:spPr>
        <p:txBody>
          <a:bodyPr anchor="t" rtlCol="false" tIns="0" lIns="0" bIns="0" rIns="0">
            <a:spAutoFit/>
          </a:bodyPr>
          <a:lstStyle/>
          <a:p>
            <a:pPr algn="l">
              <a:lnSpc>
                <a:spcPts val="1999"/>
              </a:lnSpc>
            </a:pPr>
            <a:r>
              <a:rPr lang="en-US" sz="1437">
                <a:solidFill>
                  <a:srgbClr val="FFFFFF"/>
                </a:solidFill>
                <a:latin typeface="Inter"/>
                <a:ea typeface="Inter"/>
                <a:cs typeface="Inter"/>
                <a:sym typeface="Inter"/>
              </a:rPr>
              <a:t>ĐẶT VẤN ĐỀ &amp; TÍNH CẤP THIẾT</a:t>
            </a:r>
          </a:p>
        </p:txBody>
      </p:sp>
      <p:sp>
        <p:nvSpPr>
          <p:cNvPr name="TextBox 9" id="9"/>
          <p:cNvSpPr txBox="true"/>
          <p:nvPr/>
        </p:nvSpPr>
        <p:spPr>
          <a:xfrm rot="0">
            <a:off x="989562" y="1173956"/>
            <a:ext cx="12200216" cy="701675"/>
          </a:xfrm>
          <a:prstGeom prst="rect">
            <a:avLst/>
          </a:prstGeom>
        </p:spPr>
        <p:txBody>
          <a:bodyPr anchor="t" rtlCol="false" tIns="0" lIns="0" bIns="0" rIns="0">
            <a:spAutoFit/>
          </a:bodyPr>
          <a:lstStyle/>
          <a:p>
            <a:pPr algn="l">
              <a:lnSpc>
                <a:spcPts val="5500"/>
              </a:lnSpc>
            </a:pPr>
            <a:r>
              <a:rPr lang="en-US" sz="4625" b="true">
                <a:solidFill>
                  <a:srgbClr val="5678F0"/>
                </a:solidFill>
                <a:latin typeface="Inter Bold"/>
                <a:ea typeface="Inter Bold"/>
                <a:cs typeface="Inter Bold"/>
                <a:sym typeface="Inter Bold"/>
              </a:rPr>
              <a:t>Deepfake: Mối Đe Dọa Ngày Càng Gia Tăng</a:t>
            </a:r>
          </a:p>
        </p:txBody>
      </p:sp>
      <p:sp>
        <p:nvSpPr>
          <p:cNvPr name="TextBox 10" id="10"/>
          <p:cNvSpPr txBox="true"/>
          <p:nvPr/>
        </p:nvSpPr>
        <p:spPr>
          <a:xfrm rot="0">
            <a:off x="989562" y="2184349"/>
            <a:ext cx="16308886" cy="301625"/>
          </a:xfrm>
          <a:prstGeom prst="rect">
            <a:avLst/>
          </a:prstGeom>
        </p:spPr>
        <p:txBody>
          <a:bodyPr anchor="t" rtlCol="false" tIns="0" lIns="0" bIns="0" rIns="0">
            <a:spAutoFit/>
          </a:bodyPr>
          <a:lstStyle/>
          <a:p>
            <a:pPr algn="l">
              <a:lnSpc>
                <a:spcPts val="2499"/>
              </a:lnSpc>
            </a:pPr>
            <a:r>
              <a:rPr lang="en-US" sz="1812">
                <a:solidFill>
                  <a:srgbClr val="303030"/>
                </a:solidFill>
                <a:latin typeface="Inter"/>
                <a:ea typeface="Inter"/>
                <a:cs typeface="Inter"/>
                <a:sym typeface="Inter"/>
              </a:rPr>
              <a:t>Công nghệ Deepfake đang phát triển với tốc độ chóng mặt, gây ra những hậu quả nghiêm trọng về an ninh, tài chính và xã hội trên toàn cầu.</a:t>
            </a:r>
          </a:p>
        </p:txBody>
      </p:sp>
      <p:grpSp>
        <p:nvGrpSpPr>
          <p:cNvPr name="Group 11" id="11"/>
          <p:cNvGrpSpPr/>
          <p:nvPr/>
        </p:nvGrpSpPr>
        <p:grpSpPr>
          <a:xfrm rot="0">
            <a:off x="989562" y="3034160"/>
            <a:ext cx="7474296" cy="4992138"/>
            <a:chOff x="0" y="0"/>
            <a:chExt cx="9965728" cy="6656184"/>
          </a:xfrm>
        </p:grpSpPr>
        <p:sp>
          <p:nvSpPr>
            <p:cNvPr name="Freeform 12" id="12" descr="preencoded.png"/>
            <p:cNvSpPr/>
            <p:nvPr/>
          </p:nvSpPr>
          <p:spPr>
            <a:xfrm flipH="false" flipV="false" rot="0">
              <a:off x="0" y="0"/>
              <a:ext cx="9965690" cy="6656197"/>
            </a:xfrm>
            <a:custGeom>
              <a:avLst/>
              <a:gdLst/>
              <a:ahLst/>
              <a:cxnLst/>
              <a:rect r="r" b="b" t="t" l="l"/>
              <a:pathLst>
                <a:path h="6656197" w="9965690">
                  <a:moveTo>
                    <a:pt x="0" y="0"/>
                  </a:moveTo>
                  <a:lnTo>
                    <a:pt x="9965690" y="0"/>
                  </a:lnTo>
                  <a:lnTo>
                    <a:pt x="9965690" y="6656197"/>
                  </a:lnTo>
                  <a:lnTo>
                    <a:pt x="0" y="6656197"/>
                  </a:lnTo>
                  <a:lnTo>
                    <a:pt x="0" y="0"/>
                  </a:lnTo>
                  <a:close/>
                </a:path>
              </a:pathLst>
            </a:custGeom>
            <a:blipFill>
              <a:blip r:embed="rId2"/>
              <a:stretch>
                <a:fillRect l="-29" t="0" r="-29" b="0"/>
              </a:stretch>
            </a:blipFill>
          </p:spPr>
        </p:sp>
      </p:grpSp>
      <p:grpSp>
        <p:nvGrpSpPr>
          <p:cNvPr name="Group 13" id="13"/>
          <p:cNvGrpSpPr/>
          <p:nvPr/>
        </p:nvGrpSpPr>
        <p:grpSpPr>
          <a:xfrm rot="0">
            <a:off x="9425883" y="3019873"/>
            <a:ext cx="7896377" cy="1771355"/>
            <a:chOff x="0" y="0"/>
            <a:chExt cx="10528503" cy="2361806"/>
          </a:xfrm>
        </p:grpSpPr>
        <p:sp>
          <p:nvSpPr>
            <p:cNvPr name="Freeform 14" id="14"/>
            <p:cNvSpPr/>
            <p:nvPr/>
          </p:nvSpPr>
          <p:spPr>
            <a:xfrm flipH="false" flipV="false" rot="0">
              <a:off x="19050" y="19050"/>
              <a:ext cx="10490327" cy="2323719"/>
            </a:xfrm>
            <a:custGeom>
              <a:avLst/>
              <a:gdLst/>
              <a:ahLst/>
              <a:cxnLst/>
              <a:rect r="r" b="b" t="t" l="l"/>
              <a:pathLst>
                <a:path h="2323719" w="10490327">
                  <a:moveTo>
                    <a:pt x="0" y="182880"/>
                  </a:moveTo>
                  <a:cubicBezTo>
                    <a:pt x="0" y="81915"/>
                    <a:pt x="82931" y="0"/>
                    <a:pt x="185166" y="0"/>
                  </a:cubicBezTo>
                  <a:lnTo>
                    <a:pt x="10305161" y="0"/>
                  </a:lnTo>
                  <a:cubicBezTo>
                    <a:pt x="10407396" y="0"/>
                    <a:pt x="10490327" y="81915"/>
                    <a:pt x="10490327" y="182880"/>
                  </a:cubicBezTo>
                  <a:lnTo>
                    <a:pt x="10490327" y="2140839"/>
                  </a:lnTo>
                  <a:cubicBezTo>
                    <a:pt x="10490327" y="2241804"/>
                    <a:pt x="10407396" y="2323719"/>
                    <a:pt x="10305161" y="2323719"/>
                  </a:cubicBezTo>
                  <a:lnTo>
                    <a:pt x="185166" y="2323719"/>
                  </a:lnTo>
                  <a:cubicBezTo>
                    <a:pt x="82931" y="2323719"/>
                    <a:pt x="0" y="2241804"/>
                    <a:pt x="0" y="2140839"/>
                  </a:cubicBezTo>
                  <a:close/>
                </a:path>
              </a:pathLst>
            </a:custGeom>
            <a:solidFill>
              <a:srgbClr val="F5F5F5"/>
            </a:solidFill>
          </p:spPr>
        </p:sp>
        <p:sp>
          <p:nvSpPr>
            <p:cNvPr name="Freeform 15" id="15"/>
            <p:cNvSpPr/>
            <p:nvPr/>
          </p:nvSpPr>
          <p:spPr>
            <a:xfrm flipH="false" flipV="false" rot="0">
              <a:off x="0" y="0"/>
              <a:ext cx="10528427" cy="2361819"/>
            </a:xfrm>
            <a:custGeom>
              <a:avLst/>
              <a:gdLst/>
              <a:ahLst/>
              <a:cxnLst/>
              <a:rect r="r" b="b" t="t" l="l"/>
              <a:pathLst>
                <a:path h="2361819" w="10528427">
                  <a:moveTo>
                    <a:pt x="0" y="201930"/>
                  </a:moveTo>
                  <a:cubicBezTo>
                    <a:pt x="0" y="90170"/>
                    <a:pt x="91694" y="0"/>
                    <a:pt x="204216" y="0"/>
                  </a:cubicBezTo>
                  <a:lnTo>
                    <a:pt x="10324211" y="0"/>
                  </a:lnTo>
                  <a:lnTo>
                    <a:pt x="10324211" y="19050"/>
                  </a:lnTo>
                  <a:lnTo>
                    <a:pt x="10324211" y="0"/>
                  </a:lnTo>
                  <a:cubicBezTo>
                    <a:pt x="10436733" y="0"/>
                    <a:pt x="10528427" y="90170"/>
                    <a:pt x="10528427" y="201930"/>
                  </a:cubicBezTo>
                  <a:lnTo>
                    <a:pt x="10509377" y="201930"/>
                  </a:lnTo>
                  <a:lnTo>
                    <a:pt x="10528427" y="201930"/>
                  </a:lnTo>
                  <a:lnTo>
                    <a:pt x="10528427" y="2159889"/>
                  </a:lnTo>
                  <a:lnTo>
                    <a:pt x="10509377" y="2159889"/>
                  </a:lnTo>
                  <a:lnTo>
                    <a:pt x="10528427" y="2159889"/>
                  </a:lnTo>
                  <a:cubicBezTo>
                    <a:pt x="10528427" y="2271649"/>
                    <a:pt x="10436733" y="2361819"/>
                    <a:pt x="10324211" y="2361819"/>
                  </a:cubicBezTo>
                  <a:lnTo>
                    <a:pt x="10324211" y="2342769"/>
                  </a:lnTo>
                  <a:lnTo>
                    <a:pt x="10324211" y="2361819"/>
                  </a:lnTo>
                  <a:lnTo>
                    <a:pt x="204216" y="2361819"/>
                  </a:lnTo>
                  <a:lnTo>
                    <a:pt x="204216" y="2342769"/>
                  </a:lnTo>
                  <a:lnTo>
                    <a:pt x="204216" y="2361819"/>
                  </a:lnTo>
                  <a:cubicBezTo>
                    <a:pt x="91694" y="2361819"/>
                    <a:pt x="0" y="2271649"/>
                    <a:pt x="0" y="2159889"/>
                  </a:cubicBezTo>
                  <a:lnTo>
                    <a:pt x="0" y="201930"/>
                  </a:lnTo>
                  <a:lnTo>
                    <a:pt x="19050" y="201930"/>
                  </a:lnTo>
                  <a:lnTo>
                    <a:pt x="0" y="201930"/>
                  </a:lnTo>
                  <a:moveTo>
                    <a:pt x="38100" y="201930"/>
                  </a:moveTo>
                  <a:lnTo>
                    <a:pt x="38100" y="2159889"/>
                  </a:lnTo>
                  <a:lnTo>
                    <a:pt x="19050" y="2159889"/>
                  </a:lnTo>
                  <a:lnTo>
                    <a:pt x="38100" y="2159889"/>
                  </a:lnTo>
                  <a:cubicBezTo>
                    <a:pt x="38100" y="2250186"/>
                    <a:pt x="112268" y="2323719"/>
                    <a:pt x="204216" y="2323719"/>
                  </a:cubicBezTo>
                  <a:lnTo>
                    <a:pt x="10324211" y="2323719"/>
                  </a:lnTo>
                  <a:cubicBezTo>
                    <a:pt x="10416159" y="2323719"/>
                    <a:pt x="10490327" y="2250186"/>
                    <a:pt x="10490327" y="2159889"/>
                  </a:cubicBezTo>
                  <a:lnTo>
                    <a:pt x="10490327" y="201930"/>
                  </a:lnTo>
                  <a:cubicBezTo>
                    <a:pt x="10490327" y="111633"/>
                    <a:pt x="10416159" y="38100"/>
                    <a:pt x="10324211" y="38100"/>
                  </a:cubicBezTo>
                  <a:lnTo>
                    <a:pt x="204216" y="38100"/>
                  </a:lnTo>
                  <a:lnTo>
                    <a:pt x="204216" y="19050"/>
                  </a:lnTo>
                  <a:lnTo>
                    <a:pt x="204216" y="38100"/>
                  </a:lnTo>
                  <a:cubicBezTo>
                    <a:pt x="112268" y="38100"/>
                    <a:pt x="38100" y="111633"/>
                    <a:pt x="38100" y="201930"/>
                  </a:cubicBezTo>
                  <a:close/>
                </a:path>
              </a:pathLst>
            </a:custGeom>
            <a:solidFill>
              <a:srgbClr val="5678F0"/>
            </a:solidFill>
          </p:spPr>
        </p:sp>
      </p:grpSp>
      <p:grpSp>
        <p:nvGrpSpPr>
          <p:cNvPr name="Group 16" id="16"/>
          <p:cNvGrpSpPr/>
          <p:nvPr/>
        </p:nvGrpSpPr>
        <p:grpSpPr>
          <a:xfrm rot="0">
            <a:off x="9411595" y="3034160"/>
            <a:ext cx="114300" cy="1742780"/>
            <a:chOff x="0" y="0"/>
            <a:chExt cx="152400" cy="2323706"/>
          </a:xfrm>
        </p:grpSpPr>
        <p:sp>
          <p:nvSpPr>
            <p:cNvPr name="Freeform 17" id="17"/>
            <p:cNvSpPr/>
            <p:nvPr/>
          </p:nvSpPr>
          <p:spPr>
            <a:xfrm flipH="false" flipV="false" rot="0">
              <a:off x="0" y="0"/>
              <a:ext cx="152400" cy="2323719"/>
            </a:xfrm>
            <a:custGeom>
              <a:avLst/>
              <a:gdLst/>
              <a:ahLst/>
              <a:cxnLst/>
              <a:rect r="r" b="b" t="t" l="l"/>
              <a:pathLst>
                <a:path h="2323719" w="152400">
                  <a:moveTo>
                    <a:pt x="0" y="76200"/>
                  </a:moveTo>
                  <a:cubicBezTo>
                    <a:pt x="0" y="34163"/>
                    <a:pt x="34163" y="0"/>
                    <a:pt x="76200" y="0"/>
                  </a:cubicBezTo>
                  <a:cubicBezTo>
                    <a:pt x="118237" y="0"/>
                    <a:pt x="152400" y="34163"/>
                    <a:pt x="152400" y="76200"/>
                  </a:cubicBezTo>
                  <a:lnTo>
                    <a:pt x="152400" y="2247519"/>
                  </a:lnTo>
                  <a:cubicBezTo>
                    <a:pt x="152400" y="2289556"/>
                    <a:pt x="118237" y="2323719"/>
                    <a:pt x="76200" y="2323719"/>
                  </a:cubicBezTo>
                  <a:cubicBezTo>
                    <a:pt x="34163" y="2323719"/>
                    <a:pt x="0" y="2289556"/>
                    <a:pt x="0" y="2247519"/>
                  </a:cubicBezTo>
                  <a:close/>
                </a:path>
              </a:pathLst>
            </a:custGeom>
            <a:solidFill>
              <a:srgbClr val="5678F0"/>
            </a:solidFill>
          </p:spPr>
        </p:sp>
      </p:grpSp>
      <p:sp>
        <p:nvSpPr>
          <p:cNvPr name="TextBox 18" id="18"/>
          <p:cNvSpPr txBox="true"/>
          <p:nvPr/>
        </p:nvSpPr>
        <p:spPr>
          <a:xfrm rot="0">
            <a:off x="9789471" y="3297736"/>
            <a:ext cx="2696528" cy="346075"/>
          </a:xfrm>
          <a:prstGeom prst="rect">
            <a:avLst/>
          </a:prstGeom>
        </p:spPr>
        <p:txBody>
          <a:bodyPr anchor="t" rtlCol="false" tIns="0" lIns="0" bIns="0" rIns="0">
            <a:spAutoFit/>
          </a:bodyPr>
          <a:lstStyle/>
          <a:p>
            <a:pPr algn="l">
              <a:lnSpc>
                <a:spcPts val="2750"/>
              </a:lnSpc>
            </a:pPr>
            <a:r>
              <a:rPr lang="en-US" sz="2312" b="true">
                <a:solidFill>
                  <a:srgbClr val="303030"/>
                </a:solidFill>
                <a:latin typeface="Inter Bold"/>
                <a:ea typeface="Inter Bold"/>
                <a:cs typeface="Inter Bold"/>
                <a:sym typeface="Inter Bold"/>
              </a:rPr>
              <a:t>Tăng trưởng 900%</a:t>
            </a:r>
          </a:p>
        </p:txBody>
      </p:sp>
      <p:sp>
        <p:nvSpPr>
          <p:cNvPr name="TextBox 19" id="19"/>
          <p:cNvSpPr txBox="true"/>
          <p:nvPr/>
        </p:nvSpPr>
        <p:spPr>
          <a:xfrm rot="0">
            <a:off x="9789471" y="3844233"/>
            <a:ext cx="7254926" cy="615950"/>
          </a:xfrm>
          <a:prstGeom prst="rect">
            <a:avLst/>
          </a:prstGeom>
        </p:spPr>
        <p:txBody>
          <a:bodyPr anchor="t" rtlCol="false" tIns="0" lIns="0" bIns="0" rIns="0">
            <a:spAutoFit/>
          </a:bodyPr>
          <a:lstStyle/>
          <a:p>
            <a:pPr algn="l">
              <a:lnSpc>
                <a:spcPts val="2499"/>
              </a:lnSpc>
            </a:pPr>
            <a:r>
              <a:rPr lang="en-US" sz="1812">
                <a:solidFill>
                  <a:srgbClr val="303030"/>
                </a:solidFill>
                <a:latin typeface="Inter"/>
                <a:ea typeface="Inter"/>
                <a:cs typeface="Inter"/>
                <a:sym typeface="Inter"/>
              </a:rPr>
              <a:t>Số lượng nội dung Deepfake trên internet tăng vọt 900% chỉ trong vài năm gần đây, trở thành mối lo ngại toàn cầu.</a:t>
            </a:r>
          </a:p>
        </p:txBody>
      </p:sp>
      <p:grpSp>
        <p:nvGrpSpPr>
          <p:cNvPr name="Group 20" id="20"/>
          <p:cNvGrpSpPr/>
          <p:nvPr/>
        </p:nvGrpSpPr>
        <p:grpSpPr>
          <a:xfrm rot="0">
            <a:off x="9425883" y="4985299"/>
            <a:ext cx="7896377" cy="2091633"/>
            <a:chOff x="0" y="0"/>
            <a:chExt cx="10528503" cy="2788844"/>
          </a:xfrm>
        </p:grpSpPr>
        <p:sp>
          <p:nvSpPr>
            <p:cNvPr name="Freeform 21" id="21"/>
            <p:cNvSpPr/>
            <p:nvPr/>
          </p:nvSpPr>
          <p:spPr>
            <a:xfrm flipH="false" flipV="false" rot="0">
              <a:off x="19050" y="19050"/>
              <a:ext cx="10490453" cy="2750820"/>
            </a:xfrm>
            <a:custGeom>
              <a:avLst/>
              <a:gdLst/>
              <a:ahLst/>
              <a:cxnLst/>
              <a:rect r="r" b="b" t="t" l="l"/>
              <a:pathLst>
                <a:path h="2750820" w="10490453">
                  <a:moveTo>
                    <a:pt x="0" y="182880"/>
                  </a:moveTo>
                  <a:cubicBezTo>
                    <a:pt x="0" y="81915"/>
                    <a:pt x="82677" y="0"/>
                    <a:pt x="184785" y="0"/>
                  </a:cubicBezTo>
                  <a:lnTo>
                    <a:pt x="10305669" y="0"/>
                  </a:lnTo>
                  <a:cubicBezTo>
                    <a:pt x="10407650" y="0"/>
                    <a:pt x="10490453" y="81915"/>
                    <a:pt x="10490453" y="182880"/>
                  </a:cubicBezTo>
                  <a:lnTo>
                    <a:pt x="10490453" y="2567940"/>
                  </a:lnTo>
                  <a:cubicBezTo>
                    <a:pt x="10490453" y="2668905"/>
                    <a:pt x="10407776" y="2750820"/>
                    <a:pt x="10305669" y="2750820"/>
                  </a:cubicBezTo>
                  <a:lnTo>
                    <a:pt x="184785" y="2750820"/>
                  </a:lnTo>
                  <a:cubicBezTo>
                    <a:pt x="82804" y="2750820"/>
                    <a:pt x="0" y="2668905"/>
                    <a:pt x="0" y="2567940"/>
                  </a:cubicBezTo>
                  <a:close/>
                </a:path>
              </a:pathLst>
            </a:custGeom>
            <a:solidFill>
              <a:srgbClr val="F5F5F5"/>
            </a:solidFill>
          </p:spPr>
        </p:sp>
        <p:sp>
          <p:nvSpPr>
            <p:cNvPr name="Freeform 22" id="22"/>
            <p:cNvSpPr/>
            <p:nvPr/>
          </p:nvSpPr>
          <p:spPr>
            <a:xfrm flipH="false" flipV="false" rot="0">
              <a:off x="0" y="0"/>
              <a:ext cx="10528553" cy="2788920"/>
            </a:xfrm>
            <a:custGeom>
              <a:avLst/>
              <a:gdLst/>
              <a:ahLst/>
              <a:cxnLst/>
              <a:rect r="r" b="b" t="t" l="l"/>
              <a:pathLst>
                <a:path h="2788920" w="10528553">
                  <a:moveTo>
                    <a:pt x="0" y="201930"/>
                  </a:moveTo>
                  <a:cubicBezTo>
                    <a:pt x="0" y="90170"/>
                    <a:pt x="91440" y="0"/>
                    <a:pt x="203835" y="0"/>
                  </a:cubicBezTo>
                  <a:lnTo>
                    <a:pt x="10324719" y="0"/>
                  </a:lnTo>
                  <a:lnTo>
                    <a:pt x="10324719" y="19050"/>
                  </a:lnTo>
                  <a:lnTo>
                    <a:pt x="10324719" y="0"/>
                  </a:lnTo>
                  <a:cubicBezTo>
                    <a:pt x="10437113" y="0"/>
                    <a:pt x="10528553" y="90170"/>
                    <a:pt x="10528553" y="201930"/>
                  </a:cubicBezTo>
                  <a:lnTo>
                    <a:pt x="10509503" y="201930"/>
                  </a:lnTo>
                  <a:lnTo>
                    <a:pt x="10528553" y="201930"/>
                  </a:lnTo>
                  <a:lnTo>
                    <a:pt x="10528553" y="2586990"/>
                  </a:lnTo>
                  <a:lnTo>
                    <a:pt x="10509503" y="2586990"/>
                  </a:lnTo>
                  <a:lnTo>
                    <a:pt x="10528553" y="2586990"/>
                  </a:lnTo>
                  <a:cubicBezTo>
                    <a:pt x="10528553" y="2698750"/>
                    <a:pt x="10437113" y="2788920"/>
                    <a:pt x="10324719" y="2788920"/>
                  </a:cubicBezTo>
                  <a:lnTo>
                    <a:pt x="10324719" y="2769870"/>
                  </a:lnTo>
                  <a:lnTo>
                    <a:pt x="10324719" y="2788920"/>
                  </a:lnTo>
                  <a:lnTo>
                    <a:pt x="203835" y="2788920"/>
                  </a:lnTo>
                  <a:lnTo>
                    <a:pt x="203835" y="2769870"/>
                  </a:lnTo>
                  <a:lnTo>
                    <a:pt x="203835" y="2788920"/>
                  </a:lnTo>
                  <a:cubicBezTo>
                    <a:pt x="91440" y="2788793"/>
                    <a:pt x="0" y="2698623"/>
                    <a:pt x="0" y="2586863"/>
                  </a:cubicBezTo>
                  <a:lnTo>
                    <a:pt x="0" y="201930"/>
                  </a:lnTo>
                  <a:lnTo>
                    <a:pt x="19050" y="201930"/>
                  </a:lnTo>
                  <a:lnTo>
                    <a:pt x="0" y="201930"/>
                  </a:lnTo>
                  <a:moveTo>
                    <a:pt x="38100" y="201930"/>
                  </a:moveTo>
                  <a:lnTo>
                    <a:pt x="38100" y="2586990"/>
                  </a:lnTo>
                  <a:lnTo>
                    <a:pt x="19050" y="2586990"/>
                  </a:lnTo>
                  <a:lnTo>
                    <a:pt x="38100" y="2586990"/>
                  </a:lnTo>
                  <a:cubicBezTo>
                    <a:pt x="38100" y="2677287"/>
                    <a:pt x="112141" y="2750820"/>
                    <a:pt x="203835" y="2750820"/>
                  </a:cubicBezTo>
                  <a:lnTo>
                    <a:pt x="10324719" y="2750820"/>
                  </a:lnTo>
                  <a:cubicBezTo>
                    <a:pt x="10416412" y="2750820"/>
                    <a:pt x="10490453" y="2677287"/>
                    <a:pt x="10490453" y="2586990"/>
                  </a:cubicBezTo>
                  <a:lnTo>
                    <a:pt x="10490453" y="201930"/>
                  </a:lnTo>
                  <a:cubicBezTo>
                    <a:pt x="10490453" y="111633"/>
                    <a:pt x="10416412" y="38100"/>
                    <a:pt x="10324719" y="38100"/>
                  </a:cubicBezTo>
                  <a:lnTo>
                    <a:pt x="203835" y="38100"/>
                  </a:lnTo>
                  <a:lnTo>
                    <a:pt x="203835" y="19050"/>
                  </a:lnTo>
                  <a:lnTo>
                    <a:pt x="203835" y="38100"/>
                  </a:lnTo>
                  <a:cubicBezTo>
                    <a:pt x="112141" y="38100"/>
                    <a:pt x="38100" y="111633"/>
                    <a:pt x="38100" y="201930"/>
                  </a:cubicBezTo>
                  <a:close/>
                </a:path>
              </a:pathLst>
            </a:custGeom>
            <a:solidFill>
              <a:srgbClr val="93CEF1"/>
            </a:solidFill>
          </p:spPr>
        </p:sp>
      </p:grpSp>
      <p:grpSp>
        <p:nvGrpSpPr>
          <p:cNvPr name="Group 23" id="23"/>
          <p:cNvGrpSpPr/>
          <p:nvPr/>
        </p:nvGrpSpPr>
        <p:grpSpPr>
          <a:xfrm rot="0">
            <a:off x="9411595" y="4999587"/>
            <a:ext cx="114300" cy="2063058"/>
            <a:chOff x="0" y="0"/>
            <a:chExt cx="152400" cy="2750744"/>
          </a:xfrm>
        </p:grpSpPr>
        <p:sp>
          <p:nvSpPr>
            <p:cNvPr name="Freeform 24" id="24"/>
            <p:cNvSpPr/>
            <p:nvPr/>
          </p:nvSpPr>
          <p:spPr>
            <a:xfrm flipH="false" flipV="false" rot="0">
              <a:off x="0" y="0"/>
              <a:ext cx="152400" cy="2750693"/>
            </a:xfrm>
            <a:custGeom>
              <a:avLst/>
              <a:gdLst/>
              <a:ahLst/>
              <a:cxnLst/>
              <a:rect r="r" b="b" t="t" l="l"/>
              <a:pathLst>
                <a:path h="2750693" w="152400">
                  <a:moveTo>
                    <a:pt x="0" y="76200"/>
                  </a:moveTo>
                  <a:cubicBezTo>
                    <a:pt x="0" y="34163"/>
                    <a:pt x="34163" y="0"/>
                    <a:pt x="76200" y="0"/>
                  </a:cubicBezTo>
                  <a:cubicBezTo>
                    <a:pt x="118237" y="0"/>
                    <a:pt x="152400" y="34163"/>
                    <a:pt x="152400" y="76200"/>
                  </a:cubicBezTo>
                  <a:lnTo>
                    <a:pt x="152400" y="2674493"/>
                  </a:lnTo>
                  <a:cubicBezTo>
                    <a:pt x="152400" y="2716530"/>
                    <a:pt x="118237" y="2750693"/>
                    <a:pt x="76200" y="2750693"/>
                  </a:cubicBezTo>
                  <a:cubicBezTo>
                    <a:pt x="34163" y="2750693"/>
                    <a:pt x="0" y="2716530"/>
                    <a:pt x="0" y="2674493"/>
                  </a:cubicBezTo>
                  <a:close/>
                </a:path>
              </a:pathLst>
            </a:custGeom>
            <a:solidFill>
              <a:srgbClr val="93CEF1"/>
            </a:solidFill>
          </p:spPr>
        </p:sp>
      </p:grpSp>
      <p:sp>
        <p:nvSpPr>
          <p:cNvPr name="TextBox 25" id="25"/>
          <p:cNvSpPr txBox="true"/>
          <p:nvPr/>
        </p:nvSpPr>
        <p:spPr>
          <a:xfrm rot="0">
            <a:off x="9789471" y="5263153"/>
            <a:ext cx="3342561" cy="346075"/>
          </a:xfrm>
          <a:prstGeom prst="rect">
            <a:avLst/>
          </a:prstGeom>
        </p:spPr>
        <p:txBody>
          <a:bodyPr anchor="t" rtlCol="false" tIns="0" lIns="0" bIns="0" rIns="0">
            <a:spAutoFit/>
          </a:bodyPr>
          <a:lstStyle/>
          <a:p>
            <a:pPr algn="l">
              <a:lnSpc>
                <a:spcPts val="2750"/>
              </a:lnSpc>
            </a:pPr>
            <a:r>
              <a:rPr lang="en-US" sz="2312" b="true">
                <a:solidFill>
                  <a:srgbClr val="303030"/>
                </a:solidFill>
                <a:latin typeface="Inter Bold"/>
                <a:ea typeface="Inter Bold"/>
                <a:cs typeface="Inter Bold"/>
                <a:sym typeface="Inter Bold"/>
              </a:rPr>
              <a:t>Vụ lừa đảo 25 triệu USD</a:t>
            </a:r>
          </a:p>
        </p:txBody>
      </p:sp>
      <p:sp>
        <p:nvSpPr>
          <p:cNvPr name="TextBox 26" id="26"/>
          <p:cNvSpPr txBox="true"/>
          <p:nvPr/>
        </p:nvSpPr>
        <p:spPr>
          <a:xfrm rot="0">
            <a:off x="9789471" y="5809659"/>
            <a:ext cx="7254926" cy="930275"/>
          </a:xfrm>
          <a:prstGeom prst="rect">
            <a:avLst/>
          </a:prstGeom>
        </p:spPr>
        <p:txBody>
          <a:bodyPr anchor="t" rtlCol="false" tIns="0" lIns="0" bIns="0" rIns="0">
            <a:spAutoFit/>
          </a:bodyPr>
          <a:lstStyle/>
          <a:p>
            <a:pPr algn="l">
              <a:lnSpc>
                <a:spcPts val="2499"/>
              </a:lnSpc>
            </a:pPr>
            <a:r>
              <a:rPr lang="en-US" sz="1812">
                <a:solidFill>
                  <a:srgbClr val="303030"/>
                </a:solidFill>
                <a:latin typeface="Inter"/>
                <a:ea typeface="Inter"/>
                <a:cs typeface="Inter"/>
                <a:sym typeface="Inter"/>
              </a:rPr>
              <a:t>Tại Hong Kong, kẻ gian sử dụng Deepfake Real-time để giả mạo giám đốc tài chính trong cuộc gọi video, lừa đảo thành công 25 triệu USD.</a:t>
            </a:r>
          </a:p>
        </p:txBody>
      </p:sp>
      <p:grpSp>
        <p:nvGrpSpPr>
          <p:cNvPr name="Group 27" id="27"/>
          <p:cNvGrpSpPr/>
          <p:nvPr/>
        </p:nvGrpSpPr>
        <p:grpSpPr>
          <a:xfrm rot="0">
            <a:off x="9425883" y="7270994"/>
            <a:ext cx="7896377" cy="2091633"/>
            <a:chOff x="0" y="0"/>
            <a:chExt cx="10528503" cy="2788844"/>
          </a:xfrm>
        </p:grpSpPr>
        <p:sp>
          <p:nvSpPr>
            <p:cNvPr name="Freeform 28" id="28"/>
            <p:cNvSpPr/>
            <p:nvPr/>
          </p:nvSpPr>
          <p:spPr>
            <a:xfrm flipH="false" flipV="false" rot="0">
              <a:off x="19050" y="19050"/>
              <a:ext cx="10490453" cy="2750820"/>
            </a:xfrm>
            <a:custGeom>
              <a:avLst/>
              <a:gdLst/>
              <a:ahLst/>
              <a:cxnLst/>
              <a:rect r="r" b="b" t="t" l="l"/>
              <a:pathLst>
                <a:path h="2750820" w="10490453">
                  <a:moveTo>
                    <a:pt x="0" y="182880"/>
                  </a:moveTo>
                  <a:cubicBezTo>
                    <a:pt x="0" y="81915"/>
                    <a:pt x="82677" y="0"/>
                    <a:pt x="184785" y="0"/>
                  </a:cubicBezTo>
                  <a:lnTo>
                    <a:pt x="10305669" y="0"/>
                  </a:lnTo>
                  <a:cubicBezTo>
                    <a:pt x="10407650" y="0"/>
                    <a:pt x="10490453" y="81915"/>
                    <a:pt x="10490453" y="182880"/>
                  </a:cubicBezTo>
                  <a:lnTo>
                    <a:pt x="10490453" y="2567940"/>
                  </a:lnTo>
                  <a:cubicBezTo>
                    <a:pt x="10490453" y="2668905"/>
                    <a:pt x="10407776" y="2750820"/>
                    <a:pt x="10305669" y="2750820"/>
                  </a:cubicBezTo>
                  <a:lnTo>
                    <a:pt x="184785" y="2750820"/>
                  </a:lnTo>
                  <a:cubicBezTo>
                    <a:pt x="82804" y="2750820"/>
                    <a:pt x="0" y="2668905"/>
                    <a:pt x="0" y="2567940"/>
                  </a:cubicBezTo>
                  <a:close/>
                </a:path>
              </a:pathLst>
            </a:custGeom>
            <a:solidFill>
              <a:srgbClr val="F5F5F5"/>
            </a:solidFill>
          </p:spPr>
        </p:sp>
        <p:sp>
          <p:nvSpPr>
            <p:cNvPr name="Freeform 29" id="29"/>
            <p:cNvSpPr/>
            <p:nvPr/>
          </p:nvSpPr>
          <p:spPr>
            <a:xfrm flipH="false" flipV="false" rot="0">
              <a:off x="0" y="0"/>
              <a:ext cx="10528553" cy="2788920"/>
            </a:xfrm>
            <a:custGeom>
              <a:avLst/>
              <a:gdLst/>
              <a:ahLst/>
              <a:cxnLst/>
              <a:rect r="r" b="b" t="t" l="l"/>
              <a:pathLst>
                <a:path h="2788920" w="10528553">
                  <a:moveTo>
                    <a:pt x="0" y="201930"/>
                  </a:moveTo>
                  <a:cubicBezTo>
                    <a:pt x="0" y="90170"/>
                    <a:pt x="91440" y="0"/>
                    <a:pt x="203835" y="0"/>
                  </a:cubicBezTo>
                  <a:lnTo>
                    <a:pt x="10324719" y="0"/>
                  </a:lnTo>
                  <a:lnTo>
                    <a:pt x="10324719" y="19050"/>
                  </a:lnTo>
                  <a:lnTo>
                    <a:pt x="10324719" y="0"/>
                  </a:lnTo>
                  <a:cubicBezTo>
                    <a:pt x="10437113" y="0"/>
                    <a:pt x="10528553" y="90170"/>
                    <a:pt x="10528553" y="201930"/>
                  </a:cubicBezTo>
                  <a:lnTo>
                    <a:pt x="10509503" y="201930"/>
                  </a:lnTo>
                  <a:lnTo>
                    <a:pt x="10528553" y="201930"/>
                  </a:lnTo>
                  <a:lnTo>
                    <a:pt x="10528553" y="2586990"/>
                  </a:lnTo>
                  <a:lnTo>
                    <a:pt x="10509503" y="2586990"/>
                  </a:lnTo>
                  <a:lnTo>
                    <a:pt x="10528553" y="2586990"/>
                  </a:lnTo>
                  <a:cubicBezTo>
                    <a:pt x="10528553" y="2698750"/>
                    <a:pt x="10437113" y="2788920"/>
                    <a:pt x="10324719" y="2788920"/>
                  </a:cubicBezTo>
                  <a:lnTo>
                    <a:pt x="10324719" y="2769870"/>
                  </a:lnTo>
                  <a:lnTo>
                    <a:pt x="10324719" y="2788920"/>
                  </a:lnTo>
                  <a:lnTo>
                    <a:pt x="203835" y="2788920"/>
                  </a:lnTo>
                  <a:lnTo>
                    <a:pt x="203835" y="2769870"/>
                  </a:lnTo>
                  <a:lnTo>
                    <a:pt x="203835" y="2788920"/>
                  </a:lnTo>
                  <a:cubicBezTo>
                    <a:pt x="91440" y="2788793"/>
                    <a:pt x="0" y="2698623"/>
                    <a:pt x="0" y="2586863"/>
                  </a:cubicBezTo>
                  <a:lnTo>
                    <a:pt x="0" y="201930"/>
                  </a:lnTo>
                  <a:lnTo>
                    <a:pt x="19050" y="201930"/>
                  </a:lnTo>
                  <a:lnTo>
                    <a:pt x="0" y="201930"/>
                  </a:lnTo>
                  <a:moveTo>
                    <a:pt x="38100" y="201930"/>
                  </a:moveTo>
                  <a:lnTo>
                    <a:pt x="38100" y="2586990"/>
                  </a:lnTo>
                  <a:lnTo>
                    <a:pt x="19050" y="2586990"/>
                  </a:lnTo>
                  <a:lnTo>
                    <a:pt x="38100" y="2586990"/>
                  </a:lnTo>
                  <a:cubicBezTo>
                    <a:pt x="38100" y="2677287"/>
                    <a:pt x="112141" y="2750820"/>
                    <a:pt x="203835" y="2750820"/>
                  </a:cubicBezTo>
                  <a:lnTo>
                    <a:pt x="10324719" y="2750820"/>
                  </a:lnTo>
                  <a:cubicBezTo>
                    <a:pt x="10416412" y="2750820"/>
                    <a:pt x="10490453" y="2677287"/>
                    <a:pt x="10490453" y="2586990"/>
                  </a:cubicBezTo>
                  <a:lnTo>
                    <a:pt x="10490453" y="201930"/>
                  </a:lnTo>
                  <a:cubicBezTo>
                    <a:pt x="10490453" y="111633"/>
                    <a:pt x="10416412" y="38100"/>
                    <a:pt x="10324719" y="38100"/>
                  </a:cubicBezTo>
                  <a:lnTo>
                    <a:pt x="203835" y="38100"/>
                  </a:lnTo>
                  <a:lnTo>
                    <a:pt x="203835" y="19050"/>
                  </a:lnTo>
                  <a:lnTo>
                    <a:pt x="203835" y="38100"/>
                  </a:lnTo>
                  <a:cubicBezTo>
                    <a:pt x="112141" y="38100"/>
                    <a:pt x="38100" y="111633"/>
                    <a:pt x="38100" y="201930"/>
                  </a:cubicBezTo>
                  <a:close/>
                </a:path>
              </a:pathLst>
            </a:custGeom>
            <a:solidFill>
              <a:srgbClr val="948BE2"/>
            </a:solidFill>
          </p:spPr>
        </p:sp>
      </p:grpSp>
      <p:grpSp>
        <p:nvGrpSpPr>
          <p:cNvPr name="Group 30" id="30"/>
          <p:cNvGrpSpPr/>
          <p:nvPr/>
        </p:nvGrpSpPr>
        <p:grpSpPr>
          <a:xfrm rot="0">
            <a:off x="9411595" y="7285282"/>
            <a:ext cx="114300" cy="2063058"/>
            <a:chOff x="0" y="0"/>
            <a:chExt cx="152400" cy="2750744"/>
          </a:xfrm>
        </p:grpSpPr>
        <p:sp>
          <p:nvSpPr>
            <p:cNvPr name="Freeform 31" id="31"/>
            <p:cNvSpPr/>
            <p:nvPr/>
          </p:nvSpPr>
          <p:spPr>
            <a:xfrm flipH="false" flipV="false" rot="0">
              <a:off x="0" y="0"/>
              <a:ext cx="152400" cy="2750693"/>
            </a:xfrm>
            <a:custGeom>
              <a:avLst/>
              <a:gdLst/>
              <a:ahLst/>
              <a:cxnLst/>
              <a:rect r="r" b="b" t="t" l="l"/>
              <a:pathLst>
                <a:path h="2750693" w="152400">
                  <a:moveTo>
                    <a:pt x="0" y="76200"/>
                  </a:moveTo>
                  <a:cubicBezTo>
                    <a:pt x="0" y="34163"/>
                    <a:pt x="34163" y="0"/>
                    <a:pt x="76200" y="0"/>
                  </a:cubicBezTo>
                  <a:cubicBezTo>
                    <a:pt x="118237" y="0"/>
                    <a:pt x="152400" y="34163"/>
                    <a:pt x="152400" y="76200"/>
                  </a:cubicBezTo>
                  <a:lnTo>
                    <a:pt x="152400" y="2674493"/>
                  </a:lnTo>
                  <a:cubicBezTo>
                    <a:pt x="152400" y="2716530"/>
                    <a:pt x="118237" y="2750693"/>
                    <a:pt x="76200" y="2750693"/>
                  </a:cubicBezTo>
                  <a:cubicBezTo>
                    <a:pt x="34163" y="2750693"/>
                    <a:pt x="0" y="2716530"/>
                    <a:pt x="0" y="2674493"/>
                  </a:cubicBezTo>
                  <a:close/>
                </a:path>
              </a:pathLst>
            </a:custGeom>
            <a:solidFill>
              <a:srgbClr val="948BE2"/>
            </a:solidFill>
          </p:spPr>
        </p:sp>
      </p:grpSp>
      <p:sp>
        <p:nvSpPr>
          <p:cNvPr name="TextBox 32" id="32"/>
          <p:cNvSpPr txBox="true"/>
          <p:nvPr/>
        </p:nvSpPr>
        <p:spPr>
          <a:xfrm rot="0">
            <a:off x="9789471" y="7548858"/>
            <a:ext cx="4212908" cy="346075"/>
          </a:xfrm>
          <a:prstGeom prst="rect">
            <a:avLst/>
          </a:prstGeom>
        </p:spPr>
        <p:txBody>
          <a:bodyPr anchor="t" rtlCol="false" tIns="0" lIns="0" bIns="0" rIns="0">
            <a:spAutoFit/>
          </a:bodyPr>
          <a:lstStyle/>
          <a:p>
            <a:pPr algn="l">
              <a:lnSpc>
                <a:spcPts val="2750"/>
              </a:lnSpc>
            </a:pPr>
            <a:r>
              <a:rPr lang="en-US" sz="2312" b="true">
                <a:solidFill>
                  <a:srgbClr val="303030"/>
                </a:solidFill>
                <a:latin typeface="Inter Bold"/>
                <a:ea typeface="Inter Bold"/>
                <a:cs typeface="Inter Bold"/>
                <a:sym typeface="Inter Bold"/>
              </a:rPr>
              <a:t>Từ ảnh tĩnh đến thời gian thực</a:t>
            </a:r>
          </a:p>
        </p:txBody>
      </p:sp>
      <p:sp>
        <p:nvSpPr>
          <p:cNvPr name="TextBox 33" id="33"/>
          <p:cNvSpPr txBox="true"/>
          <p:nvPr/>
        </p:nvSpPr>
        <p:spPr>
          <a:xfrm rot="0">
            <a:off x="9789471" y="8095355"/>
            <a:ext cx="7254926" cy="930275"/>
          </a:xfrm>
          <a:prstGeom prst="rect">
            <a:avLst/>
          </a:prstGeom>
        </p:spPr>
        <p:txBody>
          <a:bodyPr anchor="t" rtlCol="false" tIns="0" lIns="0" bIns="0" rIns="0">
            <a:spAutoFit/>
          </a:bodyPr>
          <a:lstStyle/>
          <a:p>
            <a:pPr algn="l">
              <a:lnSpc>
                <a:spcPts val="2499"/>
              </a:lnSpc>
            </a:pPr>
            <a:r>
              <a:rPr lang="en-US" sz="1812">
                <a:solidFill>
                  <a:srgbClr val="303030"/>
                </a:solidFill>
                <a:latin typeface="Inter"/>
                <a:ea typeface="Inter"/>
                <a:cs typeface="Inter"/>
                <a:sym typeface="Inter"/>
              </a:rPr>
              <a:t>Deepfake không còn chỉ dừng lại ở ghép ảnh tĩnh mà đã tiến hóa thành giả mạo thời gian thực </a:t>
            </a:r>
            <a:r>
              <a:rPr lang="en-US" sz="1812" b="true">
                <a:solidFill>
                  <a:srgbClr val="303030"/>
                </a:solidFill>
                <a:latin typeface="Inter Bold"/>
                <a:ea typeface="Inter Bold"/>
                <a:cs typeface="Inter Bold"/>
                <a:sym typeface="Inter Bold"/>
              </a:rPr>
              <a:t>(Real-time Deepfake)</a:t>
            </a:r>
            <a:r>
              <a:rPr lang="en-US" sz="1812">
                <a:solidFill>
                  <a:srgbClr val="303030"/>
                </a:solidFill>
                <a:latin typeface="Inter"/>
                <a:ea typeface="Inter"/>
                <a:cs typeface="Inter"/>
                <a:sym typeface="Inter"/>
              </a:rPr>
              <a:t>, cực kỳ khó phát hiện.</a:t>
            </a:r>
          </a:p>
        </p:txBody>
      </p:sp>
      <p:grpSp>
        <p:nvGrpSpPr>
          <p:cNvPr name="Group 34" id="34"/>
          <p:cNvGrpSpPr/>
          <p:nvPr/>
        </p:nvGrpSpPr>
        <p:grpSpPr>
          <a:xfrm rot="0">
            <a:off x="15937935" y="67494"/>
            <a:ext cx="2212924" cy="2212924"/>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0" r="0"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377C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5F5F5"/>
            </a:solidFill>
          </p:spPr>
        </p:sp>
      </p:grpSp>
      <p:grpSp>
        <p:nvGrpSpPr>
          <p:cNvPr name="Group 6" id="6"/>
          <p:cNvGrpSpPr/>
          <p:nvPr/>
        </p:nvGrpSpPr>
        <p:grpSpPr>
          <a:xfrm rot="0">
            <a:off x="992238" y="1553918"/>
            <a:ext cx="2344493" cy="426691"/>
            <a:chOff x="0" y="0"/>
            <a:chExt cx="3125991" cy="568922"/>
          </a:xfrm>
        </p:grpSpPr>
        <p:sp>
          <p:nvSpPr>
            <p:cNvPr name="Freeform 7" id="7"/>
            <p:cNvSpPr/>
            <p:nvPr/>
          </p:nvSpPr>
          <p:spPr>
            <a:xfrm flipH="false" flipV="false" rot="0">
              <a:off x="0" y="0"/>
              <a:ext cx="3125978" cy="568833"/>
            </a:xfrm>
            <a:custGeom>
              <a:avLst/>
              <a:gdLst/>
              <a:ahLst/>
              <a:cxnLst/>
              <a:rect r="r" b="b" t="t" l="l"/>
              <a:pathLst>
                <a:path h="568833" w="3125978">
                  <a:moveTo>
                    <a:pt x="0" y="238125"/>
                  </a:moveTo>
                  <a:cubicBezTo>
                    <a:pt x="0" y="106680"/>
                    <a:pt x="106680" y="0"/>
                    <a:pt x="238125" y="0"/>
                  </a:cubicBezTo>
                  <a:lnTo>
                    <a:pt x="2887853" y="0"/>
                  </a:lnTo>
                  <a:cubicBezTo>
                    <a:pt x="3019425" y="0"/>
                    <a:pt x="3125978" y="106680"/>
                    <a:pt x="3125978" y="238125"/>
                  </a:cubicBezTo>
                  <a:lnTo>
                    <a:pt x="3125978" y="330708"/>
                  </a:lnTo>
                  <a:cubicBezTo>
                    <a:pt x="3125978" y="462280"/>
                    <a:pt x="3019298" y="568833"/>
                    <a:pt x="2887853" y="568833"/>
                  </a:cubicBezTo>
                  <a:lnTo>
                    <a:pt x="238125" y="568833"/>
                  </a:lnTo>
                  <a:cubicBezTo>
                    <a:pt x="106680" y="568960"/>
                    <a:pt x="0" y="462280"/>
                    <a:pt x="0" y="330708"/>
                  </a:cubicBezTo>
                  <a:close/>
                </a:path>
              </a:pathLst>
            </a:custGeom>
            <a:solidFill>
              <a:srgbClr val="5678F0"/>
            </a:solidFill>
          </p:spPr>
        </p:sp>
      </p:grpSp>
      <p:sp>
        <p:nvSpPr>
          <p:cNvPr name="TextBox 8" id="8"/>
          <p:cNvSpPr txBox="true"/>
          <p:nvPr/>
        </p:nvSpPr>
        <p:spPr>
          <a:xfrm rot="0">
            <a:off x="1141066" y="1599752"/>
            <a:ext cx="2046837" cy="265113"/>
          </a:xfrm>
          <a:prstGeom prst="rect">
            <a:avLst/>
          </a:prstGeom>
        </p:spPr>
        <p:txBody>
          <a:bodyPr anchor="t" rtlCol="false" tIns="0" lIns="0" bIns="0" rIns="0">
            <a:spAutoFit/>
          </a:bodyPr>
          <a:lstStyle/>
          <a:p>
            <a:pPr algn="l">
              <a:lnSpc>
                <a:spcPts val="2187"/>
              </a:lnSpc>
            </a:pPr>
            <a:r>
              <a:rPr lang="en-US" sz="1562">
                <a:solidFill>
                  <a:srgbClr val="FFFFFF"/>
                </a:solidFill>
                <a:latin typeface="Inter"/>
                <a:ea typeface="Inter"/>
                <a:cs typeface="Inter"/>
                <a:sym typeface="Inter"/>
              </a:rPr>
              <a:t>MỤC TIÊU &amp; PHẠM VI</a:t>
            </a:r>
          </a:p>
        </p:txBody>
      </p:sp>
      <p:sp>
        <p:nvSpPr>
          <p:cNvPr name="TextBox 9" id="9"/>
          <p:cNvSpPr txBox="true"/>
          <p:nvPr/>
        </p:nvSpPr>
        <p:spPr>
          <a:xfrm rot="0">
            <a:off x="992238" y="2079727"/>
            <a:ext cx="9605010" cy="738188"/>
          </a:xfrm>
          <a:prstGeom prst="rect">
            <a:avLst/>
          </a:prstGeom>
        </p:spPr>
        <p:txBody>
          <a:bodyPr anchor="t" rtlCol="false" tIns="0" lIns="0" bIns="0" rIns="0">
            <a:spAutoFit/>
          </a:bodyPr>
          <a:lstStyle/>
          <a:p>
            <a:pPr algn="l">
              <a:lnSpc>
                <a:spcPts val="5812"/>
              </a:lnSpc>
            </a:pPr>
            <a:r>
              <a:rPr lang="en-US" sz="4875" b="true">
                <a:solidFill>
                  <a:srgbClr val="5678F0"/>
                </a:solidFill>
                <a:latin typeface="Inter Bold"/>
                <a:ea typeface="Inter Bold"/>
                <a:cs typeface="Inter Bold"/>
                <a:sym typeface="Inter Bold"/>
              </a:rPr>
              <a:t>Mục Tiêu &amp; Phạm Vi Nghiên Cứu</a:t>
            </a:r>
          </a:p>
        </p:txBody>
      </p:sp>
      <p:sp>
        <p:nvSpPr>
          <p:cNvPr name="TextBox 10" id="10"/>
          <p:cNvSpPr txBox="true"/>
          <p:nvPr/>
        </p:nvSpPr>
        <p:spPr>
          <a:xfrm rot="0">
            <a:off x="992238" y="3157833"/>
            <a:ext cx="16303523"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Đồ án tập trung vào phát hiện Deepfake trong </a:t>
            </a:r>
            <a:r>
              <a:rPr lang="en-US" sz="1937" b="true">
                <a:solidFill>
                  <a:srgbClr val="303030"/>
                </a:solidFill>
                <a:latin typeface="Inter Bold"/>
                <a:ea typeface="Inter Bold"/>
                <a:cs typeface="Inter Bold"/>
                <a:sym typeface="Inter Bold"/>
              </a:rPr>
              <a:t>hình ảnh và video</a:t>
            </a:r>
            <a:r>
              <a:rPr lang="en-US" sz="1937">
                <a:solidFill>
                  <a:srgbClr val="303030"/>
                </a:solidFill>
                <a:latin typeface="Inter"/>
                <a:ea typeface="Inter"/>
                <a:cs typeface="Inter"/>
                <a:sym typeface="Inter"/>
              </a:rPr>
              <a:t>. Lưu ý: phạm vi nghiên cứu </a:t>
            </a:r>
            <a:r>
              <a:rPr lang="en-US" sz="1937" b="true">
                <a:solidFill>
                  <a:srgbClr val="303030"/>
                </a:solidFill>
                <a:latin typeface="Inter Bold"/>
                <a:ea typeface="Inter Bold"/>
                <a:cs typeface="Inter Bold"/>
                <a:sym typeface="Inter Bold"/>
              </a:rPr>
              <a:t>chưa xét đến Audio Deepfake</a:t>
            </a:r>
            <a:r>
              <a:rPr lang="en-US" sz="1937">
                <a:solidFill>
                  <a:srgbClr val="303030"/>
                </a:solidFill>
                <a:latin typeface="Inter"/>
                <a:ea typeface="Inter"/>
                <a:cs typeface="Inter"/>
                <a:sym typeface="Inter"/>
              </a:rPr>
              <a:t>.</a:t>
            </a:r>
          </a:p>
        </p:txBody>
      </p:sp>
      <p:grpSp>
        <p:nvGrpSpPr>
          <p:cNvPr name="Group 11" id="11"/>
          <p:cNvGrpSpPr/>
          <p:nvPr/>
        </p:nvGrpSpPr>
        <p:grpSpPr>
          <a:xfrm rot="0">
            <a:off x="992238" y="3822202"/>
            <a:ext cx="1240336" cy="1463278"/>
            <a:chOff x="0" y="0"/>
            <a:chExt cx="1653781" cy="1951038"/>
          </a:xfrm>
        </p:grpSpPr>
        <p:sp>
          <p:nvSpPr>
            <p:cNvPr name="Freeform 12" id="12" descr="preencoded.png"/>
            <p:cNvSpPr/>
            <p:nvPr/>
          </p:nvSpPr>
          <p:spPr>
            <a:xfrm flipH="false" flipV="false" rot="0">
              <a:off x="0" y="0"/>
              <a:ext cx="1653794" cy="1950974"/>
            </a:xfrm>
            <a:custGeom>
              <a:avLst/>
              <a:gdLst/>
              <a:ahLst/>
              <a:cxnLst/>
              <a:rect r="r" b="b" t="t" l="l"/>
              <a:pathLst>
                <a:path h="1950974" w="1653794">
                  <a:moveTo>
                    <a:pt x="0" y="0"/>
                  </a:moveTo>
                  <a:lnTo>
                    <a:pt x="1653794" y="0"/>
                  </a:lnTo>
                  <a:lnTo>
                    <a:pt x="1653794" y="1950974"/>
                  </a:lnTo>
                  <a:lnTo>
                    <a:pt x="0" y="1950974"/>
                  </a:lnTo>
                  <a:lnTo>
                    <a:pt x="0" y="0"/>
                  </a:lnTo>
                  <a:close/>
                </a:path>
              </a:pathLst>
            </a:custGeom>
            <a:blipFill>
              <a:blip r:embed="rId2"/>
              <a:stretch>
                <a:fillRect l="0" t="-206" r="0" b="-209"/>
              </a:stretch>
            </a:blipFill>
          </p:spPr>
        </p:sp>
      </p:grpSp>
      <p:sp>
        <p:nvSpPr>
          <p:cNvPr name="TextBox 13" id="13"/>
          <p:cNvSpPr txBox="true"/>
          <p:nvPr/>
        </p:nvSpPr>
        <p:spPr>
          <a:xfrm rot="0">
            <a:off x="2480520" y="3822202"/>
            <a:ext cx="3141226" cy="368300"/>
          </a:xfrm>
          <a:prstGeom prst="rect">
            <a:avLst/>
          </a:prstGeom>
        </p:spPr>
        <p:txBody>
          <a:bodyPr anchor="t" rtlCol="false" tIns="0" lIns="0" bIns="0" rIns="0">
            <a:spAutoFit/>
          </a:bodyPr>
          <a:lstStyle/>
          <a:p>
            <a:pPr algn="l">
              <a:lnSpc>
                <a:spcPts val="2875"/>
              </a:lnSpc>
            </a:pPr>
            <a:r>
              <a:rPr lang="en-US" sz="2437" b="true">
                <a:solidFill>
                  <a:srgbClr val="303030"/>
                </a:solidFill>
                <a:latin typeface="Inter Bold"/>
                <a:ea typeface="Inter Bold"/>
                <a:cs typeface="Inter Bold"/>
                <a:sym typeface="Inter Bold"/>
              </a:rPr>
              <a:t>Nghiên cứu Kiến trúc</a:t>
            </a:r>
          </a:p>
        </p:txBody>
      </p:sp>
      <p:sp>
        <p:nvSpPr>
          <p:cNvPr name="TextBox 14" id="14"/>
          <p:cNvSpPr txBox="true"/>
          <p:nvPr/>
        </p:nvSpPr>
        <p:spPr>
          <a:xfrm rot="0">
            <a:off x="2480520" y="4305005"/>
            <a:ext cx="14815242"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Tìm hiểu và so sánh các kiến trúc mạng học sâu hiện đại phù hợp cho bài toán phát hiện Deepfake trên dữ liệu hình ảnh và video.</a:t>
            </a:r>
          </a:p>
        </p:txBody>
      </p:sp>
      <p:grpSp>
        <p:nvGrpSpPr>
          <p:cNvPr name="Group 15" id="15"/>
          <p:cNvGrpSpPr/>
          <p:nvPr/>
        </p:nvGrpSpPr>
        <p:grpSpPr>
          <a:xfrm rot="0">
            <a:off x="992238" y="5533434"/>
            <a:ext cx="1240336" cy="1240479"/>
            <a:chOff x="0" y="0"/>
            <a:chExt cx="1653781" cy="1653972"/>
          </a:xfrm>
        </p:grpSpPr>
        <p:sp>
          <p:nvSpPr>
            <p:cNvPr name="Freeform 16" id="16" descr="preencoded.png"/>
            <p:cNvSpPr/>
            <p:nvPr/>
          </p:nvSpPr>
          <p:spPr>
            <a:xfrm flipH="false" flipV="false" rot="0">
              <a:off x="0" y="0"/>
              <a:ext cx="1653794" cy="1653921"/>
            </a:xfrm>
            <a:custGeom>
              <a:avLst/>
              <a:gdLst/>
              <a:ahLst/>
              <a:cxnLst/>
              <a:rect r="r" b="b" t="t" l="l"/>
              <a:pathLst>
                <a:path h="1653921" w="1653794">
                  <a:moveTo>
                    <a:pt x="0" y="0"/>
                  </a:moveTo>
                  <a:lnTo>
                    <a:pt x="1653794" y="0"/>
                  </a:lnTo>
                  <a:lnTo>
                    <a:pt x="1653794" y="1653921"/>
                  </a:lnTo>
                  <a:lnTo>
                    <a:pt x="0" y="1653921"/>
                  </a:lnTo>
                  <a:lnTo>
                    <a:pt x="0" y="0"/>
                  </a:lnTo>
                  <a:close/>
                </a:path>
              </a:pathLst>
            </a:custGeom>
            <a:blipFill>
              <a:blip r:embed="rId3"/>
              <a:stretch>
                <a:fillRect l="-6" t="0" r="-4" b="-3"/>
              </a:stretch>
            </a:blipFill>
          </p:spPr>
        </p:sp>
      </p:grpSp>
      <p:sp>
        <p:nvSpPr>
          <p:cNvPr name="TextBox 17" id="17"/>
          <p:cNvSpPr txBox="true"/>
          <p:nvPr/>
        </p:nvSpPr>
        <p:spPr>
          <a:xfrm rot="0">
            <a:off x="2480520" y="5533434"/>
            <a:ext cx="3622000" cy="368300"/>
          </a:xfrm>
          <a:prstGeom prst="rect">
            <a:avLst/>
          </a:prstGeom>
        </p:spPr>
        <p:txBody>
          <a:bodyPr anchor="t" rtlCol="false" tIns="0" lIns="0" bIns="0" rIns="0">
            <a:spAutoFit/>
          </a:bodyPr>
          <a:lstStyle/>
          <a:p>
            <a:pPr algn="l">
              <a:lnSpc>
                <a:spcPts val="2875"/>
              </a:lnSpc>
            </a:pPr>
            <a:r>
              <a:rPr lang="en-US" sz="2437" b="true">
                <a:solidFill>
                  <a:srgbClr val="303030"/>
                </a:solidFill>
                <a:latin typeface="Inter Bold"/>
                <a:ea typeface="Inter Bold"/>
                <a:cs typeface="Inter Bold"/>
                <a:sym typeface="Inter Bold"/>
              </a:rPr>
              <a:t>Đạt Độ Chính Xác &gt;90%</a:t>
            </a:r>
          </a:p>
        </p:txBody>
      </p:sp>
      <p:sp>
        <p:nvSpPr>
          <p:cNvPr name="TextBox 18" id="18"/>
          <p:cNvSpPr txBox="true"/>
          <p:nvPr/>
        </p:nvSpPr>
        <p:spPr>
          <a:xfrm rot="0">
            <a:off x="2480520" y="6016228"/>
            <a:ext cx="14815242"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Huấn luyện và tối ưu mô hình để đạt độ chính xác phân loại thật/giả vượt ngưỡng 90% trên tập kiểm tra FaceForensics++.</a:t>
            </a:r>
          </a:p>
        </p:txBody>
      </p:sp>
      <p:grpSp>
        <p:nvGrpSpPr>
          <p:cNvPr name="Group 19" id="19"/>
          <p:cNvGrpSpPr/>
          <p:nvPr/>
        </p:nvGrpSpPr>
        <p:grpSpPr>
          <a:xfrm rot="0">
            <a:off x="992238" y="7021859"/>
            <a:ext cx="1240336" cy="1463278"/>
            <a:chOff x="0" y="0"/>
            <a:chExt cx="1653781" cy="1951038"/>
          </a:xfrm>
        </p:grpSpPr>
        <p:sp>
          <p:nvSpPr>
            <p:cNvPr name="Freeform 20" id="20" descr="preencoded.png"/>
            <p:cNvSpPr/>
            <p:nvPr/>
          </p:nvSpPr>
          <p:spPr>
            <a:xfrm flipH="false" flipV="false" rot="0">
              <a:off x="0" y="0"/>
              <a:ext cx="1653794" cy="1950974"/>
            </a:xfrm>
            <a:custGeom>
              <a:avLst/>
              <a:gdLst/>
              <a:ahLst/>
              <a:cxnLst/>
              <a:rect r="r" b="b" t="t" l="l"/>
              <a:pathLst>
                <a:path h="1950974" w="1653794">
                  <a:moveTo>
                    <a:pt x="0" y="0"/>
                  </a:moveTo>
                  <a:lnTo>
                    <a:pt x="1653794" y="0"/>
                  </a:lnTo>
                  <a:lnTo>
                    <a:pt x="1653794" y="1950974"/>
                  </a:lnTo>
                  <a:lnTo>
                    <a:pt x="0" y="1950974"/>
                  </a:lnTo>
                  <a:lnTo>
                    <a:pt x="0" y="0"/>
                  </a:lnTo>
                  <a:close/>
                </a:path>
              </a:pathLst>
            </a:custGeom>
            <a:blipFill>
              <a:blip r:embed="rId4"/>
              <a:stretch>
                <a:fillRect l="0" t="-206" r="0" b="-209"/>
              </a:stretch>
            </a:blipFill>
          </p:spPr>
        </p:sp>
      </p:grpSp>
      <p:sp>
        <p:nvSpPr>
          <p:cNvPr name="TextBox 21" id="21"/>
          <p:cNvSpPr txBox="true"/>
          <p:nvPr/>
        </p:nvSpPr>
        <p:spPr>
          <a:xfrm rot="0">
            <a:off x="2480520" y="7021859"/>
            <a:ext cx="3984069" cy="368300"/>
          </a:xfrm>
          <a:prstGeom prst="rect">
            <a:avLst/>
          </a:prstGeom>
        </p:spPr>
        <p:txBody>
          <a:bodyPr anchor="t" rtlCol="false" tIns="0" lIns="0" bIns="0" rIns="0">
            <a:spAutoFit/>
          </a:bodyPr>
          <a:lstStyle/>
          <a:p>
            <a:pPr algn="l">
              <a:lnSpc>
                <a:spcPts val="2875"/>
              </a:lnSpc>
            </a:pPr>
            <a:r>
              <a:rPr lang="en-US" sz="2437" b="true">
                <a:solidFill>
                  <a:srgbClr val="303030"/>
                </a:solidFill>
                <a:latin typeface="Inter Bold"/>
                <a:ea typeface="Inter Bold"/>
                <a:cs typeface="Inter Bold"/>
                <a:sym typeface="Inter Bold"/>
              </a:rPr>
              <a:t>Xây dựng Web Application</a:t>
            </a:r>
          </a:p>
        </p:txBody>
      </p:sp>
      <p:sp>
        <p:nvSpPr>
          <p:cNvPr name="TextBox 22" id="22"/>
          <p:cNvSpPr txBox="true"/>
          <p:nvPr/>
        </p:nvSpPr>
        <p:spPr>
          <a:xfrm rot="0">
            <a:off x="2480520" y="7504662"/>
            <a:ext cx="14815242" cy="658812"/>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Triển khai mô hình AI vào ứng dụng web thực tế bằng Flask, cho phép người dùng tải lên ảnh/video và nhận kết quả phân tích tức thì.</a:t>
            </a:r>
          </a:p>
        </p:txBody>
      </p:sp>
      <p:grpSp>
        <p:nvGrpSpPr>
          <p:cNvPr name="Group 23" id="23"/>
          <p:cNvGrpSpPr/>
          <p:nvPr/>
        </p:nvGrpSpPr>
        <p:grpSpPr>
          <a:xfrm rot="0">
            <a:off x="15989351" y="9525"/>
            <a:ext cx="2212924" cy="2212924"/>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0" t="0" r="0" b="0"/>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377C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5F5F5"/>
            </a:solidFill>
          </p:spPr>
        </p:sp>
      </p:grpSp>
      <p:grpSp>
        <p:nvGrpSpPr>
          <p:cNvPr name="Group 6" id="6"/>
          <p:cNvGrpSpPr/>
          <p:nvPr/>
        </p:nvGrpSpPr>
        <p:grpSpPr>
          <a:xfrm rot="0">
            <a:off x="992238" y="2072878"/>
            <a:ext cx="2058591" cy="426691"/>
            <a:chOff x="0" y="0"/>
            <a:chExt cx="2744788" cy="568922"/>
          </a:xfrm>
        </p:grpSpPr>
        <p:sp>
          <p:nvSpPr>
            <p:cNvPr name="Freeform 7" id="7"/>
            <p:cNvSpPr/>
            <p:nvPr/>
          </p:nvSpPr>
          <p:spPr>
            <a:xfrm flipH="false" flipV="false" rot="0">
              <a:off x="0" y="0"/>
              <a:ext cx="2744724" cy="568833"/>
            </a:xfrm>
            <a:custGeom>
              <a:avLst/>
              <a:gdLst/>
              <a:ahLst/>
              <a:cxnLst/>
              <a:rect r="r" b="b" t="t" l="l"/>
              <a:pathLst>
                <a:path h="568833" w="2744724">
                  <a:moveTo>
                    <a:pt x="0" y="238125"/>
                  </a:moveTo>
                  <a:cubicBezTo>
                    <a:pt x="0" y="106680"/>
                    <a:pt x="106680" y="0"/>
                    <a:pt x="238125" y="0"/>
                  </a:cubicBezTo>
                  <a:lnTo>
                    <a:pt x="2506599" y="0"/>
                  </a:lnTo>
                  <a:cubicBezTo>
                    <a:pt x="2638171" y="0"/>
                    <a:pt x="2744724" y="106680"/>
                    <a:pt x="2744724" y="238125"/>
                  </a:cubicBezTo>
                  <a:lnTo>
                    <a:pt x="2744724" y="330708"/>
                  </a:lnTo>
                  <a:cubicBezTo>
                    <a:pt x="2744724" y="462280"/>
                    <a:pt x="2638044" y="568833"/>
                    <a:pt x="2506599" y="568833"/>
                  </a:cubicBezTo>
                  <a:lnTo>
                    <a:pt x="238125" y="568833"/>
                  </a:lnTo>
                  <a:cubicBezTo>
                    <a:pt x="106680" y="568960"/>
                    <a:pt x="0" y="462280"/>
                    <a:pt x="0" y="330708"/>
                  </a:cubicBezTo>
                  <a:close/>
                </a:path>
              </a:pathLst>
            </a:custGeom>
            <a:solidFill>
              <a:srgbClr val="5678F0"/>
            </a:solidFill>
          </p:spPr>
        </p:sp>
      </p:grpSp>
      <p:sp>
        <p:nvSpPr>
          <p:cNvPr name="TextBox 8" id="8"/>
          <p:cNvSpPr txBox="true"/>
          <p:nvPr/>
        </p:nvSpPr>
        <p:spPr>
          <a:xfrm rot="0">
            <a:off x="1028700" y="2127406"/>
            <a:ext cx="2316956" cy="279535"/>
          </a:xfrm>
          <a:prstGeom prst="rect">
            <a:avLst/>
          </a:prstGeom>
        </p:spPr>
        <p:txBody>
          <a:bodyPr anchor="t" rtlCol="false" tIns="0" lIns="0" bIns="0" rIns="0">
            <a:spAutoFit/>
          </a:bodyPr>
          <a:lstStyle/>
          <a:p>
            <a:pPr algn="l">
              <a:lnSpc>
                <a:spcPts val="2232"/>
              </a:lnSpc>
            </a:pPr>
            <a:r>
              <a:rPr lang="en-US" sz="1594">
                <a:solidFill>
                  <a:srgbClr val="FFFFFF"/>
                </a:solidFill>
                <a:latin typeface="Inter"/>
                <a:ea typeface="Inter"/>
                <a:cs typeface="Inter"/>
                <a:sym typeface="Inter"/>
              </a:rPr>
              <a:t>CƠ SỞ LÝ THUYẾT</a:t>
            </a:r>
          </a:p>
        </p:txBody>
      </p:sp>
      <p:sp>
        <p:nvSpPr>
          <p:cNvPr name="TextBox 9" id="9"/>
          <p:cNvSpPr txBox="true"/>
          <p:nvPr/>
        </p:nvSpPr>
        <p:spPr>
          <a:xfrm rot="0">
            <a:off x="992238" y="2598687"/>
            <a:ext cx="10218659" cy="738188"/>
          </a:xfrm>
          <a:prstGeom prst="rect">
            <a:avLst/>
          </a:prstGeom>
        </p:spPr>
        <p:txBody>
          <a:bodyPr anchor="t" rtlCol="false" tIns="0" lIns="0" bIns="0" rIns="0">
            <a:spAutoFit/>
          </a:bodyPr>
          <a:lstStyle/>
          <a:p>
            <a:pPr algn="l">
              <a:lnSpc>
                <a:spcPts val="5812"/>
              </a:lnSpc>
            </a:pPr>
            <a:r>
              <a:rPr lang="en-US" sz="4875" b="true">
                <a:solidFill>
                  <a:srgbClr val="5678F0"/>
                </a:solidFill>
                <a:latin typeface="Inter Bold"/>
                <a:ea typeface="Inter Bold"/>
                <a:cs typeface="Inter Bold"/>
                <a:sym typeface="Inter Bold"/>
              </a:rPr>
              <a:t>Các Kỹ Thuật Can Thiệp Deepfake</a:t>
            </a:r>
          </a:p>
        </p:txBody>
      </p:sp>
      <p:sp>
        <p:nvSpPr>
          <p:cNvPr name="TextBox 10" id="10"/>
          <p:cNvSpPr txBox="true"/>
          <p:nvPr/>
        </p:nvSpPr>
        <p:spPr>
          <a:xfrm rot="0">
            <a:off x="992238" y="3676802"/>
            <a:ext cx="16303523"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FaceForensics++ bao gồm 4 phương pháp can thiệp chính, chia thành hai nhóm: </a:t>
            </a:r>
            <a:r>
              <a:rPr lang="en-US" sz="1937" b="true">
                <a:solidFill>
                  <a:srgbClr val="303030"/>
                </a:solidFill>
                <a:latin typeface="Inter Bold"/>
                <a:ea typeface="Inter Bold"/>
                <a:cs typeface="Inter Bold"/>
                <a:sym typeface="Inter Bold"/>
              </a:rPr>
              <a:t>tráo đổi toàn bộ khuôn mặt</a:t>
            </a:r>
            <a:r>
              <a:rPr lang="en-US" sz="1937">
                <a:solidFill>
                  <a:srgbClr val="303030"/>
                </a:solidFill>
                <a:latin typeface="Inter"/>
                <a:ea typeface="Inter"/>
                <a:cs typeface="Inter"/>
                <a:sym typeface="Inter"/>
              </a:rPr>
              <a:t> và </a:t>
            </a:r>
            <a:r>
              <a:rPr lang="en-US" sz="1937" b="true">
                <a:solidFill>
                  <a:srgbClr val="303030"/>
                </a:solidFill>
                <a:latin typeface="Inter Bold"/>
                <a:ea typeface="Inter Bold"/>
                <a:cs typeface="Inter Bold"/>
                <a:sym typeface="Inter Bold"/>
              </a:rPr>
              <a:t>thao túng biểu cảm cục bộ</a:t>
            </a:r>
            <a:r>
              <a:rPr lang="en-US" sz="1937">
                <a:solidFill>
                  <a:srgbClr val="303030"/>
                </a:solidFill>
                <a:latin typeface="Inter"/>
                <a:ea typeface="Inter"/>
                <a:cs typeface="Inter"/>
                <a:sym typeface="Inter"/>
              </a:rPr>
              <a:t>.</a:t>
            </a:r>
          </a:p>
        </p:txBody>
      </p:sp>
      <p:grpSp>
        <p:nvGrpSpPr>
          <p:cNvPr name="Group 11" id="11"/>
          <p:cNvGrpSpPr/>
          <p:nvPr/>
        </p:nvGrpSpPr>
        <p:grpSpPr>
          <a:xfrm rot="0">
            <a:off x="992238" y="4713237"/>
            <a:ext cx="3889924" cy="3500885"/>
            <a:chOff x="0" y="0"/>
            <a:chExt cx="5186566" cy="4667847"/>
          </a:xfrm>
        </p:grpSpPr>
        <p:sp>
          <p:nvSpPr>
            <p:cNvPr name="Freeform 12" id="12"/>
            <p:cNvSpPr/>
            <p:nvPr/>
          </p:nvSpPr>
          <p:spPr>
            <a:xfrm flipH="false" flipV="false" rot="0">
              <a:off x="0" y="0"/>
              <a:ext cx="5186553" cy="4667885"/>
            </a:xfrm>
            <a:custGeom>
              <a:avLst/>
              <a:gdLst/>
              <a:ahLst/>
              <a:cxnLst/>
              <a:rect r="r" b="b" t="t" l="l"/>
              <a:pathLst>
                <a:path h="4667885" w="5186553">
                  <a:moveTo>
                    <a:pt x="0" y="182880"/>
                  </a:moveTo>
                  <a:cubicBezTo>
                    <a:pt x="0" y="81915"/>
                    <a:pt x="81915" y="0"/>
                    <a:pt x="182880" y="0"/>
                  </a:cubicBezTo>
                  <a:lnTo>
                    <a:pt x="5003673" y="0"/>
                  </a:lnTo>
                  <a:cubicBezTo>
                    <a:pt x="5104638" y="0"/>
                    <a:pt x="5186553" y="81915"/>
                    <a:pt x="5186553" y="182880"/>
                  </a:cubicBezTo>
                  <a:lnTo>
                    <a:pt x="5186553" y="4485005"/>
                  </a:lnTo>
                  <a:cubicBezTo>
                    <a:pt x="5186553" y="4585970"/>
                    <a:pt x="5104638" y="4667885"/>
                    <a:pt x="5003673" y="4667885"/>
                  </a:cubicBezTo>
                  <a:lnTo>
                    <a:pt x="182880" y="4667885"/>
                  </a:lnTo>
                  <a:cubicBezTo>
                    <a:pt x="81915" y="4667885"/>
                    <a:pt x="0" y="4585970"/>
                    <a:pt x="0" y="4485005"/>
                  </a:cubicBezTo>
                  <a:close/>
                </a:path>
              </a:pathLst>
            </a:custGeom>
            <a:solidFill>
              <a:srgbClr val="F5F5F5"/>
            </a:solidFill>
          </p:spPr>
        </p:sp>
      </p:grpSp>
      <p:grpSp>
        <p:nvGrpSpPr>
          <p:cNvPr name="Group 13" id="13"/>
          <p:cNvGrpSpPr/>
          <p:nvPr/>
        </p:nvGrpSpPr>
        <p:grpSpPr>
          <a:xfrm rot="0">
            <a:off x="992238" y="4684662"/>
            <a:ext cx="3889924" cy="114300"/>
            <a:chOff x="0" y="0"/>
            <a:chExt cx="5186566" cy="152400"/>
          </a:xfrm>
        </p:grpSpPr>
        <p:sp>
          <p:nvSpPr>
            <p:cNvPr name="Freeform 14" id="14"/>
            <p:cNvSpPr/>
            <p:nvPr/>
          </p:nvSpPr>
          <p:spPr>
            <a:xfrm flipH="false" flipV="false" rot="0">
              <a:off x="0" y="0"/>
              <a:ext cx="5186553" cy="152400"/>
            </a:xfrm>
            <a:custGeom>
              <a:avLst/>
              <a:gdLst/>
              <a:ahLst/>
              <a:cxnLst/>
              <a:rect r="r" b="b" t="t" l="l"/>
              <a:pathLst>
                <a:path h="152400" w="5186553">
                  <a:moveTo>
                    <a:pt x="0" y="76200"/>
                  </a:moveTo>
                  <a:cubicBezTo>
                    <a:pt x="0" y="34163"/>
                    <a:pt x="34163" y="0"/>
                    <a:pt x="76200" y="0"/>
                  </a:cubicBezTo>
                  <a:lnTo>
                    <a:pt x="5110353" y="0"/>
                  </a:lnTo>
                  <a:cubicBezTo>
                    <a:pt x="5152390" y="0"/>
                    <a:pt x="5186553" y="34163"/>
                    <a:pt x="5186553" y="76200"/>
                  </a:cubicBezTo>
                  <a:cubicBezTo>
                    <a:pt x="5186553" y="118237"/>
                    <a:pt x="5152390" y="152400"/>
                    <a:pt x="5110353" y="152400"/>
                  </a:cubicBezTo>
                  <a:lnTo>
                    <a:pt x="76200" y="152400"/>
                  </a:lnTo>
                  <a:cubicBezTo>
                    <a:pt x="34163" y="152400"/>
                    <a:pt x="0" y="118237"/>
                    <a:pt x="0" y="76200"/>
                  </a:cubicBezTo>
                  <a:close/>
                </a:path>
              </a:pathLst>
            </a:custGeom>
            <a:solidFill>
              <a:srgbClr val="5678F0"/>
            </a:solidFill>
          </p:spPr>
        </p:sp>
      </p:grpSp>
      <p:grpSp>
        <p:nvGrpSpPr>
          <p:cNvPr name="Group 15" id="15"/>
          <p:cNvGrpSpPr/>
          <p:nvPr/>
        </p:nvGrpSpPr>
        <p:grpSpPr>
          <a:xfrm rot="0">
            <a:off x="2565054" y="4341171"/>
            <a:ext cx="744141" cy="744141"/>
            <a:chOff x="0" y="0"/>
            <a:chExt cx="992188" cy="992188"/>
          </a:xfrm>
        </p:grpSpPr>
        <p:sp>
          <p:nvSpPr>
            <p:cNvPr name="Freeform 16" id="16"/>
            <p:cNvSpPr/>
            <p:nvPr/>
          </p:nvSpPr>
          <p:spPr>
            <a:xfrm flipH="false" flipV="false" rot="0">
              <a:off x="0" y="0"/>
              <a:ext cx="992251" cy="992251"/>
            </a:xfrm>
            <a:custGeom>
              <a:avLst/>
              <a:gdLst/>
              <a:ahLst/>
              <a:cxnLst/>
              <a:rect r="r" b="b" t="t" l="l"/>
              <a:pathLst>
                <a:path h="992251" w="992251">
                  <a:moveTo>
                    <a:pt x="0" y="496062"/>
                  </a:moveTo>
                  <a:cubicBezTo>
                    <a:pt x="0" y="222123"/>
                    <a:pt x="222123" y="0"/>
                    <a:pt x="496062" y="0"/>
                  </a:cubicBezTo>
                  <a:cubicBezTo>
                    <a:pt x="770001" y="0"/>
                    <a:pt x="992251" y="222123"/>
                    <a:pt x="992251" y="496062"/>
                  </a:cubicBezTo>
                  <a:cubicBezTo>
                    <a:pt x="992251" y="770001"/>
                    <a:pt x="770128" y="992251"/>
                    <a:pt x="496062" y="992251"/>
                  </a:cubicBezTo>
                  <a:cubicBezTo>
                    <a:pt x="221996" y="992251"/>
                    <a:pt x="0" y="770128"/>
                    <a:pt x="0" y="496062"/>
                  </a:cubicBezTo>
                  <a:close/>
                </a:path>
              </a:pathLst>
            </a:custGeom>
            <a:solidFill>
              <a:srgbClr val="5678F0"/>
            </a:solidFill>
          </p:spPr>
        </p:sp>
      </p:grpSp>
      <p:sp>
        <p:nvSpPr>
          <p:cNvPr name="Freeform 17" id="17" descr="preencoded.png"/>
          <p:cNvSpPr/>
          <p:nvPr/>
        </p:nvSpPr>
        <p:spPr>
          <a:xfrm flipH="false" flipV="false" rot="0">
            <a:off x="2788291" y="4564409"/>
            <a:ext cx="297656" cy="297656"/>
          </a:xfrm>
          <a:custGeom>
            <a:avLst/>
            <a:gdLst/>
            <a:ahLst/>
            <a:cxnLst/>
            <a:rect r="r" b="b" t="t" l="l"/>
            <a:pathLst>
              <a:path h="297656" w="297656">
                <a:moveTo>
                  <a:pt x="0" y="0"/>
                </a:moveTo>
                <a:lnTo>
                  <a:pt x="297657" y="0"/>
                </a:lnTo>
                <a:lnTo>
                  <a:pt x="297657" y="297656"/>
                </a:lnTo>
                <a:lnTo>
                  <a:pt x="0" y="297656"/>
                </a:lnTo>
                <a:lnTo>
                  <a:pt x="0" y="0"/>
                </a:lnTo>
                <a:close/>
              </a:path>
            </a:pathLst>
          </a:custGeom>
          <a:blipFill>
            <a:blip r:embed="rId2">
              <a:extLst>
                <a:ext uri="{96DAC541-7B7A-43D3-8B79-37D633B846F1}">
                  <asvg:svgBlip xmlns:asvg="http://schemas.microsoft.com/office/drawing/2016/SVG/main" r:embed="rId3"/>
                </a:ext>
              </a:extLst>
            </a:blip>
            <a:stretch>
              <a:fillRect l="0" t="-7811" r="0" b="-7814"/>
            </a:stretch>
          </a:blipFill>
        </p:spPr>
      </p:sp>
      <p:sp>
        <p:nvSpPr>
          <p:cNvPr name="TextBox 18" id="18"/>
          <p:cNvSpPr txBox="true"/>
          <p:nvPr/>
        </p:nvSpPr>
        <p:spPr>
          <a:xfrm rot="0">
            <a:off x="2133226" y="5333409"/>
            <a:ext cx="1607939" cy="368300"/>
          </a:xfrm>
          <a:prstGeom prst="rect">
            <a:avLst/>
          </a:prstGeom>
        </p:spPr>
        <p:txBody>
          <a:bodyPr anchor="t" rtlCol="false" tIns="0" lIns="0" bIns="0" rIns="0">
            <a:spAutoFit/>
          </a:bodyPr>
          <a:lstStyle/>
          <a:p>
            <a:pPr algn="ctr">
              <a:lnSpc>
                <a:spcPts val="2875"/>
              </a:lnSpc>
            </a:pPr>
            <a:r>
              <a:rPr lang="en-US" sz="2437" b="true">
                <a:solidFill>
                  <a:srgbClr val="303030"/>
                </a:solidFill>
                <a:latin typeface="Inter Bold"/>
                <a:ea typeface="Inter Bold"/>
                <a:cs typeface="Inter Bold"/>
                <a:sym typeface="Inter Bold"/>
              </a:rPr>
              <a:t>Deepfakes</a:t>
            </a:r>
          </a:p>
        </p:txBody>
      </p:sp>
      <p:sp>
        <p:nvSpPr>
          <p:cNvPr name="TextBox 19" id="19"/>
          <p:cNvSpPr txBox="true"/>
          <p:nvPr/>
        </p:nvSpPr>
        <p:spPr>
          <a:xfrm rot="0">
            <a:off x="1268759" y="5816203"/>
            <a:ext cx="3336874" cy="1992312"/>
          </a:xfrm>
          <a:prstGeom prst="rect">
            <a:avLst/>
          </a:prstGeom>
        </p:spPr>
        <p:txBody>
          <a:bodyPr anchor="t" rtlCol="false" tIns="0" lIns="0" bIns="0" rIns="0">
            <a:spAutoFit/>
          </a:bodyPr>
          <a:lstStyle/>
          <a:p>
            <a:pPr algn="ctr">
              <a:lnSpc>
                <a:spcPts val="2687"/>
              </a:lnSpc>
            </a:pPr>
            <a:r>
              <a:rPr lang="en-US" sz="1937">
                <a:solidFill>
                  <a:srgbClr val="303030"/>
                </a:solidFill>
                <a:latin typeface="Inter"/>
                <a:ea typeface="Inter"/>
                <a:cs typeface="Inter"/>
                <a:sym typeface="Inter"/>
              </a:rPr>
              <a:t>Sử dụng Autoencoder để học và hoán đổi đặc trưng khuôn mặt giữa hai người. Kết quả là </a:t>
            </a:r>
            <a:r>
              <a:rPr lang="en-US" sz="1937" b="true">
                <a:solidFill>
                  <a:srgbClr val="303030"/>
                </a:solidFill>
                <a:latin typeface="Inter Bold"/>
                <a:ea typeface="Inter Bold"/>
                <a:cs typeface="Inter Bold"/>
                <a:sym typeface="Inter Bold"/>
              </a:rPr>
              <a:t>toàn bộ khuôn mặt</a:t>
            </a:r>
            <a:r>
              <a:rPr lang="en-US" sz="1937">
                <a:solidFill>
                  <a:srgbClr val="303030"/>
                </a:solidFill>
                <a:latin typeface="Inter"/>
                <a:ea typeface="Inter"/>
                <a:cs typeface="Inter"/>
                <a:sym typeface="Inter"/>
              </a:rPr>
              <a:t> được thay thế hoàn toàn.</a:t>
            </a:r>
          </a:p>
        </p:txBody>
      </p:sp>
      <p:grpSp>
        <p:nvGrpSpPr>
          <p:cNvPr name="Group 20" id="20"/>
          <p:cNvGrpSpPr/>
          <p:nvPr/>
        </p:nvGrpSpPr>
        <p:grpSpPr>
          <a:xfrm rot="0">
            <a:off x="5130108" y="4713237"/>
            <a:ext cx="3889924" cy="3500885"/>
            <a:chOff x="0" y="0"/>
            <a:chExt cx="5186566" cy="4667847"/>
          </a:xfrm>
        </p:grpSpPr>
        <p:sp>
          <p:nvSpPr>
            <p:cNvPr name="Freeform 21" id="21"/>
            <p:cNvSpPr/>
            <p:nvPr/>
          </p:nvSpPr>
          <p:spPr>
            <a:xfrm flipH="false" flipV="false" rot="0">
              <a:off x="0" y="0"/>
              <a:ext cx="5186553" cy="4667885"/>
            </a:xfrm>
            <a:custGeom>
              <a:avLst/>
              <a:gdLst/>
              <a:ahLst/>
              <a:cxnLst/>
              <a:rect r="r" b="b" t="t" l="l"/>
              <a:pathLst>
                <a:path h="4667885" w="5186553">
                  <a:moveTo>
                    <a:pt x="0" y="182880"/>
                  </a:moveTo>
                  <a:cubicBezTo>
                    <a:pt x="0" y="81915"/>
                    <a:pt x="81915" y="0"/>
                    <a:pt x="182880" y="0"/>
                  </a:cubicBezTo>
                  <a:lnTo>
                    <a:pt x="5003673" y="0"/>
                  </a:lnTo>
                  <a:cubicBezTo>
                    <a:pt x="5104638" y="0"/>
                    <a:pt x="5186553" y="81915"/>
                    <a:pt x="5186553" y="182880"/>
                  </a:cubicBezTo>
                  <a:lnTo>
                    <a:pt x="5186553" y="4485005"/>
                  </a:lnTo>
                  <a:cubicBezTo>
                    <a:pt x="5186553" y="4585970"/>
                    <a:pt x="5104638" y="4667885"/>
                    <a:pt x="5003673" y="4667885"/>
                  </a:cubicBezTo>
                  <a:lnTo>
                    <a:pt x="182880" y="4667885"/>
                  </a:lnTo>
                  <a:cubicBezTo>
                    <a:pt x="81915" y="4667885"/>
                    <a:pt x="0" y="4585970"/>
                    <a:pt x="0" y="4485005"/>
                  </a:cubicBezTo>
                  <a:close/>
                </a:path>
              </a:pathLst>
            </a:custGeom>
            <a:solidFill>
              <a:srgbClr val="F5F5F5"/>
            </a:solidFill>
          </p:spPr>
        </p:sp>
      </p:grpSp>
      <p:grpSp>
        <p:nvGrpSpPr>
          <p:cNvPr name="Group 22" id="22"/>
          <p:cNvGrpSpPr/>
          <p:nvPr/>
        </p:nvGrpSpPr>
        <p:grpSpPr>
          <a:xfrm rot="0">
            <a:off x="5130108" y="4684662"/>
            <a:ext cx="3889924" cy="114300"/>
            <a:chOff x="0" y="0"/>
            <a:chExt cx="5186566" cy="152400"/>
          </a:xfrm>
        </p:grpSpPr>
        <p:sp>
          <p:nvSpPr>
            <p:cNvPr name="Freeform 23" id="23"/>
            <p:cNvSpPr/>
            <p:nvPr/>
          </p:nvSpPr>
          <p:spPr>
            <a:xfrm flipH="false" flipV="false" rot="0">
              <a:off x="0" y="0"/>
              <a:ext cx="5186553" cy="152400"/>
            </a:xfrm>
            <a:custGeom>
              <a:avLst/>
              <a:gdLst/>
              <a:ahLst/>
              <a:cxnLst/>
              <a:rect r="r" b="b" t="t" l="l"/>
              <a:pathLst>
                <a:path h="152400" w="5186553">
                  <a:moveTo>
                    <a:pt x="0" y="76200"/>
                  </a:moveTo>
                  <a:cubicBezTo>
                    <a:pt x="0" y="34163"/>
                    <a:pt x="34163" y="0"/>
                    <a:pt x="76200" y="0"/>
                  </a:cubicBezTo>
                  <a:lnTo>
                    <a:pt x="5110353" y="0"/>
                  </a:lnTo>
                  <a:cubicBezTo>
                    <a:pt x="5152390" y="0"/>
                    <a:pt x="5186553" y="34163"/>
                    <a:pt x="5186553" y="76200"/>
                  </a:cubicBezTo>
                  <a:cubicBezTo>
                    <a:pt x="5186553" y="118237"/>
                    <a:pt x="5152390" y="152400"/>
                    <a:pt x="5110353" y="152400"/>
                  </a:cubicBezTo>
                  <a:lnTo>
                    <a:pt x="76200" y="152400"/>
                  </a:lnTo>
                  <a:cubicBezTo>
                    <a:pt x="34163" y="152400"/>
                    <a:pt x="0" y="118237"/>
                    <a:pt x="0" y="76200"/>
                  </a:cubicBezTo>
                  <a:close/>
                </a:path>
              </a:pathLst>
            </a:custGeom>
            <a:solidFill>
              <a:srgbClr val="93CEF1"/>
            </a:solidFill>
          </p:spPr>
        </p:sp>
      </p:grpSp>
      <p:grpSp>
        <p:nvGrpSpPr>
          <p:cNvPr name="Group 24" id="24"/>
          <p:cNvGrpSpPr/>
          <p:nvPr/>
        </p:nvGrpSpPr>
        <p:grpSpPr>
          <a:xfrm rot="0">
            <a:off x="6702923" y="4341171"/>
            <a:ext cx="744141" cy="744141"/>
            <a:chOff x="0" y="0"/>
            <a:chExt cx="992188" cy="992188"/>
          </a:xfrm>
        </p:grpSpPr>
        <p:sp>
          <p:nvSpPr>
            <p:cNvPr name="Freeform 25" id="25"/>
            <p:cNvSpPr/>
            <p:nvPr/>
          </p:nvSpPr>
          <p:spPr>
            <a:xfrm flipH="false" flipV="false" rot="0">
              <a:off x="0" y="0"/>
              <a:ext cx="992251" cy="992251"/>
            </a:xfrm>
            <a:custGeom>
              <a:avLst/>
              <a:gdLst/>
              <a:ahLst/>
              <a:cxnLst/>
              <a:rect r="r" b="b" t="t" l="l"/>
              <a:pathLst>
                <a:path h="992251" w="992251">
                  <a:moveTo>
                    <a:pt x="0" y="496062"/>
                  </a:moveTo>
                  <a:cubicBezTo>
                    <a:pt x="0" y="222123"/>
                    <a:pt x="222123" y="0"/>
                    <a:pt x="496062" y="0"/>
                  </a:cubicBezTo>
                  <a:cubicBezTo>
                    <a:pt x="770001" y="0"/>
                    <a:pt x="992251" y="222123"/>
                    <a:pt x="992251" y="496062"/>
                  </a:cubicBezTo>
                  <a:cubicBezTo>
                    <a:pt x="992251" y="770001"/>
                    <a:pt x="770128" y="992251"/>
                    <a:pt x="496062" y="992251"/>
                  </a:cubicBezTo>
                  <a:cubicBezTo>
                    <a:pt x="221996" y="992251"/>
                    <a:pt x="0" y="770128"/>
                    <a:pt x="0" y="496062"/>
                  </a:cubicBezTo>
                  <a:close/>
                </a:path>
              </a:pathLst>
            </a:custGeom>
            <a:solidFill>
              <a:srgbClr val="93CEF1"/>
            </a:solidFill>
          </p:spPr>
        </p:sp>
      </p:grpSp>
      <p:sp>
        <p:nvSpPr>
          <p:cNvPr name="Freeform 26" id="26" descr="preencoded.png"/>
          <p:cNvSpPr/>
          <p:nvPr/>
        </p:nvSpPr>
        <p:spPr>
          <a:xfrm flipH="false" flipV="false" rot="0">
            <a:off x="6926161" y="4564409"/>
            <a:ext cx="297656" cy="297656"/>
          </a:xfrm>
          <a:custGeom>
            <a:avLst/>
            <a:gdLst/>
            <a:ahLst/>
            <a:cxnLst/>
            <a:rect r="r" b="b" t="t" l="l"/>
            <a:pathLst>
              <a:path h="297656" w="297656">
                <a:moveTo>
                  <a:pt x="0" y="0"/>
                </a:moveTo>
                <a:lnTo>
                  <a:pt x="297656" y="0"/>
                </a:lnTo>
                <a:lnTo>
                  <a:pt x="297656" y="297656"/>
                </a:lnTo>
                <a:lnTo>
                  <a:pt x="0" y="297656"/>
                </a:lnTo>
                <a:lnTo>
                  <a:pt x="0" y="0"/>
                </a:lnTo>
                <a:close/>
              </a:path>
            </a:pathLst>
          </a:custGeom>
          <a:blipFill>
            <a:blip r:embed="rId4">
              <a:extLst>
                <a:ext uri="{96DAC541-7B7A-43D3-8B79-37D633B846F1}">
                  <asvg:svgBlip xmlns:asvg="http://schemas.microsoft.com/office/drawing/2016/SVG/main" r:embed="rId5"/>
                </a:ext>
              </a:extLst>
            </a:blip>
            <a:stretch>
              <a:fillRect l="0" t="-14064" r="0" b="-14060"/>
            </a:stretch>
          </a:blipFill>
        </p:spPr>
      </p:sp>
      <p:sp>
        <p:nvSpPr>
          <p:cNvPr name="TextBox 27" id="27"/>
          <p:cNvSpPr txBox="true"/>
          <p:nvPr/>
        </p:nvSpPr>
        <p:spPr>
          <a:xfrm rot="0">
            <a:off x="6257761" y="5333409"/>
            <a:ext cx="1634609" cy="368300"/>
          </a:xfrm>
          <a:prstGeom prst="rect">
            <a:avLst/>
          </a:prstGeom>
        </p:spPr>
        <p:txBody>
          <a:bodyPr anchor="t" rtlCol="false" tIns="0" lIns="0" bIns="0" rIns="0">
            <a:spAutoFit/>
          </a:bodyPr>
          <a:lstStyle/>
          <a:p>
            <a:pPr algn="ctr">
              <a:lnSpc>
                <a:spcPts val="2875"/>
              </a:lnSpc>
            </a:pPr>
            <a:r>
              <a:rPr lang="en-US" sz="2437" b="true">
                <a:solidFill>
                  <a:srgbClr val="303030"/>
                </a:solidFill>
                <a:latin typeface="Inter Bold"/>
                <a:ea typeface="Inter Bold"/>
                <a:cs typeface="Inter Bold"/>
                <a:sym typeface="Inter Bold"/>
              </a:rPr>
              <a:t>Face2Face</a:t>
            </a:r>
          </a:p>
        </p:txBody>
      </p:sp>
      <p:sp>
        <p:nvSpPr>
          <p:cNvPr name="TextBox 28" id="28"/>
          <p:cNvSpPr txBox="true"/>
          <p:nvPr/>
        </p:nvSpPr>
        <p:spPr>
          <a:xfrm rot="0">
            <a:off x="5406628" y="5816203"/>
            <a:ext cx="3336874" cy="1658938"/>
          </a:xfrm>
          <a:prstGeom prst="rect">
            <a:avLst/>
          </a:prstGeom>
        </p:spPr>
        <p:txBody>
          <a:bodyPr anchor="t" rtlCol="false" tIns="0" lIns="0" bIns="0" rIns="0">
            <a:spAutoFit/>
          </a:bodyPr>
          <a:lstStyle/>
          <a:p>
            <a:pPr algn="ctr">
              <a:lnSpc>
                <a:spcPts val="2687"/>
              </a:lnSpc>
            </a:pPr>
            <a:r>
              <a:rPr lang="en-US" sz="1937">
                <a:solidFill>
                  <a:srgbClr val="303030"/>
                </a:solidFill>
                <a:latin typeface="Inter"/>
                <a:ea typeface="Inter"/>
                <a:cs typeface="Inter"/>
                <a:sym typeface="Inter"/>
              </a:rPr>
              <a:t>Chuyển đổi </a:t>
            </a:r>
            <a:r>
              <a:rPr lang="en-US" sz="1937" b="true">
                <a:solidFill>
                  <a:srgbClr val="303030"/>
                </a:solidFill>
                <a:latin typeface="Inter Bold"/>
                <a:ea typeface="Inter Bold"/>
                <a:cs typeface="Inter Bold"/>
                <a:sym typeface="Inter Bold"/>
              </a:rPr>
              <a:t>biểu cảm khuôn mặt</a:t>
            </a:r>
            <a:r>
              <a:rPr lang="en-US" sz="1937">
                <a:solidFill>
                  <a:srgbClr val="303030"/>
                </a:solidFill>
                <a:latin typeface="Inter"/>
                <a:ea typeface="Inter"/>
                <a:cs typeface="Inter"/>
                <a:sym typeface="Inter"/>
              </a:rPr>
              <a:t> từ người nguồn sang người đích theo thời gian thực, giữ nguyên danh tính người đích.</a:t>
            </a:r>
          </a:p>
        </p:txBody>
      </p:sp>
      <p:grpSp>
        <p:nvGrpSpPr>
          <p:cNvPr name="Group 29" id="29"/>
          <p:cNvGrpSpPr/>
          <p:nvPr/>
        </p:nvGrpSpPr>
        <p:grpSpPr>
          <a:xfrm rot="0">
            <a:off x="9267977" y="4713237"/>
            <a:ext cx="3889924" cy="3500885"/>
            <a:chOff x="0" y="0"/>
            <a:chExt cx="5186566" cy="4667847"/>
          </a:xfrm>
        </p:grpSpPr>
        <p:sp>
          <p:nvSpPr>
            <p:cNvPr name="Freeform 30" id="30"/>
            <p:cNvSpPr/>
            <p:nvPr/>
          </p:nvSpPr>
          <p:spPr>
            <a:xfrm flipH="false" flipV="false" rot="0">
              <a:off x="0" y="0"/>
              <a:ext cx="5186553" cy="4667885"/>
            </a:xfrm>
            <a:custGeom>
              <a:avLst/>
              <a:gdLst/>
              <a:ahLst/>
              <a:cxnLst/>
              <a:rect r="r" b="b" t="t" l="l"/>
              <a:pathLst>
                <a:path h="4667885" w="5186553">
                  <a:moveTo>
                    <a:pt x="0" y="182880"/>
                  </a:moveTo>
                  <a:cubicBezTo>
                    <a:pt x="0" y="81915"/>
                    <a:pt x="81915" y="0"/>
                    <a:pt x="182880" y="0"/>
                  </a:cubicBezTo>
                  <a:lnTo>
                    <a:pt x="5003673" y="0"/>
                  </a:lnTo>
                  <a:cubicBezTo>
                    <a:pt x="5104638" y="0"/>
                    <a:pt x="5186553" y="81915"/>
                    <a:pt x="5186553" y="182880"/>
                  </a:cubicBezTo>
                  <a:lnTo>
                    <a:pt x="5186553" y="4485005"/>
                  </a:lnTo>
                  <a:cubicBezTo>
                    <a:pt x="5186553" y="4585970"/>
                    <a:pt x="5104638" y="4667885"/>
                    <a:pt x="5003673" y="4667885"/>
                  </a:cubicBezTo>
                  <a:lnTo>
                    <a:pt x="182880" y="4667885"/>
                  </a:lnTo>
                  <a:cubicBezTo>
                    <a:pt x="81915" y="4667885"/>
                    <a:pt x="0" y="4585970"/>
                    <a:pt x="0" y="4485005"/>
                  </a:cubicBezTo>
                  <a:close/>
                </a:path>
              </a:pathLst>
            </a:custGeom>
            <a:solidFill>
              <a:srgbClr val="F5F5F5"/>
            </a:solidFill>
          </p:spPr>
        </p:sp>
      </p:grpSp>
      <p:grpSp>
        <p:nvGrpSpPr>
          <p:cNvPr name="Group 31" id="31"/>
          <p:cNvGrpSpPr/>
          <p:nvPr/>
        </p:nvGrpSpPr>
        <p:grpSpPr>
          <a:xfrm rot="0">
            <a:off x="9267977" y="4684662"/>
            <a:ext cx="3889924" cy="114300"/>
            <a:chOff x="0" y="0"/>
            <a:chExt cx="5186566" cy="152400"/>
          </a:xfrm>
        </p:grpSpPr>
        <p:sp>
          <p:nvSpPr>
            <p:cNvPr name="Freeform 32" id="32"/>
            <p:cNvSpPr/>
            <p:nvPr/>
          </p:nvSpPr>
          <p:spPr>
            <a:xfrm flipH="false" flipV="false" rot="0">
              <a:off x="0" y="0"/>
              <a:ext cx="5186553" cy="152400"/>
            </a:xfrm>
            <a:custGeom>
              <a:avLst/>
              <a:gdLst/>
              <a:ahLst/>
              <a:cxnLst/>
              <a:rect r="r" b="b" t="t" l="l"/>
              <a:pathLst>
                <a:path h="152400" w="5186553">
                  <a:moveTo>
                    <a:pt x="0" y="76200"/>
                  </a:moveTo>
                  <a:cubicBezTo>
                    <a:pt x="0" y="34163"/>
                    <a:pt x="34163" y="0"/>
                    <a:pt x="76200" y="0"/>
                  </a:cubicBezTo>
                  <a:lnTo>
                    <a:pt x="5110353" y="0"/>
                  </a:lnTo>
                  <a:cubicBezTo>
                    <a:pt x="5152390" y="0"/>
                    <a:pt x="5186553" y="34163"/>
                    <a:pt x="5186553" y="76200"/>
                  </a:cubicBezTo>
                  <a:cubicBezTo>
                    <a:pt x="5186553" y="118237"/>
                    <a:pt x="5152390" y="152400"/>
                    <a:pt x="5110353" y="152400"/>
                  </a:cubicBezTo>
                  <a:lnTo>
                    <a:pt x="76200" y="152400"/>
                  </a:lnTo>
                  <a:cubicBezTo>
                    <a:pt x="34163" y="152400"/>
                    <a:pt x="0" y="118237"/>
                    <a:pt x="0" y="76200"/>
                  </a:cubicBezTo>
                  <a:close/>
                </a:path>
              </a:pathLst>
            </a:custGeom>
            <a:solidFill>
              <a:srgbClr val="948BE2"/>
            </a:solidFill>
          </p:spPr>
        </p:sp>
      </p:grpSp>
      <p:grpSp>
        <p:nvGrpSpPr>
          <p:cNvPr name="Group 33" id="33"/>
          <p:cNvGrpSpPr/>
          <p:nvPr/>
        </p:nvGrpSpPr>
        <p:grpSpPr>
          <a:xfrm rot="0">
            <a:off x="10840793" y="4341171"/>
            <a:ext cx="744141" cy="744141"/>
            <a:chOff x="0" y="0"/>
            <a:chExt cx="992188" cy="992188"/>
          </a:xfrm>
        </p:grpSpPr>
        <p:sp>
          <p:nvSpPr>
            <p:cNvPr name="Freeform 34" id="34"/>
            <p:cNvSpPr/>
            <p:nvPr/>
          </p:nvSpPr>
          <p:spPr>
            <a:xfrm flipH="false" flipV="false" rot="0">
              <a:off x="0" y="0"/>
              <a:ext cx="992251" cy="992251"/>
            </a:xfrm>
            <a:custGeom>
              <a:avLst/>
              <a:gdLst/>
              <a:ahLst/>
              <a:cxnLst/>
              <a:rect r="r" b="b" t="t" l="l"/>
              <a:pathLst>
                <a:path h="992251" w="992251">
                  <a:moveTo>
                    <a:pt x="0" y="496062"/>
                  </a:moveTo>
                  <a:cubicBezTo>
                    <a:pt x="0" y="222123"/>
                    <a:pt x="222123" y="0"/>
                    <a:pt x="496062" y="0"/>
                  </a:cubicBezTo>
                  <a:cubicBezTo>
                    <a:pt x="770001" y="0"/>
                    <a:pt x="992251" y="222123"/>
                    <a:pt x="992251" y="496062"/>
                  </a:cubicBezTo>
                  <a:cubicBezTo>
                    <a:pt x="992251" y="770001"/>
                    <a:pt x="770128" y="992251"/>
                    <a:pt x="496062" y="992251"/>
                  </a:cubicBezTo>
                  <a:cubicBezTo>
                    <a:pt x="221996" y="992251"/>
                    <a:pt x="0" y="770128"/>
                    <a:pt x="0" y="496062"/>
                  </a:cubicBezTo>
                  <a:close/>
                </a:path>
              </a:pathLst>
            </a:custGeom>
            <a:solidFill>
              <a:srgbClr val="948BE2"/>
            </a:solidFill>
          </p:spPr>
        </p:sp>
      </p:grpSp>
      <p:sp>
        <p:nvSpPr>
          <p:cNvPr name="Freeform 35" id="35" descr="preencoded.png"/>
          <p:cNvSpPr/>
          <p:nvPr/>
        </p:nvSpPr>
        <p:spPr>
          <a:xfrm flipH="false" flipV="false" rot="0">
            <a:off x="11064030" y="4564409"/>
            <a:ext cx="297656" cy="297656"/>
          </a:xfrm>
          <a:custGeom>
            <a:avLst/>
            <a:gdLst/>
            <a:ahLst/>
            <a:cxnLst/>
            <a:rect r="r" b="b" t="t" l="l"/>
            <a:pathLst>
              <a:path h="297656" w="297656">
                <a:moveTo>
                  <a:pt x="0" y="0"/>
                </a:moveTo>
                <a:lnTo>
                  <a:pt x="297657" y="0"/>
                </a:lnTo>
                <a:lnTo>
                  <a:pt x="297657" y="297656"/>
                </a:lnTo>
                <a:lnTo>
                  <a:pt x="0" y="297656"/>
                </a:lnTo>
                <a:lnTo>
                  <a:pt x="0" y="0"/>
                </a:lnTo>
                <a:close/>
              </a:path>
            </a:pathLst>
          </a:custGeom>
          <a:blipFill>
            <a:blip r:embed="rId6">
              <a:extLst>
                <a:ext uri="{96DAC541-7B7A-43D3-8B79-37D633B846F1}">
                  <asvg:svgBlip xmlns:asvg="http://schemas.microsoft.com/office/drawing/2016/SVG/main" r:embed="rId7"/>
                </a:ext>
              </a:extLst>
            </a:blip>
            <a:stretch>
              <a:fillRect l="-9376" t="0" r="-9372" b="0"/>
            </a:stretch>
          </a:blipFill>
        </p:spPr>
      </p:sp>
      <p:sp>
        <p:nvSpPr>
          <p:cNvPr name="TextBox 36" id="36"/>
          <p:cNvSpPr txBox="true"/>
          <p:nvPr/>
        </p:nvSpPr>
        <p:spPr>
          <a:xfrm rot="0">
            <a:off x="10435457" y="5333409"/>
            <a:ext cx="1554956" cy="368300"/>
          </a:xfrm>
          <a:prstGeom prst="rect">
            <a:avLst/>
          </a:prstGeom>
        </p:spPr>
        <p:txBody>
          <a:bodyPr anchor="t" rtlCol="false" tIns="0" lIns="0" bIns="0" rIns="0">
            <a:spAutoFit/>
          </a:bodyPr>
          <a:lstStyle/>
          <a:p>
            <a:pPr algn="ctr">
              <a:lnSpc>
                <a:spcPts val="2875"/>
              </a:lnSpc>
            </a:pPr>
            <a:r>
              <a:rPr lang="en-US" sz="2437" b="true">
                <a:solidFill>
                  <a:srgbClr val="303030"/>
                </a:solidFill>
                <a:latin typeface="Inter Bold"/>
                <a:ea typeface="Inter Bold"/>
                <a:cs typeface="Inter Bold"/>
                <a:sym typeface="Inter Bold"/>
              </a:rPr>
              <a:t>FaceSwap</a:t>
            </a:r>
          </a:p>
        </p:txBody>
      </p:sp>
      <p:sp>
        <p:nvSpPr>
          <p:cNvPr name="TextBox 37" id="37"/>
          <p:cNvSpPr txBox="true"/>
          <p:nvPr/>
        </p:nvSpPr>
        <p:spPr>
          <a:xfrm rot="0">
            <a:off x="9544498" y="5816203"/>
            <a:ext cx="3336874" cy="1658938"/>
          </a:xfrm>
          <a:prstGeom prst="rect">
            <a:avLst/>
          </a:prstGeom>
        </p:spPr>
        <p:txBody>
          <a:bodyPr anchor="t" rtlCol="false" tIns="0" lIns="0" bIns="0" rIns="0">
            <a:spAutoFit/>
          </a:bodyPr>
          <a:lstStyle/>
          <a:p>
            <a:pPr algn="ctr">
              <a:lnSpc>
                <a:spcPts val="2687"/>
              </a:lnSpc>
            </a:pPr>
            <a:r>
              <a:rPr lang="en-US" sz="1937">
                <a:solidFill>
                  <a:srgbClr val="303030"/>
                </a:solidFill>
                <a:latin typeface="Inter"/>
                <a:ea typeface="Inter"/>
                <a:cs typeface="Inter"/>
                <a:sym typeface="Inter"/>
              </a:rPr>
              <a:t>Dùng mô hình 3D để tái tạo và ghép </a:t>
            </a:r>
            <a:r>
              <a:rPr lang="en-US" sz="1937" b="true">
                <a:solidFill>
                  <a:srgbClr val="303030"/>
                </a:solidFill>
                <a:latin typeface="Inter Bold"/>
                <a:ea typeface="Inter Bold"/>
                <a:cs typeface="Inter Bold"/>
                <a:sym typeface="Inter Bold"/>
              </a:rPr>
              <a:t>toàn bộ khuôn mặt</a:t>
            </a:r>
            <a:r>
              <a:rPr lang="en-US" sz="1937">
                <a:solidFill>
                  <a:srgbClr val="303030"/>
                </a:solidFill>
                <a:latin typeface="Inter"/>
                <a:ea typeface="Inter"/>
                <a:cs typeface="Inter"/>
                <a:sym typeface="Inter"/>
              </a:rPr>
              <a:t> người nguồn lên video người đích với ánh sáng, góc độ khớp hơn.</a:t>
            </a:r>
          </a:p>
        </p:txBody>
      </p:sp>
      <p:grpSp>
        <p:nvGrpSpPr>
          <p:cNvPr name="Group 38" id="38"/>
          <p:cNvGrpSpPr/>
          <p:nvPr/>
        </p:nvGrpSpPr>
        <p:grpSpPr>
          <a:xfrm rot="0">
            <a:off x="13405847" y="4713237"/>
            <a:ext cx="3889924" cy="3500885"/>
            <a:chOff x="0" y="0"/>
            <a:chExt cx="5186566" cy="4667847"/>
          </a:xfrm>
        </p:grpSpPr>
        <p:sp>
          <p:nvSpPr>
            <p:cNvPr name="Freeform 39" id="39"/>
            <p:cNvSpPr/>
            <p:nvPr/>
          </p:nvSpPr>
          <p:spPr>
            <a:xfrm flipH="false" flipV="false" rot="0">
              <a:off x="0" y="0"/>
              <a:ext cx="5186553" cy="4667885"/>
            </a:xfrm>
            <a:custGeom>
              <a:avLst/>
              <a:gdLst/>
              <a:ahLst/>
              <a:cxnLst/>
              <a:rect r="r" b="b" t="t" l="l"/>
              <a:pathLst>
                <a:path h="4667885" w="5186553">
                  <a:moveTo>
                    <a:pt x="0" y="182880"/>
                  </a:moveTo>
                  <a:cubicBezTo>
                    <a:pt x="0" y="81915"/>
                    <a:pt x="81915" y="0"/>
                    <a:pt x="182880" y="0"/>
                  </a:cubicBezTo>
                  <a:lnTo>
                    <a:pt x="5003673" y="0"/>
                  </a:lnTo>
                  <a:cubicBezTo>
                    <a:pt x="5104638" y="0"/>
                    <a:pt x="5186553" y="81915"/>
                    <a:pt x="5186553" y="182880"/>
                  </a:cubicBezTo>
                  <a:lnTo>
                    <a:pt x="5186553" y="4485005"/>
                  </a:lnTo>
                  <a:cubicBezTo>
                    <a:pt x="5186553" y="4585970"/>
                    <a:pt x="5104638" y="4667885"/>
                    <a:pt x="5003673" y="4667885"/>
                  </a:cubicBezTo>
                  <a:lnTo>
                    <a:pt x="182880" y="4667885"/>
                  </a:lnTo>
                  <a:cubicBezTo>
                    <a:pt x="81915" y="4667885"/>
                    <a:pt x="0" y="4585970"/>
                    <a:pt x="0" y="4485005"/>
                  </a:cubicBezTo>
                  <a:close/>
                </a:path>
              </a:pathLst>
            </a:custGeom>
            <a:solidFill>
              <a:srgbClr val="F5F5F5"/>
            </a:solidFill>
          </p:spPr>
        </p:sp>
      </p:grpSp>
      <p:grpSp>
        <p:nvGrpSpPr>
          <p:cNvPr name="Group 40" id="40"/>
          <p:cNvGrpSpPr/>
          <p:nvPr/>
        </p:nvGrpSpPr>
        <p:grpSpPr>
          <a:xfrm rot="0">
            <a:off x="13405847" y="4684662"/>
            <a:ext cx="3889924" cy="114300"/>
            <a:chOff x="0" y="0"/>
            <a:chExt cx="5186566" cy="152400"/>
          </a:xfrm>
        </p:grpSpPr>
        <p:sp>
          <p:nvSpPr>
            <p:cNvPr name="Freeform 41" id="41"/>
            <p:cNvSpPr/>
            <p:nvPr/>
          </p:nvSpPr>
          <p:spPr>
            <a:xfrm flipH="false" flipV="false" rot="0">
              <a:off x="0" y="0"/>
              <a:ext cx="5186553" cy="152400"/>
            </a:xfrm>
            <a:custGeom>
              <a:avLst/>
              <a:gdLst/>
              <a:ahLst/>
              <a:cxnLst/>
              <a:rect r="r" b="b" t="t" l="l"/>
              <a:pathLst>
                <a:path h="152400" w="5186553">
                  <a:moveTo>
                    <a:pt x="0" y="76200"/>
                  </a:moveTo>
                  <a:cubicBezTo>
                    <a:pt x="0" y="34163"/>
                    <a:pt x="34163" y="0"/>
                    <a:pt x="76200" y="0"/>
                  </a:cubicBezTo>
                  <a:lnTo>
                    <a:pt x="5110353" y="0"/>
                  </a:lnTo>
                  <a:cubicBezTo>
                    <a:pt x="5152390" y="0"/>
                    <a:pt x="5186553" y="34163"/>
                    <a:pt x="5186553" y="76200"/>
                  </a:cubicBezTo>
                  <a:cubicBezTo>
                    <a:pt x="5186553" y="118237"/>
                    <a:pt x="5152390" y="152400"/>
                    <a:pt x="5110353" y="152400"/>
                  </a:cubicBezTo>
                  <a:lnTo>
                    <a:pt x="76200" y="152400"/>
                  </a:lnTo>
                  <a:cubicBezTo>
                    <a:pt x="34163" y="152400"/>
                    <a:pt x="0" y="118237"/>
                    <a:pt x="0" y="76200"/>
                  </a:cubicBezTo>
                  <a:close/>
                </a:path>
              </a:pathLst>
            </a:custGeom>
            <a:solidFill>
              <a:srgbClr val="F1F1F1"/>
            </a:solidFill>
          </p:spPr>
        </p:sp>
      </p:grpSp>
      <p:grpSp>
        <p:nvGrpSpPr>
          <p:cNvPr name="Group 42" id="42"/>
          <p:cNvGrpSpPr/>
          <p:nvPr/>
        </p:nvGrpSpPr>
        <p:grpSpPr>
          <a:xfrm rot="0">
            <a:off x="14978653" y="4341171"/>
            <a:ext cx="744141" cy="744141"/>
            <a:chOff x="0" y="0"/>
            <a:chExt cx="992188" cy="992188"/>
          </a:xfrm>
        </p:grpSpPr>
        <p:sp>
          <p:nvSpPr>
            <p:cNvPr name="Freeform 43" id="43"/>
            <p:cNvSpPr/>
            <p:nvPr/>
          </p:nvSpPr>
          <p:spPr>
            <a:xfrm flipH="false" flipV="false" rot="0">
              <a:off x="0" y="0"/>
              <a:ext cx="992251" cy="992251"/>
            </a:xfrm>
            <a:custGeom>
              <a:avLst/>
              <a:gdLst/>
              <a:ahLst/>
              <a:cxnLst/>
              <a:rect r="r" b="b" t="t" l="l"/>
              <a:pathLst>
                <a:path h="992251" w="992251">
                  <a:moveTo>
                    <a:pt x="0" y="496062"/>
                  </a:moveTo>
                  <a:cubicBezTo>
                    <a:pt x="0" y="222123"/>
                    <a:pt x="222123" y="0"/>
                    <a:pt x="496062" y="0"/>
                  </a:cubicBezTo>
                  <a:cubicBezTo>
                    <a:pt x="770001" y="0"/>
                    <a:pt x="992251" y="222123"/>
                    <a:pt x="992251" y="496062"/>
                  </a:cubicBezTo>
                  <a:cubicBezTo>
                    <a:pt x="992251" y="770001"/>
                    <a:pt x="770128" y="992251"/>
                    <a:pt x="496062" y="992251"/>
                  </a:cubicBezTo>
                  <a:cubicBezTo>
                    <a:pt x="221996" y="992251"/>
                    <a:pt x="0" y="770128"/>
                    <a:pt x="0" y="496062"/>
                  </a:cubicBezTo>
                  <a:close/>
                </a:path>
              </a:pathLst>
            </a:custGeom>
            <a:solidFill>
              <a:srgbClr val="F1F1F1"/>
            </a:solidFill>
          </p:spPr>
        </p:sp>
      </p:grpSp>
      <p:sp>
        <p:nvSpPr>
          <p:cNvPr name="Freeform 44" id="44" descr="preencoded.png"/>
          <p:cNvSpPr/>
          <p:nvPr/>
        </p:nvSpPr>
        <p:spPr>
          <a:xfrm flipH="false" flipV="false" rot="0">
            <a:off x="15201900" y="4564409"/>
            <a:ext cx="297656" cy="297656"/>
          </a:xfrm>
          <a:custGeom>
            <a:avLst/>
            <a:gdLst/>
            <a:ahLst/>
            <a:cxnLst/>
            <a:rect r="r" b="b" t="t" l="l"/>
            <a:pathLst>
              <a:path h="297656" w="297656">
                <a:moveTo>
                  <a:pt x="0" y="0"/>
                </a:moveTo>
                <a:lnTo>
                  <a:pt x="297656" y="0"/>
                </a:lnTo>
                <a:lnTo>
                  <a:pt x="297656" y="297656"/>
                </a:lnTo>
                <a:lnTo>
                  <a:pt x="0" y="29765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45" id="45"/>
          <p:cNvSpPr txBox="true"/>
          <p:nvPr/>
        </p:nvSpPr>
        <p:spPr>
          <a:xfrm rot="0">
            <a:off x="14184647" y="5333409"/>
            <a:ext cx="2332315" cy="368300"/>
          </a:xfrm>
          <a:prstGeom prst="rect">
            <a:avLst/>
          </a:prstGeom>
        </p:spPr>
        <p:txBody>
          <a:bodyPr anchor="t" rtlCol="false" tIns="0" lIns="0" bIns="0" rIns="0">
            <a:spAutoFit/>
          </a:bodyPr>
          <a:lstStyle/>
          <a:p>
            <a:pPr algn="ctr">
              <a:lnSpc>
                <a:spcPts val="2875"/>
              </a:lnSpc>
            </a:pPr>
            <a:r>
              <a:rPr lang="en-US" sz="2437" b="true">
                <a:solidFill>
                  <a:srgbClr val="303030"/>
                </a:solidFill>
                <a:latin typeface="Inter Bold"/>
                <a:ea typeface="Inter Bold"/>
                <a:cs typeface="Inter Bold"/>
                <a:sym typeface="Inter Bold"/>
              </a:rPr>
              <a:t>NeuralTextures</a:t>
            </a:r>
          </a:p>
        </p:txBody>
      </p:sp>
      <p:sp>
        <p:nvSpPr>
          <p:cNvPr name="TextBox 46" id="46"/>
          <p:cNvSpPr txBox="true"/>
          <p:nvPr/>
        </p:nvSpPr>
        <p:spPr>
          <a:xfrm rot="0">
            <a:off x="13682367" y="5816203"/>
            <a:ext cx="3336874" cy="1658938"/>
          </a:xfrm>
          <a:prstGeom prst="rect">
            <a:avLst/>
          </a:prstGeom>
        </p:spPr>
        <p:txBody>
          <a:bodyPr anchor="t" rtlCol="false" tIns="0" lIns="0" bIns="0" rIns="0">
            <a:spAutoFit/>
          </a:bodyPr>
          <a:lstStyle/>
          <a:p>
            <a:pPr algn="ctr">
              <a:lnSpc>
                <a:spcPts val="2687"/>
              </a:lnSpc>
            </a:pPr>
            <a:r>
              <a:rPr lang="en-US" sz="1937">
                <a:solidFill>
                  <a:srgbClr val="303030"/>
                </a:solidFill>
                <a:latin typeface="Inter"/>
                <a:ea typeface="Inter"/>
                <a:cs typeface="Inter"/>
                <a:sym typeface="Inter"/>
              </a:rPr>
              <a:t>Học các </a:t>
            </a:r>
            <a:r>
              <a:rPr lang="en-US" sz="1937" b="true">
                <a:solidFill>
                  <a:srgbClr val="303030"/>
                </a:solidFill>
                <a:latin typeface="Inter Bold"/>
                <a:ea typeface="Inter Bold"/>
                <a:cs typeface="Inter Bold"/>
                <a:sym typeface="Inter Bold"/>
              </a:rPr>
              <a:t>neural texture</a:t>
            </a:r>
            <a:r>
              <a:rPr lang="en-US" sz="1937">
                <a:solidFill>
                  <a:srgbClr val="303030"/>
                </a:solidFill>
                <a:latin typeface="Inter"/>
                <a:ea typeface="Inter"/>
                <a:cs typeface="Inter"/>
                <a:sym typeface="Inter"/>
              </a:rPr>
              <a:t> từ video gốc để tổng hợp lại vùng miệng và mắt, thao túng biểu cảm cục bộ cực kỳ tinh vi.</a:t>
            </a:r>
          </a:p>
        </p:txBody>
      </p:sp>
      <p:grpSp>
        <p:nvGrpSpPr>
          <p:cNvPr name="Group 47" id="47"/>
          <p:cNvGrpSpPr/>
          <p:nvPr/>
        </p:nvGrpSpPr>
        <p:grpSpPr>
          <a:xfrm rot="0">
            <a:off x="15989351" y="0"/>
            <a:ext cx="2212924" cy="2212924"/>
            <a:chOff x="0" y="0"/>
            <a:chExt cx="812800" cy="812800"/>
          </a:xfrm>
        </p:grpSpPr>
        <p:sp>
          <p:nvSpPr>
            <p:cNvPr name="Freeform 48" id="4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0"/>
              <a:stretch>
                <a:fillRect l="0" t="0" r="0" b="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377C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5F5F5"/>
            </a:solidFill>
          </p:spPr>
        </p:sp>
      </p:grpSp>
      <p:grpSp>
        <p:nvGrpSpPr>
          <p:cNvPr name="Group 6" id="6"/>
          <p:cNvGrpSpPr/>
          <p:nvPr/>
        </p:nvGrpSpPr>
        <p:grpSpPr>
          <a:xfrm rot="0">
            <a:off x="992238" y="682228"/>
            <a:ext cx="2770880" cy="426691"/>
            <a:chOff x="0" y="0"/>
            <a:chExt cx="3694506" cy="568922"/>
          </a:xfrm>
        </p:grpSpPr>
        <p:sp>
          <p:nvSpPr>
            <p:cNvPr name="Freeform 7" id="7"/>
            <p:cNvSpPr/>
            <p:nvPr/>
          </p:nvSpPr>
          <p:spPr>
            <a:xfrm flipH="false" flipV="false" rot="0">
              <a:off x="0" y="0"/>
              <a:ext cx="3694430" cy="568833"/>
            </a:xfrm>
            <a:custGeom>
              <a:avLst/>
              <a:gdLst/>
              <a:ahLst/>
              <a:cxnLst/>
              <a:rect r="r" b="b" t="t" l="l"/>
              <a:pathLst>
                <a:path h="568833" w="3694430">
                  <a:moveTo>
                    <a:pt x="0" y="238125"/>
                  </a:moveTo>
                  <a:cubicBezTo>
                    <a:pt x="0" y="106680"/>
                    <a:pt x="106680" y="0"/>
                    <a:pt x="238125" y="0"/>
                  </a:cubicBezTo>
                  <a:lnTo>
                    <a:pt x="3456305" y="0"/>
                  </a:lnTo>
                  <a:cubicBezTo>
                    <a:pt x="3587877" y="0"/>
                    <a:pt x="3694430" y="106680"/>
                    <a:pt x="3694430" y="238125"/>
                  </a:cubicBezTo>
                  <a:lnTo>
                    <a:pt x="3694430" y="330708"/>
                  </a:lnTo>
                  <a:cubicBezTo>
                    <a:pt x="3694430" y="462280"/>
                    <a:pt x="3587750" y="568833"/>
                    <a:pt x="3456305" y="568833"/>
                  </a:cubicBezTo>
                  <a:lnTo>
                    <a:pt x="238125" y="568833"/>
                  </a:lnTo>
                  <a:cubicBezTo>
                    <a:pt x="106680" y="568960"/>
                    <a:pt x="0" y="462280"/>
                    <a:pt x="0" y="330708"/>
                  </a:cubicBezTo>
                  <a:close/>
                </a:path>
              </a:pathLst>
            </a:custGeom>
            <a:solidFill>
              <a:srgbClr val="5678F0"/>
            </a:solidFill>
          </p:spPr>
        </p:sp>
      </p:grpSp>
      <p:sp>
        <p:nvSpPr>
          <p:cNvPr name="TextBox 8" id="8"/>
          <p:cNvSpPr txBox="true"/>
          <p:nvPr/>
        </p:nvSpPr>
        <p:spPr>
          <a:xfrm rot="0">
            <a:off x="1141066" y="728072"/>
            <a:ext cx="2473223" cy="265113"/>
          </a:xfrm>
          <a:prstGeom prst="rect">
            <a:avLst/>
          </a:prstGeom>
        </p:spPr>
        <p:txBody>
          <a:bodyPr anchor="t" rtlCol="false" tIns="0" lIns="0" bIns="0" rIns="0">
            <a:spAutoFit/>
          </a:bodyPr>
          <a:lstStyle/>
          <a:p>
            <a:pPr algn="l">
              <a:lnSpc>
                <a:spcPts val="2187"/>
              </a:lnSpc>
            </a:pPr>
            <a:r>
              <a:rPr lang="en-US" sz="1562">
                <a:solidFill>
                  <a:srgbClr val="FFFFFF"/>
                </a:solidFill>
                <a:latin typeface="Inter"/>
                <a:ea typeface="Inter"/>
                <a:cs typeface="Inter"/>
                <a:sym typeface="Inter"/>
              </a:rPr>
              <a:t>KHÁM PHÁ DỮ LIỆU (EDA)</a:t>
            </a:r>
          </a:p>
        </p:txBody>
      </p:sp>
      <p:sp>
        <p:nvSpPr>
          <p:cNvPr name="TextBox 9" id="9"/>
          <p:cNvSpPr txBox="true"/>
          <p:nvPr/>
        </p:nvSpPr>
        <p:spPr>
          <a:xfrm rot="0">
            <a:off x="992238" y="1208037"/>
            <a:ext cx="12017335" cy="738188"/>
          </a:xfrm>
          <a:prstGeom prst="rect">
            <a:avLst/>
          </a:prstGeom>
        </p:spPr>
        <p:txBody>
          <a:bodyPr anchor="t" rtlCol="false" tIns="0" lIns="0" bIns="0" rIns="0">
            <a:spAutoFit/>
          </a:bodyPr>
          <a:lstStyle/>
          <a:p>
            <a:pPr algn="l">
              <a:lnSpc>
                <a:spcPts val="5812"/>
              </a:lnSpc>
            </a:pPr>
            <a:r>
              <a:rPr lang="en-US" sz="4875" b="true">
                <a:solidFill>
                  <a:srgbClr val="5678F0"/>
                </a:solidFill>
                <a:latin typeface="Inter Bold"/>
                <a:ea typeface="Inter Bold"/>
                <a:cs typeface="Inter Bold"/>
                <a:sym typeface="Inter Bold"/>
              </a:rPr>
              <a:t>Phân Tích Tập Dữ Liệu FaceForensics++</a:t>
            </a:r>
          </a:p>
        </p:txBody>
      </p:sp>
      <p:sp>
        <p:nvSpPr>
          <p:cNvPr name="TextBox 10" id="10"/>
          <p:cNvSpPr txBox="true"/>
          <p:nvPr/>
        </p:nvSpPr>
        <p:spPr>
          <a:xfrm rot="0">
            <a:off x="992238" y="2286152"/>
            <a:ext cx="16303523"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Tập dữ liệu có sự </a:t>
            </a:r>
            <a:r>
              <a:rPr lang="en-US" sz="1937" b="true">
                <a:solidFill>
                  <a:srgbClr val="303030"/>
                </a:solidFill>
                <a:latin typeface="Inter Bold"/>
                <a:ea typeface="Inter Bold"/>
                <a:cs typeface="Inter Bold"/>
                <a:sym typeface="Inter Bold"/>
              </a:rPr>
              <a:t>mất cân bằng nghiêm trọng</a:t>
            </a:r>
            <a:r>
              <a:rPr lang="en-US" sz="1937">
                <a:solidFill>
                  <a:srgbClr val="303030"/>
                </a:solidFill>
                <a:latin typeface="Inter"/>
                <a:ea typeface="Inter"/>
                <a:cs typeface="Inter"/>
                <a:sym typeface="Inter"/>
              </a:rPr>
              <a:t> giữa nhãn REAL và FAKE. Dữ liệu nén mức </a:t>
            </a:r>
            <a:r>
              <a:rPr lang="en-US" sz="1937" b="true">
                <a:solidFill>
                  <a:srgbClr val="303030"/>
                </a:solidFill>
                <a:latin typeface="Inter Bold"/>
                <a:ea typeface="Inter Bold"/>
                <a:cs typeface="Inter Bold"/>
                <a:sym typeface="Inter Bold"/>
              </a:rPr>
              <a:t>c23</a:t>
            </a:r>
            <a:r>
              <a:rPr lang="en-US" sz="1937">
                <a:solidFill>
                  <a:srgbClr val="303030"/>
                </a:solidFill>
                <a:latin typeface="Inter"/>
                <a:ea typeface="Inter"/>
                <a:cs typeface="Inter"/>
                <a:sym typeface="Inter"/>
              </a:rPr>
              <a:t> được chọn để sát với thực tế trên mạng xã hội.</a:t>
            </a:r>
          </a:p>
        </p:txBody>
      </p:sp>
      <p:grpSp>
        <p:nvGrpSpPr>
          <p:cNvPr name="Group 11" id="11"/>
          <p:cNvGrpSpPr/>
          <p:nvPr/>
        </p:nvGrpSpPr>
        <p:grpSpPr>
          <a:xfrm rot="0">
            <a:off x="992238" y="3229566"/>
            <a:ext cx="7003704" cy="3635873"/>
            <a:chOff x="0" y="0"/>
            <a:chExt cx="9338272" cy="4847831"/>
          </a:xfrm>
        </p:grpSpPr>
        <p:sp>
          <p:nvSpPr>
            <p:cNvPr name="Freeform 12" id="12" descr="preencoded.png"/>
            <p:cNvSpPr/>
            <p:nvPr/>
          </p:nvSpPr>
          <p:spPr>
            <a:xfrm flipH="false" flipV="false" rot="0">
              <a:off x="0" y="0"/>
              <a:ext cx="9338310" cy="4847844"/>
            </a:xfrm>
            <a:custGeom>
              <a:avLst/>
              <a:gdLst/>
              <a:ahLst/>
              <a:cxnLst/>
              <a:rect r="r" b="b" t="t" l="l"/>
              <a:pathLst>
                <a:path h="4847844" w="9338310">
                  <a:moveTo>
                    <a:pt x="0" y="0"/>
                  </a:moveTo>
                  <a:lnTo>
                    <a:pt x="9338310" y="0"/>
                  </a:lnTo>
                  <a:lnTo>
                    <a:pt x="9338310" y="4847844"/>
                  </a:lnTo>
                  <a:lnTo>
                    <a:pt x="0" y="4847844"/>
                  </a:lnTo>
                  <a:lnTo>
                    <a:pt x="0" y="0"/>
                  </a:lnTo>
                  <a:close/>
                </a:path>
              </a:pathLst>
            </a:custGeom>
            <a:blipFill>
              <a:blip r:embed="rId2"/>
              <a:stretch>
                <a:fillRect l="0" t="-57" r="0" b="-56"/>
              </a:stretch>
            </a:blipFill>
          </p:spPr>
        </p:sp>
      </p:grpSp>
      <p:grpSp>
        <p:nvGrpSpPr>
          <p:cNvPr name="Group 13" id="13"/>
          <p:cNvGrpSpPr/>
          <p:nvPr/>
        </p:nvGrpSpPr>
        <p:grpSpPr>
          <a:xfrm rot="0">
            <a:off x="3429591" y="6903539"/>
            <a:ext cx="247945" cy="247945"/>
            <a:chOff x="0" y="0"/>
            <a:chExt cx="330594" cy="330594"/>
          </a:xfrm>
        </p:grpSpPr>
        <p:sp>
          <p:nvSpPr>
            <p:cNvPr name="Freeform 14" id="14"/>
            <p:cNvSpPr/>
            <p:nvPr/>
          </p:nvSpPr>
          <p:spPr>
            <a:xfrm flipH="false" flipV="false" rot="0">
              <a:off x="0" y="0"/>
              <a:ext cx="330581" cy="330581"/>
            </a:xfrm>
            <a:custGeom>
              <a:avLst/>
              <a:gdLst/>
              <a:ahLst/>
              <a:cxnLst/>
              <a:rect r="r" b="b" t="t" l="l"/>
              <a:pathLst>
                <a:path h="330581" w="330581">
                  <a:moveTo>
                    <a:pt x="0" y="30480"/>
                  </a:moveTo>
                  <a:cubicBezTo>
                    <a:pt x="0" y="13589"/>
                    <a:pt x="13589" y="0"/>
                    <a:pt x="30480" y="0"/>
                  </a:cubicBezTo>
                  <a:lnTo>
                    <a:pt x="300101" y="0"/>
                  </a:lnTo>
                  <a:cubicBezTo>
                    <a:pt x="316992" y="0"/>
                    <a:pt x="330581" y="13589"/>
                    <a:pt x="330581" y="30480"/>
                  </a:cubicBezTo>
                  <a:lnTo>
                    <a:pt x="330581" y="300101"/>
                  </a:lnTo>
                  <a:cubicBezTo>
                    <a:pt x="330581" y="316992"/>
                    <a:pt x="316992" y="330581"/>
                    <a:pt x="300101" y="330581"/>
                  </a:cubicBezTo>
                  <a:lnTo>
                    <a:pt x="30480" y="330581"/>
                  </a:lnTo>
                  <a:cubicBezTo>
                    <a:pt x="13589" y="330581"/>
                    <a:pt x="0" y="316992"/>
                    <a:pt x="0" y="300101"/>
                  </a:cubicBezTo>
                  <a:close/>
                </a:path>
              </a:pathLst>
            </a:custGeom>
            <a:solidFill>
              <a:srgbClr val="0B2D41"/>
            </a:solidFill>
          </p:spPr>
        </p:sp>
      </p:grpSp>
      <p:sp>
        <p:nvSpPr>
          <p:cNvPr name="TextBox 15" id="15"/>
          <p:cNvSpPr txBox="true"/>
          <p:nvPr/>
        </p:nvSpPr>
        <p:spPr>
          <a:xfrm rot="0">
            <a:off x="3753745" y="6932114"/>
            <a:ext cx="609600" cy="258763"/>
          </a:xfrm>
          <a:prstGeom prst="rect">
            <a:avLst/>
          </a:prstGeom>
        </p:spPr>
        <p:txBody>
          <a:bodyPr anchor="t" rtlCol="false" tIns="0" lIns="0" bIns="0" rIns="0">
            <a:spAutoFit/>
          </a:bodyPr>
          <a:lstStyle/>
          <a:p>
            <a:pPr algn="l">
              <a:lnSpc>
                <a:spcPts val="1937"/>
              </a:lnSpc>
            </a:pPr>
            <a:r>
              <a:rPr lang="en-US" sz="1937">
                <a:solidFill>
                  <a:srgbClr val="303030"/>
                </a:solidFill>
                <a:latin typeface="Inter"/>
                <a:ea typeface="Inter"/>
                <a:cs typeface="Inter"/>
                <a:sym typeface="Inter"/>
              </a:rPr>
              <a:t>REAL</a:t>
            </a:r>
          </a:p>
        </p:txBody>
      </p:sp>
      <p:grpSp>
        <p:nvGrpSpPr>
          <p:cNvPr name="Group 16" id="16"/>
          <p:cNvGrpSpPr/>
          <p:nvPr/>
        </p:nvGrpSpPr>
        <p:grpSpPr>
          <a:xfrm rot="0">
            <a:off x="4589259" y="6903539"/>
            <a:ext cx="247945" cy="247945"/>
            <a:chOff x="0" y="0"/>
            <a:chExt cx="330594" cy="330594"/>
          </a:xfrm>
        </p:grpSpPr>
        <p:sp>
          <p:nvSpPr>
            <p:cNvPr name="Freeform 17" id="17"/>
            <p:cNvSpPr/>
            <p:nvPr/>
          </p:nvSpPr>
          <p:spPr>
            <a:xfrm flipH="false" flipV="false" rot="0">
              <a:off x="0" y="0"/>
              <a:ext cx="330581" cy="330581"/>
            </a:xfrm>
            <a:custGeom>
              <a:avLst/>
              <a:gdLst/>
              <a:ahLst/>
              <a:cxnLst/>
              <a:rect r="r" b="b" t="t" l="l"/>
              <a:pathLst>
                <a:path h="330581" w="330581">
                  <a:moveTo>
                    <a:pt x="0" y="30480"/>
                  </a:moveTo>
                  <a:cubicBezTo>
                    <a:pt x="0" y="13589"/>
                    <a:pt x="13589" y="0"/>
                    <a:pt x="30480" y="0"/>
                  </a:cubicBezTo>
                  <a:lnTo>
                    <a:pt x="300101" y="0"/>
                  </a:lnTo>
                  <a:cubicBezTo>
                    <a:pt x="316992" y="0"/>
                    <a:pt x="330581" y="13589"/>
                    <a:pt x="330581" y="30480"/>
                  </a:cubicBezTo>
                  <a:lnTo>
                    <a:pt x="330581" y="300101"/>
                  </a:lnTo>
                  <a:cubicBezTo>
                    <a:pt x="330581" y="316992"/>
                    <a:pt x="316992" y="330581"/>
                    <a:pt x="300101" y="330581"/>
                  </a:cubicBezTo>
                  <a:lnTo>
                    <a:pt x="30480" y="330581"/>
                  </a:lnTo>
                  <a:cubicBezTo>
                    <a:pt x="13589" y="330581"/>
                    <a:pt x="0" y="316992"/>
                    <a:pt x="0" y="300101"/>
                  </a:cubicBezTo>
                  <a:close/>
                </a:path>
              </a:pathLst>
            </a:custGeom>
            <a:solidFill>
              <a:srgbClr val="2493D6"/>
            </a:solidFill>
          </p:spPr>
        </p:sp>
      </p:grpSp>
      <p:sp>
        <p:nvSpPr>
          <p:cNvPr name="TextBox 18" id="18"/>
          <p:cNvSpPr txBox="true"/>
          <p:nvPr/>
        </p:nvSpPr>
        <p:spPr>
          <a:xfrm rot="0">
            <a:off x="4913414" y="6932114"/>
            <a:ext cx="621030" cy="258763"/>
          </a:xfrm>
          <a:prstGeom prst="rect">
            <a:avLst/>
          </a:prstGeom>
        </p:spPr>
        <p:txBody>
          <a:bodyPr anchor="t" rtlCol="false" tIns="0" lIns="0" bIns="0" rIns="0">
            <a:spAutoFit/>
          </a:bodyPr>
          <a:lstStyle/>
          <a:p>
            <a:pPr algn="l">
              <a:lnSpc>
                <a:spcPts val="1937"/>
              </a:lnSpc>
            </a:pPr>
            <a:r>
              <a:rPr lang="en-US" sz="1937">
                <a:solidFill>
                  <a:srgbClr val="303030"/>
                </a:solidFill>
                <a:latin typeface="Inter"/>
                <a:ea typeface="Inter"/>
                <a:cs typeface="Inter"/>
                <a:sym typeface="Inter"/>
              </a:rPr>
              <a:t>FAKE</a:t>
            </a:r>
          </a:p>
        </p:txBody>
      </p:sp>
      <p:grpSp>
        <p:nvGrpSpPr>
          <p:cNvPr name="Group 19" id="19"/>
          <p:cNvGrpSpPr/>
          <p:nvPr/>
        </p:nvGrpSpPr>
        <p:grpSpPr>
          <a:xfrm rot="0">
            <a:off x="8596312" y="3215278"/>
            <a:ext cx="8723109" cy="1896066"/>
            <a:chOff x="0" y="0"/>
            <a:chExt cx="11630812" cy="2528087"/>
          </a:xfrm>
        </p:grpSpPr>
        <p:sp>
          <p:nvSpPr>
            <p:cNvPr name="Freeform 20" id="20"/>
            <p:cNvSpPr/>
            <p:nvPr/>
          </p:nvSpPr>
          <p:spPr>
            <a:xfrm flipH="false" flipV="false" rot="0">
              <a:off x="19050" y="19050"/>
              <a:ext cx="11592687" cy="2489962"/>
            </a:xfrm>
            <a:custGeom>
              <a:avLst/>
              <a:gdLst/>
              <a:ahLst/>
              <a:cxnLst/>
              <a:rect r="r" b="b" t="t" l="l"/>
              <a:pathLst>
                <a:path h="2489962" w="11592687">
                  <a:moveTo>
                    <a:pt x="0" y="182880"/>
                  </a:moveTo>
                  <a:cubicBezTo>
                    <a:pt x="0" y="81915"/>
                    <a:pt x="82804" y="0"/>
                    <a:pt x="185039" y="0"/>
                  </a:cubicBezTo>
                  <a:lnTo>
                    <a:pt x="11407648" y="0"/>
                  </a:lnTo>
                  <a:cubicBezTo>
                    <a:pt x="11509883" y="0"/>
                    <a:pt x="11592687" y="81915"/>
                    <a:pt x="11592687" y="182880"/>
                  </a:cubicBezTo>
                  <a:lnTo>
                    <a:pt x="11592687" y="2307082"/>
                  </a:lnTo>
                  <a:cubicBezTo>
                    <a:pt x="11592687" y="2408047"/>
                    <a:pt x="11509883" y="2489962"/>
                    <a:pt x="11407648" y="2489962"/>
                  </a:cubicBezTo>
                  <a:lnTo>
                    <a:pt x="185039" y="2489962"/>
                  </a:lnTo>
                  <a:cubicBezTo>
                    <a:pt x="82804" y="2489962"/>
                    <a:pt x="0" y="2408047"/>
                    <a:pt x="0" y="2307082"/>
                  </a:cubicBezTo>
                  <a:close/>
                </a:path>
              </a:pathLst>
            </a:custGeom>
            <a:solidFill>
              <a:srgbClr val="F5F5F5"/>
            </a:solidFill>
          </p:spPr>
        </p:sp>
        <p:sp>
          <p:nvSpPr>
            <p:cNvPr name="Freeform 21" id="21"/>
            <p:cNvSpPr/>
            <p:nvPr/>
          </p:nvSpPr>
          <p:spPr>
            <a:xfrm flipH="false" flipV="false" rot="0">
              <a:off x="0" y="0"/>
              <a:ext cx="11630787" cy="2528062"/>
            </a:xfrm>
            <a:custGeom>
              <a:avLst/>
              <a:gdLst/>
              <a:ahLst/>
              <a:cxnLst/>
              <a:rect r="r" b="b" t="t" l="l"/>
              <a:pathLst>
                <a:path h="2528062" w="11630787">
                  <a:moveTo>
                    <a:pt x="0" y="201930"/>
                  </a:moveTo>
                  <a:cubicBezTo>
                    <a:pt x="0" y="90170"/>
                    <a:pt x="91567" y="0"/>
                    <a:pt x="204089" y="0"/>
                  </a:cubicBezTo>
                  <a:lnTo>
                    <a:pt x="11426698" y="0"/>
                  </a:lnTo>
                  <a:lnTo>
                    <a:pt x="11426698" y="19050"/>
                  </a:lnTo>
                  <a:lnTo>
                    <a:pt x="11426698" y="0"/>
                  </a:lnTo>
                  <a:cubicBezTo>
                    <a:pt x="11539220" y="0"/>
                    <a:pt x="11630787" y="90170"/>
                    <a:pt x="11630787" y="201930"/>
                  </a:cubicBezTo>
                  <a:lnTo>
                    <a:pt x="11611737" y="201930"/>
                  </a:lnTo>
                  <a:lnTo>
                    <a:pt x="11630787" y="201930"/>
                  </a:lnTo>
                  <a:lnTo>
                    <a:pt x="11630787" y="2326132"/>
                  </a:lnTo>
                  <a:lnTo>
                    <a:pt x="11611737" y="2326132"/>
                  </a:lnTo>
                  <a:lnTo>
                    <a:pt x="11630787" y="2326132"/>
                  </a:lnTo>
                  <a:cubicBezTo>
                    <a:pt x="11630787" y="2437892"/>
                    <a:pt x="11539220" y="2528062"/>
                    <a:pt x="11426698" y="2528062"/>
                  </a:cubicBezTo>
                  <a:lnTo>
                    <a:pt x="11426698" y="2509012"/>
                  </a:lnTo>
                  <a:lnTo>
                    <a:pt x="11426698" y="2528062"/>
                  </a:lnTo>
                  <a:lnTo>
                    <a:pt x="204089" y="2528062"/>
                  </a:lnTo>
                  <a:lnTo>
                    <a:pt x="204089" y="2509012"/>
                  </a:lnTo>
                  <a:lnTo>
                    <a:pt x="204089" y="2528062"/>
                  </a:lnTo>
                  <a:cubicBezTo>
                    <a:pt x="91567" y="2528062"/>
                    <a:pt x="0" y="2437892"/>
                    <a:pt x="0" y="2326132"/>
                  </a:cubicBezTo>
                  <a:lnTo>
                    <a:pt x="0" y="201930"/>
                  </a:lnTo>
                  <a:lnTo>
                    <a:pt x="19050" y="201930"/>
                  </a:lnTo>
                  <a:lnTo>
                    <a:pt x="0" y="201930"/>
                  </a:lnTo>
                  <a:moveTo>
                    <a:pt x="38100" y="201930"/>
                  </a:moveTo>
                  <a:lnTo>
                    <a:pt x="38100" y="2326132"/>
                  </a:lnTo>
                  <a:lnTo>
                    <a:pt x="19050" y="2326132"/>
                  </a:lnTo>
                  <a:lnTo>
                    <a:pt x="38100" y="2326132"/>
                  </a:lnTo>
                  <a:cubicBezTo>
                    <a:pt x="38100" y="2416429"/>
                    <a:pt x="112268" y="2489962"/>
                    <a:pt x="204089" y="2489962"/>
                  </a:cubicBezTo>
                  <a:lnTo>
                    <a:pt x="11426698" y="2489962"/>
                  </a:lnTo>
                  <a:cubicBezTo>
                    <a:pt x="11518646" y="2489962"/>
                    <a:pt x="11592687" y="2416429"/>
                    <a:pt x="11592687" y="2326132"/>
                  </a:cubicBezTo>
                  <a:lnTo>
                    <a:pt x="11592687" y="201930"/>
                  </a:lnTo>
                  <a:cubicBezTo>
                    <a:pt x="11592687" y="111633"/>
                    <a:pt x="11518519" y="38100"/>
                    <a:pt x="11426698" y="38100"/>
                  </a:cubicBezTo>
                  <a:lnTo>
                    <a:pt x="204089" y="38100"/>
                  </a:lnTo>
                  <a:lnTo>
                    <a:pt x="204089" y="19050"/>
                  </a:lnTo>
                  <a:lnTo>
                    <a:pt x="204089" y="38100"/>
                  </a:lnTo>
                  <a:cubicBezTo>
                    <a:pt x="112268" y="38100"/>
                    <a:pt x="38100" y="111633"/>
                    <a:pt x="38100" y="201930"/>
                  </a:cubicBezTo>
                  <a:close/>
                </a:path>
              </a:pathLst>
            </a:custGeom>
            <a:solidFill>
              <a:srgbClr val="5678F0"/>
            </a:solidFill>
          </p:spPr>
        </p:sp>
      </p:grpSp>
      <p:grpSp>
        <p:nvGrpSpPr>
          <p:cNvPr name="Group 22" id="22"/>
          <p:cNvGrpSpPr/>
          <p:nvPr/>
        </p:nvGrpSpPr>
        <p:grpSpPr>
          <a:xfrm rot="0">
            <a:off x="8582025" y="3229566"/>
            <a:ext cx="114300" cy="1867491"/>
            <a:chOff x="0" y="0"/>
            <a:chExt cx="152400" cy="2489987"/>
          </a:xfrm>
        </p:grpSpPr>
        <p:sp>
          <p:nvSpPr>
            <p:cNvPr name="Freeform 23" id="23"/>
            <p:cNvSpPr/>
            <p:nvPr/>
          </p:nvSpPr>
          <p:spPr>
            <a:xfrm flipH="false" flipV="false" rot="0">
              <a:off x="0" y="0"/>
              <a:ext cx="152400" cy="2489962"/>
            </a:xfrm>
            <a:custGeom>
              <a:avLst/>
              <a:gdLst/>
              <a:ahLst/>
              <a:cxnLst/>
              <a:rect r="r" b="b" t="t" l="l"/>
              <a:pathLst>
                <a:path h="2489962" w="152400">
                  <a:moveTo>
                    <a:pt x="0" y="76200"/>
                  </a:moveTo>
                  <a:cubicBezTo>
                    <a:pt x="0" y="34163"/>
                    <a:pt x="34163" y="0"/>
                    <a:pt x="76200" y="0"/>
                  </a:cubicBezTo>
                  <a:cubicBezTo>
                    <a:pt x="118237" y="0"/>
                    <a:pt x="152400" y="34163"/>
                    <a:pt x="152400" y="76200"/>
                  </a:cubicBezTo>
                  <a:lnTo>
                    <a:pt x="152400" y="2413762"/>
                  </a:lnTo>
                  <a:cubicBezTo>
                    <a:pt x="152400" y="2455799"/>
                    <a:pt x="118237" y="2489962"/>
                    <a:pt x="76200" y="2489962"/>
                  </a:cubicBezTo>
                  <a:cubicBezTo>
                    <a:pt x="34163" y="2489962"/>
                    <a:pt x="0" y="2455799"/>
                    <a:pt x="0" y="2413762"/>
                  </a:cubicBezTo>
                  <a:close/>
                </a:path>
              </a:pathLst>
            </a:custGeom>
            <a:solidFill>
              <a:srgbClr val="5678F0"/>
            </a:solidFill>
          </p:spPr>
        </p:sp>
      </p:grpSp>
      <p:sp>
        <p:nvSpPr>
          <p:cNvPr name="TextBox 24" id="24"/>
          <p:cNvSpPr txBox="true"/>
          <p:nvPr/>
        </p:nvSpPr>
        <p:spPr>
          <a:xfrm rot="0">
            <a:off x="8972845" y="3506095"/>
            <a:ext cx="4237077" cy="368300"/>
          </a:xfrm>
          <a:prstGeom prst="rect">
            <a:avLst/>
          </a:prstGeom>
        </p:spPr>
        <p:txBody>
          <a:bodyPr anchor="t" rtlCol="false" tIns="0" lIns="0" bIns="0" rIns="0">
            <a:spAutoFit/>
          </a:bodyPr>
          <a:lstStyle/>
          <a:p>
            <a:pPr algn="l">
              <a:lnSpc>
                <a:spcPts val="2875"/>
              </a:lnSpc>
            </a:pPr>
            <a:r>
              <a:rPr lang="en-US" sz="2437" b="true">
                <a:solidFill>
                  <a:srgbClr val="303030"/>
                </a:solidFill>
                <a:latin typeface="Inter Bold"/>
                <a:ea typeface="Inter Bold"/>
                <a:cs typeface="Inter Bold"/>
                <a:sym typeface="Inter Bold"/>
              </a:rPr>
              <a:t>Tỷ lệ 20% REAL / 80% FAKE</a:t>
            </a:r>
          </a:p>
        </p:txBody>
      </p:sp>
      <p:sp>
        <p:nvSpPr>
          <p:cNvPr name="TextBox 25" id="25"/>
          <p:cNvSpPr txBox="true"/>
          <p:nvPr/>
        </p:nvSpPr>
        <p:spPr>
          <a:xfrm rot="0">
            <a:off x="8972845" y="4088016"/>
            <a:ext cx="8055769" cy="658812"/>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1.000 video thật và 4.000 video giả tạo sự chênh lệch lớn, khiến mô hình dễ bị thiên lệch về dự đoán FAKE.</a:t>
            </a:r>
          </a:p>
        </p:txBody>
      </p:sp>
      <p:grpSp>
        <p:nvGrpSpPr>
          <p:cNvPr name="Group 26" id="26"/>
          <p:cNvGrpSpPr/>
          <p:nvPr/>
        </p:nvGrpSpPr>
        <p:grpSpPr>
          <a:xfrm rot="0">
            <a:off x="8596312" y="5330723"/>
            <a:ext cx="8723109" cy="1896066"/>
            <a:chOff x="0" y="0"/>
            <a:chExt cx="11630812" cy="2528087"/>
          </a:xfrm>
        </p:grpSpPr>
        <p:sp>
          <p:nvSpPr>
            <p:cNvPr name="Freeform 27" id="27"/>
            <p:cNvSpPr/>
            <p:nvPr/>
          </p:nvSpPr>
          <p:spPr>
            <a:xfrm flipH="false" flipV="false" rot="0">
              <a:off x="19050" y="19050"/>
              <a:ext cx="11592687" cy="2489962"/>
            </a:xfrm>
            <a:custGeom>
              <a:avLst/>
              <a:gdLst/>
              <a:ahLst/>
              <a:cxnLst/>
              <a:rect r="r" b="b" t="t" l="l"/>
              <a:pathLst>
                <a:path h="2489962" w="11592687">
                  <a:moveTo>
                    <a:pt x="0" y="182880"/>
                  </a:moveTo>
                  <a:cubicBezTo>
                    <a:pt x="0" y="81915"/>
                    <a:pt x="82804" y="0"/>
                    <a:pt x="185039" y="0"/>
                  </a:cubicBezTo>
                  <a:lnTo>
                    <a:pt x="11407648" y="0"/>
                  </a:lnTo>
                  <a:cubicBezTo>
                    <a:pt x="11509883" y="0"/>
                    <a:pt x="11592687" y="81915"/>
                    <a:pt x="11592687" y="182880"/>
                  </a:cubicBezTo>
                  <a:lnTo>
                    <a:pt x="11592687" y="2307082"/>
                  </a:lnTo>
                  <a:cubicBezTo>
                    <a:pt x="11592687" y="2408047"/>
                    <a:pt x="11509883" y="2489962"/>
                    <a:pt x="11407648" y="2489962"/>
                  </a:cubicBezTo>
                  <a:lnTo>
                    <a:pt x="185039" y="2489962"/>
                  </a:lnTo>
                  <a:cubicBezTo>
                    <a:pt x="82804" y="2489962"/>
                    <a:pt x="0" y="2408047"/>
                    <a:pt x="0" y="2307082"/>
                  </a:cubicBezTo>
                  <a:close/>
                </a:path>
              </a:pathLst>
            </a:custGeom>
            <a:solidFill>
              <a:srgbClr val="F5F5F5"/>
            </a:solidFill>
          </p:spPr>
        </p:sp>
        <p:sp>
          <p:nvSpPr>
            <p:cNvPr name="Freeform 28" id="28"/>
            <p:cNvSpPr/>
            <p:nvPr/>
          </p:nvSpPr>
          <p:spPr>
            <a:xfrm flipH="false" flipV="false" rot="0">
              <a:off x="0" y="0"/>
              <a:ext cx="11630787" cy="2528062"/>
            </a:xfrm>
            <a:custGeom>
              <a:avLst/>
              <a:gdLst/>
              <a:ahLst/>
              <a:cxnLst/>
              <a:rect r="r" b="b" t="t" l="l"/>
              <a:pathLst>
                <a:path h="2528062" w="11630787">
                  <a:moveTo>
                    <a:pt x="0" y="201930"/>
                  </a:moveTo>
                  <a:cubicBezTo>
                    <a:pt x="0" y="90170"/>
                    <a:pt x="91567" y="0"/>
                    <a:pt x="204089" y="0"/>
                  </a:cubicBezTo>
                  <a:lnTo>
                    <a:pt x="11426698" y="0"/>
                  </a:lnTo>
                  <a:lnTo>
                    <a:pt x="11426698" y="19050"/>
                  </a:lnTo>
                  <a:lnTo>
                    <a:pt x="11426698" y="0"/>
                  </a:lnTo>
                  <a:cubicBezTo>
                    <a:pt x="11539220" y="0"/>
                    <a:pt x="11630787" y="90170"/>
                    <a:pt x="11630787" y="201930"/>
                  </a:cubicBezTo>
                  <a:lnTo>
                    <a:pt x="11611737" y="201930"/>
                  </a:lnTo>
                  <a:lnTo>
                    <a:pt x="11630787" y="201930"/>
                  </a:lnTo>
                  <a:lnTo>
                    <a:pt x="11630787" y="2326132"/>
                  </a:lnTo>
                  <a:lnTo>
                    <a:pt x="11611737" y="2326132"/>
                  </a:lnTo>
                  <a:lnTo>
                    <a:pt x="11630787" y="2326132"/>
                  </a:lnTo>
                  <a:cubicBezTo>
                    <a:pt x="11630787" y="2437892"/>
                    <a:pt x="11539220" y="2528062"/>
                    <a:pt x="11426698" y="2528062"/>
                  </a:cubicBezTo>
                  <a:lnTo>
                    <a:pt x="11426698" y="2509012"/>
                  </a:lnTo>
                  <a:lnTo>
                    <a:pt x="11426698" y="2528062"/>
                  </a:lnTo>
                  <a:lnTo>
                    <a:pt x="204089" y="2528062"/>
                  </a:lnTo>
                  <a:lnTo>
                    <a:pt x="204089" y="2509012"/>
                  </a:lnTo>
                  <a:lnTo>
                    <a:pt x="204089" y="2528062"/>
                  </a:lnTo>
                  <a:cubicBezTo>
                    <a:pt x="91567" y="2528062"/>
                    <a:pt x="0" y="2437892"/>
                    <a:pt x="0" y="2326132"/>
                  </a:cubicBezTo>
                  <a:lnTo>
                    <a:pt x="0" y="201930"/>
                  </a:lnTo>
                  <a:lnTo>
                    <a:pt x="19050" y="201930"/>
                  </a:lnTo>
                  <a:lnTo>
                    <a:pt x="0" y="201930"/>
                  </a:lnTo>
                  <a:moveTo>
                    <a:pt x="38100" y="201930"/>
                  </a:moveTo>
                  <a:lnTo>
                    <a:pt x="38100" y="2326132"/>
                  </a:lnTo>
                  <a:lnTo>
                    <a:pt x="19050" y="2326132"/>
                  </a:lnTo>
                  <a:lnTo>
                    <a:pt x="38100" y="2326132"/>
                  </a:lnTo>
                  <a:cubicBezTo>
                    <a:pt x="38100" y="2416429"/>
                    <a:pt x="112268" y="2489962"/>
                    <a:pt x="204089" y="2489962"/>
                  </a:cubicBezTo>
                  <a:lnTo>
                    <a:pt x="11426698" y="2489962"/>
                  </a:lnTo>
                  <a:cubicBezTo>
                    <a:pt x="11518646" y="2489962"/>
                    <a:pt x="11592687" y="2416429"/>
                    <a:pt x="11592687" y="2326132"/>
                  </a:cubicBezTo>
                  <a:lnTo>
                    <a:pt x="11592687" y="201930"/>
                  </a:lnTo>
                  <a:cubicBezTo>
                    <a:pt x="11592687" y="111633"/>
                    <a:pt x="11518519" y="38100"/>
                    <a:pt x="11426698" y="38100"/>
                  </a:cubicBezTo>
                  <a:lnTo>
                    <a:pt x="204089" y="38100"/>
                  </a:lnTo>
                  <a:lnTo>
                    <a:pt x="204089" y="19050"/>
                  </a:lnTo>
                  <a:lnTo>
                    <a:pt x="204089" y="38100"/>
                  </a:lnTo>
                  <a:cubicBezTo>
                    <a:pt x="112268" y="38100"/>
                    <a:pt x="38100" y="111633"/>
                    <a:pt x="38100" y="201930"/>
                  </a:cubicBezTo>
                  <a:close/>
                </a:path>
              </a:pathLst>
            </a:custGeom>
            <a:solidFill>
              <a:srgbClr val="93CEF1"/>
            </a:solidFill>
          </p:spPr>
        </p:sp>
      </p:grpSp>
      <p:grpSp>
        <p:nvGrpSpPr>
          <p:cNvPr name="Group 29" id="29"/>
          <p:cNvGrpSpPr/>
          <p:nvPr/>
        </p:nvGrpSpPr>
        <p:grpSpPr>
          <a:xfrm rot="0">
            <a:off x="8582025" y="5345011"/>
            <a:ext cx="114300" cy="1867491"/>
            <a:chOff x="0" y="0"/>
            <a:chExt cx="152400" cy="2489987"/>
          </a:xfrm>
        </p:grpSpPr>
        <p:sp>
          <p:nvSpPr>
            <p:cNvPr name="Freeform 30" id="30"/>
            <p:cNvSpPr/>
            <p:nvPr/>
          </p:nvSpPr>
          <p:spPr>
            <a:xfrm flipH="false" flipV="false" rot="0">
              <a:off x="0" y="0"/>
              <a:ext cx="152400" cy="2489962"/>
            </a:xfrm>
            <a:custGeom>
              <a:avLst/>
              <a:gdLst/>
              <a:ahLst/>
              <a:cxnLst/>
              <a:rect r="r" b="b" t="t" l="l"/>
              <a:pathLst>
                <a:path h="2489962" w="152400">
                  <a:moveTo>
                    <a:pt x="0" y="76200"/>
                  </a:moveTo>
                  <a:cubicBezTo>
                    <a:pt x="0" y="34163"/>
                    <a:pt x="34163" y="0"/>
                    <a:pt x="76200" y="0"/>
                  </a:cubicBezTo>
                  <a:cubicBezTo>
                    <a:pt x="118237" y="0"/>
                    <a:pt x="152400" y="34163"/>
                    <a:pt x="152400" y="76200"/>
                  </a:cubicBezTo>
                  <a:lnTo>
                    <a:pt x="152400" y="2413762"/>
                  </a:lnTo>
                  <a:cubicBezTo>
                    <a:pt x="152400" y="2455799"/>
                    <a:pt x="118237" y="2489962"/>
                    <a:pt x="76200" y="2489962"/>
                  </a:cubicBezTo>
                  <a:cubicBezTo>
                    <a:pt x="34163" y="2489962"/>
                    <a:pt x="0" y="2455799"/>
                    <a:pt x="0" y="2413762"/>
                  </a:cubicBezTo>
                  <a:close/>
                </a:path>
              </a:pathLst>
            </a:custGeom>
            <a:solidFill>
              <a:srgbClr val="93CEF1"/>
            </a:solidFill>
          </p:spPr>
        </p:sp>
      </p:grpSp>
      <p:sp>
        <p:nvSpPr>
          <p:cNvPr name="TextBox 31" id="31"/>
          <p:cNvSpPr txBox="true"/>
          <p:nvPr/>
        </p:nvSpPr>
        <p:spPr>
          <a:xfrm rot="0">
            <a:off x="8972845" y="5621541"/>
            <a:ext cx="3621524" cy="368300"/>
          </a:xfrm>
          <a:prstGeom prst="rect">
            <a:avLst/>
          </a:prstGeom>
        </p:spPr>
        <p:txBody>
          <a:bodyPr anchor="t" rtlCol="false" tIns="0" lIns="0" bIns="0" rIns="0">
            <a:spAutoFit/>
          </a:bodyPr>
          <a:lstStyle/>
          <a:p>
            <a:pPr algn="l">
              <a:lnSpc>
                <a:spcPts val="2875"/>
              </a:lnSpc>
            </a:pPr>
            <a:r>
              <a:rPr lang="en-US" sz="2437" b="true">
                <a:solidFill>
                  <a:srgbClr val="303030"/>
                </a:solidFill>
                <a:latin typeface="Inter Bold"/>
                <a:ea typeface="Inter Bold"/>
                <a:cs typeface="Inter Bold"/>
                <a:sym typeface="Inter Bold"/>
              </a:rPr>
              <a:t>Giải pháp Class Weights</a:t>
            </a:r>
          </a:p>
        </p:txBody>
      </p:sp>
      <p:sp>
        <p:nvSpPr>
          <p:cNvPr name="TextBox 32" id="32"/>
          <p:cNvSpPr txBox="true"/>
          <p:nvPr/>
        </p:nvSpPr>
        <p:spPr>
          <a:xfrm rot="0">
            <a:off x="8972845" y="6203452"/>
            <a:ext cx="8055769" cy="658812"/>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Áp dụng </a:t>
            </a:r>
            <a:r>
              <a:rPr lang="en-US" sz="1937" b="true">
                <a:solidFill>
                  <a:srgbClr val="303030"/>
                </a:solidFill>
                <a:latin typeface="Inter Bold"/>
                <a:ea typeface="Inter Bold"/>
                <a:cs typeface="Inter Bold"/>
                <a:sym typeface="Inter Bold"/>
              </a:rPr>
              <a:t>trọng số lớp (Class Weights)</a:t>
            </a:r>
            <a:r>
              <a:rPr lang="en-US" sz="1937">
                <a:solidFill>
                  <a:srgbClr val="303030"/>
                </a:solidFill>
                <a:latin typeface="Inter"/>
                <a:ea typeface="Inter"/>
                <a:cs typeface="Inter"/>
                <a:sym typeface="Inter"/>
              </a:rPr>
              <a:t> và kỹ thuật lấy mẫu bù trừ để mô hình học cân bằng cả hai nhãn.</a:t>
            </a:r>
          </a:p>
        </p:txBody>
      </p:sp>
      <p:grpSp>
        <p:nvGrpSpPr>
          <p:cNvPr name="Group 33" id="33"/>
          <p:cNvGrpSpPr/>
          <p:nvPr/>
        </p:nvGrpSpPr>
        <p:grpSpPr>
          <a:xfrm rot="0">
            <a:off x="8596312" y="7446169"/>
            <a:ext cx="8723109" cy="1896066"/>
            <a:chOff x="0" y="0"/>
            <a:chExt cx="11630812" cy="2528087"/>
          </a:xfrm>
        </p:grpSpPr>
        <p:sp>
          <p:nvSpPr>
            <p:cNvPr name="Freeform 34" id="34"/>
            <p:cNvSpPr/>
            <p:nvPr/>
          </p:nvSpPr>
          <p:spPr>
            <a:xfrm flipH="false" flipV="false" rot="0">
              <a:off x="19050" y="19050"/>
              <a:ext cx="11592687" cy="2489962"/>
            </a:xfrm>
            <a:custGeom>
              <a:avLst/>
              <a:gdLst/>
              <a:ahLst/>
              <a:cxnLst/>
              <a:rect r="r" b="b" t="t" l="l"/>
              <a:pathLst>
                <a:path h="2489962" w="11592687">
                  <a:moveTo>
                    <a:pt x="0" y="182880"/>
                  </a:moveTo>
                  <a:cubicBezTo>
                    <a:pt x="0" y="81915"/>
                    <a:pt x="82804" y="0"/>
                    <a:pt x="185039" y="0"/>
                  </a:cubicBezTo>
                  <a:lnTo>
                    <a:pt x="11407648" y="0"/>
                  </a:lnTo>
                  <a:cubicBezTo>
                    <a:pt x="11509883" y="0"/>
                    <a:pt x="11592687" y="81915"/>
                    <a:pt x="11592687" y="182880"/>
                  </a:cubicBezTo>
                  <a:lnTo>
                    <a:pt x="11592687" y="2307082"/>
                  </a:lnTo>
                  <a:cubicBezTo>
                    <a:pt x="11592687" y="2408047"/>
                    <a:pt x="11509883" y="2489962"/>
                    <a:pt x="11407648" y="2489962"/>
                  </a:cubicBezTo>
                  <a:lnTo>
                    <a:pt x="185039" y="2489962"/>
                  </a:lnTo>
                  <a:cubicBezTo>
                    <a:pt x="82804" y="2489962"/>
                    <a:pt x="0" y="2408047"/>
                    <a:pt x="0" y="2307082"/>
                  </a:cubicBezTo>
                  <a:close/>
                </a:path>
              </a:pathLst>
            </a:custGeom>
            <a:solidFill>
              <a:srgbClr val="F5F5F5"/>
            </a:solidFill>
          </p:spPr>
        </p:sp>
        <p:sp>
          <p:nvSpPr>
            <p:cNvPr name="Freeform 35" id="35"/>
            <p:cNvSpPr/>
            <p:nvPr/>
          </p:nvSpPr>
          <p:spPr>
            <a:xfrm flipH="false" flipV="false" rot="0">
              <a:off x="0" y="0"/>
              <a:ext cx="11630787" cy="2528062"/>
            </a:xfrm>
            <a:custGeom>
              <a:avLst/>
              <a:gdLst/>
              <a:ahLst/>
              <a:cxnLst/>
              <a:rect r="r" b="b" t="t" l="l"/>
              <a:pathLst>
                <a:path h="2528062" w="11630787">
                  <a:moveTo>
                    <a:pt x="0" y="201930"/>
                  </a:moveTo>
                  <a:cubicBezTo>
                    <a:pt x="0" y="90170"/>
                    <a:pt x="91567" y="0"/>
                    <a:pt x="204089" y="0"/>
                  </a:cubicBezTo>
                  <a:lnTo>
                    <a:pt x="11426698" y="0"/>
                  </a:lnTo>
                  <a:lnTo>
                    <a:pt x="11426698" y="19050"/>
                  </a:lnTo>
                  <a:lnTo>
                    <a:pt x="11426698" y="0"/>
                  </a:lnTo>
                  <a:cubicBezTo>
                    <a:pt x="11539220" y="0"/>
                    <a:pt x="11630787" y="90170"/>
                    <a:pt x="11630787" y="201930"/>
                  </a:cubicBezTo>
                  <a:lnTo>
                    <a:pt x="11611737" y="201930"/>
                  </a:lnTo>
                  <a:lnTo>
                    <a:pt x="11630787" y="201930"/>
                  </a:lnTo>
                  <a:lnTo>
                    <a:pt x="11630787" y="2326132"/>
                  </a:lnTo>
                  <a:lnTo>
                    <a:pt x="11611737" y="2326132"/>
                  </a:lnTo>
                  <a:lnTo>
                    <a:pt x="11630787" y="2326132"/>
                  </a:lnTo>
                  <a:cubicBezTo>
                    <a:pt x="11630787" y="2437892"/>
                    <a:pt x="11539220" y="2528062"/>
                    <a:pt x="11426698" y="2528062"/>
                  </a:cubicBezTo>
                  <a:lnTo>
                    <a:pt x="11426698" y="2509012"/>
                  </a:lnTo>
                  <a:lnTo>
                    <a:pt x="11426698" y="2528062"/>
                  </a:lnTo>
                  <a:lnTo>
                    <a:pt x="204089" y="2528062"/>
                  </a:lnTo>
                  <a:lnTo>
                    <a:pt x="204089" y="2509012"/>
                  </a:lnTo>
                  <a:lnTo>
                    <a:pt x="204089" y="2528062"/>
                  </a:lnTo>
                  <a:cubicBezTo>
                    <a:pt x="91567" y="2528062"/>
                    <a:pt x="0" y="2437892"/>
                    <a:pt x="0" y="2326132"/>
                  </a:cubicBezTo>
                  <a:lnTo>
                    <a:pt x="0" y="201930"/>
                  </a:lnTo>
                  <a:lnTo>
                    <a:pt x="19050" y="201930"/>
                  </a:lnTo>
                  <a:lnTo>
                    <a:pt x="0" y="201930"/>
                  </a:lnTo>
                  <a:moveTo>
                    <a:pt x="38100" y="201930"/>
                  </a:moveTo>
                  <a:lnTo>
                    <a:pt x="38100" y="2326132"/>
                  </a:lnTo>
                  <a:lnTo>
                    <a:pt x="19050" y="2326132"/>
                  </a:lnTo>
                  <a:lnTo>
                    <a:pt x="38100" y="2326132"/>
                  </a:lnTo>
                  <a:cubicBezTo>
                    <a:pt x="38100" y="2416429"/>
                    <a:pt x="112268" y="2489962"/>
                    <a:pt x="204089" y="2489962"/>
                  </a:cubicBezTo>
                  <a:lnTo>
                    <a:pt x="11426698" y="2489962"/>
                  </a:lnTo>
                  <a:cubicBezTo>
                    <a:pt x="11518646" y="2489962"/>
                    <a:pt x="11592687" y="2416429"/>
                    <a:pt x="11592687" y="2326132"/>
                  </a:cubicBezTo>
                  <a:lnTo>
                    <a:pt x="11592687" y="201930"/>
                  </a:lnTo>
                  <a:cubicBezTo>
                    <a:pt x="11592687" y="111633"/>
                    <a:pt x="11518519" y="38100"/>
                    <a:pt x="11426698" y="38100"/>
                  </a:cubicBezTo>
                  <a:lnTo>
                    <a:pt x="204089" y="38100"/>
                  </a:lnTo>
                  <a:lnTo>
                    <a:pt x="204089" y="19050"/>
                  </a:lnTo>
                  <a:lnTo>
                    <a:pt x="204089" y="38100"/>
                  </a:lnTo>
                  <a:cubicBezTo>
                    <a:pt x="112268" y="38100"/>
                    <a:pt x="38100" y="111633"/>
                    <a:pt x="38100" y="201930"/>
                  </a:cubicBezTo>
                  <a:close/>
                </a:path>
              </a:pathLst>
            </a:custGeom>
            <a:solidFill>
              <a:srgbClr val="948BE2"/>
            </a:solidFill>
          </p:spPr>
        </p:sp>
      </p:grpSp>
      <p:grpSp>
        <p:nvGrpSpPr>
          <p:cNvPr name="Group 36" id="36"/>
          <p:cNvGrpSpPr/>
          <p:nvPr/>
        </p:nvGrpSpPr>
        <p:grpSpPr>
          <a:xfrm rot="0">
            <a:off x="8582025" y="7460456"/>
            <a:ext cx="114300" cy="1867491"/>
            <a:chOff x="0" y="0"/>
            <a:chExt cx="152400" cy="2489987"/>
          </a:xfrm>
        </p:grpSpPr>
        <p:sp>
          <p:nvSpPr>
            <p:cNvPr name="Freeform 37" id="37"/>
            <p:cNvSpPr/>
            <p:nvPr/>
          </p:nvSpPr>
          <p:spPr>
            <a:xfrm flipH="false" flipV="false" rot="0">
              <a:off x="0" y="0"/>
              <a:ext cx="152400" cy="2489962"/>
            </a:xfrm>
            <a:custGeom>
              <a:avLst/>
              <a:gdLst/>
              <a:ahLst/>
              <a:cxnLst/>
              <a:rect r="r" b="b" t="t" l="l"/>
              <a:pathLst>
                <a:path h="2489962" w="152400">
                  <a:moveTo>
                    <a:pt x="0" y="76200"/>
                  </a:moveTo>
                  <a:cubicBezTo>
                    <a:pt x="0" y="34163"/>
                    <a:pt x="34163" y="0"/>
                    <a:pt x="76200" y="0"/>
                  </a:cubicBezTo>
                  <a:cubicBezTo>
                    <a:pt x="118237" y="0"/>
                    <a:pt x="152400" y="34163"/>
                    <a:pt x="152400" y="76200"/>
                  </a:cubicBezTo>
                  <a:lnTo>
                    <a:pt x="152400" y="2413762"/>
                  </a:lnTo>
                  <a:cubicBezTo>
                    <a:pt x="152400" y="2455799"/>
                    <a:pt x="118237" y="2489962"/>
                    <a:pt x="76200" y="2489962"/>
                  </a:cubicBezTo>
                  <a:cubicBezTo>
                    <a:pt x="34163" y="2489962"/>
                    <a:pt x="0" y="2455799"/>
                    <a:pt x="0" y="2413762"/>
                  </a:cubicBezTo>
                  <a:close/>
                </a:path>
              </a:pathLst>
            </a:custGeom>
            <a:solidFill>
              <a:srgbClr val="948BE2"/>
            </a:solidFill>
          </p:spPr>
        </p:sp>
      </p:grpSp>
      <p:sp>
        <p:nvSpPr>
          <p:cNvPr name="TextBox 38" id="38"/>
          <p:cNvSpPr txBox="true"/>
          <p:nvPr/>
        </p:nvSpPr>
        <p:spPr>
          <a:xfrm rot="0">
            <a:off x="8972845" y="7736977"/>
            <a:ext cx="2807375" cy="368300"/>
          </a:xfrm>
          <a:prstGeom prst="rect">
            <a:avLst/>
          </a:prstGeom>
        </p:spPr>
        <p:txBody>
          <a:bodyPr anchor="t" rtlCol="false" tIns="0" lIns="0" bIns="0" rIns="0">
            <a:spAutoFit/>
          </a:bodyPr>
          <a:lstStyle/>
          <a:p>
            <a:pPr algn="l">
              <a:lnSpc>
                <a:spcPts val="2875"/>
              </a:lnSpc>
            </a:pPr>
            <a:r>
              <a:rPr lang="en-US" sz="2437" b="true">
                <a:solidFill>
                  <a:srgbClr val="303030"/>
                </a:solidFill>
                <a:latin typeface="Inter Bold"/>
                <a:ea typeface="Inter Bold"/>
                <a:cs typeface="Inter Bold"/>
                <a:sym typeface="Inter Bold"/>
              </a:rPr>
              <a:t>Chọn mức nén c23</a:t>
            </a:r>
          </a:p>
        </p:txBody>
      </p:sp>
      <p:sp>
        <p:nvSpPr>
          <p:cNvPr name="TextBox 39" id="39"/>
          <p:cNvSpPr txBox="true"/>
          <p:nvPr/>
        </p:nvSpPr>
        <p:spPr>
          <a:xfrm rot="0">
            <a:off x="8972845" y="8318897"/>
            <a:ext cx="8055769" cy="658812"/>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Mức nén </a:t>
            </a:r>
            <a:r>
              <a:rPr lang="en-US" sz="1937" b="true">
                <a:solidFill>
                  <a:srgbClr val="303030"/>
                </a:solidFill>
                <a:latin typeface="Inter Bold"/>
                <a:ea typeface="Inter Bold"/>
                <a:cs typeface="Inter Bold"/>
                <a:sym typeface="Inter Bold"/>
              </a:rPr>
              <a:t>c23</a:t>
            </a:r>
            <a:r>
              <a:rPr lang="en-US" sz="1937">
                <a:solidFill>
                  <a:srgbClr val="303030"/>
                </a:solidFill>
                <a:latin typeface="Inter"/>
                <a:ea typeface="Inter"/>
                <a:cs typeface="Inter"/>
                <a:sym typeface="Inter"/>
              </a:rPr>
              <a:t> mô phỏng chất lượng video sau khi được nén và chia sẻ trên mạng xã hội, giúp mô hình tổng quát hóa tốt hơn.</a:t>
            </a:r>
          </a:p>
        </p:txBody>
      </p:sp>
      <p:grpSp>
        <p:nvGrpSpPr>
          <p:cNvPr name="Group 40" id="40"/>
          <p:cNvGrpSpPr/>
          <p:nvPr/>
        </p:nvGrpSpPr>
        <p:grpSpPr>
          <a:xfrm rot="0">
            <a:off x="15989351" y="0"/>
            <a:ext cx="2212924" cy="2212924"/>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0" r="0" b="0"/>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377C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5F5F5"/>
            </a:solidFill>
          </p:spPr>
        </p:sp>
      </p:grpSp>
      <p:grpSp>
        <p:nvGrpSpPr>
          <p:cNvPr name="Group 6" id="6"/>
          <p:cNvGrpSpPr/>
          <p:nvPr/>
        </p:nvGrpSpPr>
        <p:grpSpPr>
          <a:xfrm rot="0">
            <a:off x="992238" y="830761"/>
            <a:ext cx="1572968" cy="398707"/>
            <a:chOff x="0" y="0"/>
            <a:chExt cx="2097291" cy="531609"/>
          </a:xfrm>
        </p:grpSpPr>
        <p:sp>
          <p:nvSpPr>
            <p:cNvPr name="Freeform 7" id="7"/>
            <p:cNvSpPr/>
            <p:nvPr/>
          </p:nvSpPr>
          <p:spPr>
            <a:xfrm flipH="false" flipV="false" rot="0">
              <a:off x="0" y="0"/>
              <a:ext cx="2097278" cy="531749"/>
            </a:xfrm>
            <a:custGeom>
              <a:avLst/>
              <a:gdLst/>
              <a:ahLst/>
              <a:cxnLst/>
              <a:rect r="r" b="b" t="t" l="l"/>
              <a:pathLst>
                <a:path h="531749" w="2097278">
                  <a:moveTo>
                    <a:pt x="0" y="226314"/>
                  </a:moveTo>
                  <a:cubicBezTo>
                    <a:pt x="0" y="101346"/>
                    <a:pt x="101346" y="0"/>
                    <a:pt x="226314" y="0"/>
                  </a:cubicBezTo>
                  <a:lnTo>
                    <a:pt x="1870964" y="0"/>
                  </a:lnTo>
                  <a:cubicBezTo>
                    <a:pt x="1995932" y="0"/>
                    <a:pt x="2097278" y="101346"/>
                    <a:pt x="2097278" y="226314"/>
                  </a:cubicBezTo>
                  <a:lnTo>
                    <a:pt x="2097278" y="305435"/>
                  </a:lnTo>
                  <a:cubicBezTo>
                    <a:pt x="2097278" y="430403"/>
                    <a:pt x="1995932" y="531749"/>
                    <a:pt x="1870964" y="531749"/>
                  </a:cubicBezTo>
                  <a:lnTo>
                    <a:pt x="226314" y="531749"/>
                  </a:lnTo>
                  <a:cubicBezTo>
                    <a:pt x="101346" y="531622"/>
                    <a:pt x="0" y="430276"/>
                    <a:pt x="0" y="305308"/>
                  </a:cubicBezTo>
                  <a:close/>
                </a:path>
              </a:pathLst>
            </a:custGeom>
            <a:solidFill>
              <a:srgbClr val="5678F0"/>
            </a:solidFill>
          </p:spPr>
        </p:sp>
      </p:grpSp>
      <p:sp>
        <p:nvSpPr>
          <p:cNvPr name="TextBox 8" id="8"/>
          <p:cNvSpPr txBox="true"/>
          <p:nvPr/>
        </p:nvSpPr>
        <p:spPr>
          <a:xfrm rot="0">
            <a:off x="1133627" y="872881"/>
            <a:ext cx="1290190" cy="241300"/>
          </a:xfrm>
          <a:prstGeom prst="rect">
            <a:avLst/>
          </a:prstGeom>
        </p:spPr>
        <p:txBody>
          <a:bodyPr anchor="t" rtlCol="false" tIns="0" lIns="0" bIns="0" rIns="0">
            <a:spAutoFit/>
          </a:bodyPr>
          <a:lstStyle/>
          <a:p>
            <a:pPr algn="l">
              <a:lnSpc>
                <a:spcPts val="1999"/>
              </a:lnSpc>
            </a:pPr>
            <a:r>
              <a:rPr lang="en-US" sz="1437">
                <a:solidFill>
                  <a:srgbClr val="FFFFFF"/>
                </a:solidFill>
                <a:latin typeface="Inter"/>
                <a:ea typeface="Inter"/>
                <a:cs typeface="Inter"/>
                <a:sym typeface="Inter"/>
              </a:rPr>
              <a:t>XỬ LÝ DỮ LIỆU</a:t>
            </a:r>
          </a:p>
        </p:txBody>
      </p:sp>
      <p:sp>
        <p:nvSpPr>
          <p:cNvPr name="TextBox 9" id="9"/>
          <p:cNvSpPr txBox="true"/>
          <p:nvPr/>
        </p:nvSpPr>
        <p:spPr>
          <a:xfrm rot="0">
            <a:off x="992238" y="1318917"/>
            <a:ext cx="11840290" cy="703263"/>
          </a:xfrm>
          <a:prstGeom prst="rect">
            <a:avLst/>
          </a:prstGeom>
        </p:spPr>
        <p:txBody>
          <a:bodyPr anchor="t" rtlCol="false" tIns="0" lIns="0" bIns="0" rIns="0">
            <a:spAutoFit/>
          </a:bodyPr>
          <a:lstStyle/>
          <a:p>
            <a:pPr algn="l">
              <a:lnSpc>
                <a:spcPts val="5562"/>
              </a:lnSpc>
            </a:pPr>
            <a:r>
              <a:rPr lang="en-US" sz="4625" b="true">
                <a:solidFill>
                  <a:srgbClr val="5678F0"/>
                </a:solidFill>
                <a:latin typeface="Inter Bold"/>
                <a:ea typeface="Inter Bold"/>
                <a:cs typeface="Inter Bold"/>
                <a:sym typeface="Inter Bold"/>
              </a:rPr>
              <a:t>Pipeline Tiền Xử Lý &amp; Tăng Cường Dữ Liệu</a:t>
            </a:r>
          </a:p>
        </p:txBody>
      </p:sp>
      <p:sp>
        <p:nvSpPr>
          <p:cNvPr name="TextBox 10" id="10"/>
          <p:cNvSpPr txBox="true"/>
          <p:nvPr/>
        </p:nvSpPr>
        <p:spPr>
          <a:xfrm rot="0">
            <a:off x="992238" y="2333034"/>
            <a:ext cx="16303523" cy="301625"/>
          </a:xfrm>
          <a:prstGeom prst="rect">
            <a:avLst/>
          </a:prstGeom>
        </p:spPr>
        <p:txBody>
          <a:bodyPr anchor="t" rtlCol="false" tIns="0" lIns="0" bIns="0" rIns="0">
            <a:spAutoFit/>
          </a:bodyPr>
          <a:lstStyle/>
          <a:p>
            <a:pPr algn="l">
              <a:lnSpc>
                <a:spcPts val="2499"/>
              </a:lnSpc>
            </a:pPr>
            <a:r>
              <a:rPr lang="en-US" sz="1812">
                <a:solidFill>
                  <a:srgbClr val="303030"/>
                </a:solidFill>
                <a:latin typeface="Inter"/>
                <a:ea typeface="Inter"/>
                <a:cs typeface="Inter"/>
                <a:sym typeface="Inter"/>
              </a:rPr>
              <a:t>Chiến lược xử lý dữ liệu được thiết kế để ép mô hình </a:t>
            </a:r>
            <a:r>
              <a:rPr lang="en-US" sz="1812" b="true">
                <a:solidFill>
                  <a:srgbClr val="303030"/>
                </a:solidFill>
                <a:latin typeface="Inter Bold"/>
                <a:ea typeface="Inter Bold"/>
                <a:cs typeface="Inter Bold"/>
                <a:sym typeface="Inter Bold"/>
              </a:rPr>
              <a:t>học khó hơn</a:t>
            </a:r>
            <a:r>
              <a:rPr lang="en-US" sz="1812">
                <a:solidFill>
                  <a:srgbClr val="303030"/>
                </a:solidFill>
                <a:latin typeface="Inter"/>
                <a:ea typeface="Inter"/>
                <a:cs typeface="Inter"/>
                <a:sym typeface="Inter"/>
              </a:rPr>
              <a:t> và tổng quát hóa tốt hơn với dữ liệu thực tế.</a:t>
            </a:r>
          </a:p>
        </p:txBody>
      </p:sp>
      <p:grpSp>
        <p:nvGrpSpPr>
          <p:cNvPr name="Group 11" id="11"/>
          <p:cNvGrpSpPr/>
          <p:nvPr/>
        </p:nvGrpSpPr>
        <p:grpSpPr>
          <a:xfrm rot="0">
            <a:off x="1647825" y="2935186"/>
            <a:ext cx="14992198" cy="5625703"/>
            <a:chOff x="0" y="0"/>
            <a:chExt cx="19989597" cy="7500938"/>
          </a:xfrm>
        </p:grpSpPr>
        <p:sp>
          <p:nvSpPr>
            <p:cNvPr name="Freeform 12" id="12" descr="preencoded.png"/>
            <p:cNvSpPr/>
            <p:nvPr/>
          </p:nvSpPr>
          <p:spPr>
            <a:xfrm flipH="false" flipV="false" rot="0">
              <a:off x="0" y="0"/>
              <a:ext cx="19989546" cy="7501001"/>
            </a:xfrm>
            <a:custGeom>
              <a:avLst/>
              <a:gdLst/>
              <a:ahLst/>
              <a:cxnLst/>
              <a:rect r="r" b="b" t="t" l="l"/>
              <a:pathLst>
                <a:path h="7501001" w="19989546">
                  <a:moveTo>
                    <a:pt x="0" y="0"/>
                  </a:moveTo>
                  <a:lnTo>
                    <a:pt x="19989546" y="0"/>
                  </a:lnTo>
                  <a:lnTo>
                    <a:pt x="19989546" y="7501001"/>
                  </a:lnTo>
                  <a:lnTo>
                    <a:pt x="0" y="7501001"/>
                  </a:lnTo>
                  <a:lnTo>
                    <a:pt x="0" y="0"/>
                  </a:lnTo>
                  <a:close/>
                </a:path>
              </a:pathLst>
            </a:custGeom>
            <a:blipFill>
              <a:blip r:embed="rId2"/>
              <a:stretch>
                <a:fillRect l="0" t="-31" r="0" b="-30"/>
              </a:stretch>
            </a:blipFill>
          </p:spPr>
        </p:sp>
      </p:grpSp>
      <p:sp>
        <p:nvSpPr>
          <p:cNvPr name="Freeform 13" id="13" descr="preencoded.png"/>
          <p:cNvSpPr/>
          <p:nvPr/>
        </p:nvSpPr>
        <p:spPr>
          <a:xfrm flipH="false" flipV="false" rot="0">
            <a:off x="14451273" y="4368155"/>
            <a:ext cx="774402" cy="774402"/>
          </a:xfrm>
          <a:custGeom>
            <a:avLst/>
            <a:gdLst/>
            <a:ahLst/>
            <a:cxnLst/>
            <a:rect r="r" b="b" t="t" l="l"/>
            <a:pathLst>
              <a:path h="774402" w="774402">
                <a:moveTo>
                  <a:pt x="0" y="0"/>
                </a:moveTo>
                <a:lnTo>
                  <a:pt x="774401" y="0"/>
                </a:lnTo>
                <a:lnTo>
                  <a:pt x="774401" y="774402"/>
                </a:lnTo>
                <a:lnTo>
                  <a:pt x="0" y="774402"/>
                </a:lnTo>
                <a:lnTo>
                  <a:pt x="0" y="0"/>
                </a:lnTo>
                <a:close/>
              </a:path>
            </a:pathLst>
          </a:custGeom>
          <a:blipFill>
            <a:blip r:embed="rId3">
              <a:extLst>
                <a:ext uri="{96DAC541-7B7A-43D3-8B79-37D633B846F1}">
                  <asvg:svgBlip xmlns:asvg="http://schemas.microsoft.com/office/drawing/2016/SVG/main" r:embed="rId4"/>
                </a:ext>
              </a:extLst>
            </a:blip>
            <a:stretch>
              <a:fillRect l="0" t="-4878" r="0" b="-4878"/>
            </a:stretch>
          </a:blipFill>
        </p:spPr>
      </p:sp>
      <p:sp>
        <p:nvSpPr>
          <p:cNvPr name="TextBox 14" id="14"/>
          <p:cNvSpPr txBox="true"/>
          <p:nvPr/>
        </p:nvSpPr>
        <p:spPr>
          <a:xfrm rot="0">
            <a:off x="14007913" y="7203910"/>
            <a:ext cx="1768078" cy="406400"/>
          </a:xfrm>
          <a:prstGeom prst="rect">
            <a:avLst/>
          </a:prstGeom>
        </p:spPr>
        <p:txBody>
          <a:bodyPr anchor="t" rtlCol="false" tIns="0" lIns="0" bIns="0" rIns="0">
            <a:spAutoFit/>
          </a:bodyPr>
          <a:lstStyle/>
          <a:p>
            <a:pPr algn="ctr">
              <a:lnSpc>
                <a:spcPts val="3249"/>
              </a:lnSpc>
            </a:pPr>
            <a:r>
              <a:rPr lang="en-US" sz="2687" b="true">
                <a:solidFill>
                  <a:srgbClr val="303030"/>
                </a:solidFill>
                <a:latin typeface="Inter Bold"/>
                <a:ea typeface="Inter Bold"/>
                <a:cs typeface="Inter Bold"/>
                <a:sym typeface="Inter Bold"/>
              </a:rPr>
              <a:t>Chuẩn hóa</a:t>
            </a:r>
          </a:p>
        </p:txBody>
      </p:sp>
      <p:sp>
        <p:nvSpPr>
          <p:cNvPr name="Freeform 15" id="15" descr="preencoded.png"/>
          <p:cNvSpPr/>
          <p:nvPr/>
        </p:nvSpPr>
        <p:spPr>
          <a:xfrm flipH="false" flipV="false" rot="0">
            <a:off x="11616242" y="4369603"/>
            <a:ext cx="774402" cy="774402"/>
          </a:xfrm>
          <a:custGeom>
            <a:avLst/>
            <a:gdLst/>
            <a:ahLst/>
            <a:cxnLst/>
            <a:rect r="r" b="b" t="t" l="l"/>
            <a:pathLst>
              <a:path h="774402" w="774402">
                <a:moveTo>
                  <a:pt x="0" y="0"/>
                </a:moveTo>
                <a:lnTo>
                  <a:pt x="774402" y="0"/>
                </a:lnTo>
                <a:lnTo>
                  <a:pt x="774402" y="774402"/>
                </a:lnTo>
                <a:lnTo>
                  <a:pt x="0" y="7744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6" id="16"/>
          <p:cNvSpPr txBox="true"/>
          <p:nvPr/>
        </p:nvSpPr>
        <p:spPr>
          <a:xfrm rot="0">
            <a:off x="11054841" y="7203910"/>
            <a:ext cx="1974652" cy="406400"/>
          </a:xfrm>
          <a:prstGeom prst="rect">
            <a:avLst/>
          </a:prstGeom>
        </p:spPr>
        <p:txBody>
          <a:bodyPr anchor="t" rtlCol="false" tIns="0" lIns="0" bIns="0" rIns="0">
            <a:spAutoFit/>
          </a:bodyPr>
          <a:lstStyle/>
          <a:p>
            <a:pPr algn="ctr">
              <a:lnSpc>
                <a:spcPts val="3249"/>
              </a:lnSpc>
            </a:pPr>
            <a:r>
              <a:rPr lang="en-US" sz="2687" b="true">
                <a:solidFill>
                  <a:srgbClr val="303030"/>
                </a:solidFill>
                <a:latin typeface="Inter Bold"/>
                <a:ea typeface="Inter Bold"/>
                <a:cs typeface="Inter Bold"/>
                <a:sym typeface="Inter Bold"/>
              </a:rPr>
              <a:t>Tăng cường</a:t>
            </a:r>
          </a:p>
        </p:txBody>
      </p:sp>
      <p:sp>
        <p:nvSpPr>
          <p:cNvPr name="Freeform 17" id="17" descr="preencoded.png"/>
          <p:cNvSpPr/>
          <p:nvPr/>
        </p:nvSpPr>
        <p:spPr>
          <a:xfrm flipH="false" flipV="false" rot="0">
            <a:off x="8781936" y="4369603"/>
            <a:ext cx="774402" cy="774402"/>
          </a:xfrm>
          <a:custGeom>
            <a:avLst/>
            <a:gdLst/>
            <a:ahLst/>
            <a:cxnLst/>
            <a:rect r="r" b="b" t="t" l="l"/>
            <a:pathLst>
              <a:path h="774402" w="774402">
                <a:moveTo>
                  <a:pt x="0" y="0"/>
                </a:moveTo>
                <a:lnTo>
                  <a:pt x="774401" y="0"/>
                </a:lnTo>
                <a:lnTo>
                  <a:pt x="774401" y="774402"/>
                </a:lnTo>
                <a:lnTo>
                  <a:pt x="0" y="77440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8" id="18"/>
          <p:cNvSpPr txBox="true"/>
          <p:nvPr/>
        </p:nvSpPr>
        <p:spPr>
          <a:xfrm rot="0">
            <a:off x="8201604" y="7203910"/>
            <a:ext cx="2012513" cy="406400"/>
          </a:xfrm>
          <a:prstGeom prst="rect">
            <a:avLst/>
          </a:prstGeom>
        </p:spPr>
        <p:txBody>
          <a:bodyPr anchor="t" rtlCol="false" tIns="0" lIns="0" bIns="0" rIns="0">
            <a:spAutoFit/>
          </a:bodyPr>
          <a:lstStyle/>
          <a:p>
            <a:pPr algn="ctr">
              <a:lnSpc>
                <a:spcPts val="3249"/>
              </a:lnSpc>
            </a:pPr>
            <a:r>
              <a:rPr lang="en-US" sz="2687" b="true">
                <a:solidFill>
                  <a:srgbClr val="303030"/>
                </a:solidFill>
                <a:latin typeface="Inter Bold"/>
                <a:ea typeface="Inter Bold"/>
                <a:cs typeface="Inter Bold"/>
                <a:sym typeface="Inter Bold"/>
              </a:rPr>
              <a:t>Cắt mở rộng</a:t>
            </a:r>
          </a:p>
        </p:txBody>
      </p:sp>
      <p:sp>
        <p:nvSpPr>
          <p:cNvPr name="Freeform 19" id="19" descr="preencoded.png"/>
          <p:cNvSpPr/>
          <p:nvPr/>
        </p:nvSpPr>
        <p:spPr>
          <a:xfrm flipH="false" flipV="false" rot="0">
            <a:off x="5947639" y="4369603"/>
            <a:ext cx="774402" cy="774402"/>
          </a:xfrm>
          <a:custGeom>
            <a:avLst/>
            <a:gdLst/>
            <a:ahLst/>
            <a:cxnLst/>
            <a:rect r="r" b="b" t="t" l="l"/>
            <a:pathLst>
              <a:path h="774402" w="774402">
                <a:moveTo>
                  <a:pt x="0" y="0"/>
                </a:moveTo>
                <a:lnTo>
                  <a:pt x="774401" y="0"/>
                </a:lnTo>
                <a:lnTo>
                  <a:pt x="774401" y="774402"/>
                </a:lnTo>
                <a:lnTo>
                  <a:pt x="0" y="77440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0" id="20"/>
          <p:cNvSpPr txBox="true"/>
          <p:nvPr/>
        </p:nvSpPr>
        <p:spPr>
          <a:xfrm rot="0">
            <a:off x="5603279" y="7203910"/>
            <a:ext cx="1540550" cy="406400"/>
          </a:xfrm>
          <a:prstGeom prst="rect">
            <a:avLst/>
          </a:prstGeom>
        </p:spPr>
        <p:txBody>
          <a:bodyPr anchor="t" rtlCol="false" tIns="0" lIns="0" bIns="0" rIns="0">
            <a:spAutoFit/>
          </a:bodyPr>
          <a:lstStyle/>
          <a:p>
            <a:pPr algn="ctr">
              <a:lnSpc>
                <a:spcPts val="3249"/>
              </a:lnSpc>
            </a:pPr>
            <a:r>
              <a:rPr lang="en-US" sz="2687" b="true">
                <a:solidFill>
                  <a:srgbClr val="303030"/>
                </a:solidFill>
                <a:latin typeface="Inter Bold"/>
                <a:ea typeface="Inter Bold"/>
                <a:cs typeface="Inter Bold"/>
                <a:sym typeface="Inter Bold"/>
              </a:rPr>
              <a:t>Phát hiện</a:t>
            </a:r>
          </a:p>
        </p:txBody>
      </p:sp>
      <p:sp>
        <p:nvSpPr>
          <p:cNvPr name="Freeform 21" id="21" descr="preencoded.png"/>
          <p:cNvSpPr/>
          <p:nvPr/>
        </p:nvSpPr>
        <p:spPr>
          <a:xfrm flipH="false" flipV="false" rot="0">
            <a:off x="3097844" y="4369603"/>
            <a:ext cx="774402" cy="774402"/>
          </a:xfrm>
          <a:custGeom>
            <a:avLst/>
            <a:gdLst/>
            <a:ahLst/>
            <a:cxnLst/>
            <a:rect r="r" b="b" t="t" l="l"/>
            <a:pathLst>
              <a:path h="774402" w="774402">
                <a:moveTo>
                  <a:pt x="0" y="0"/>
                </a:moveTo>
                <a:lnTo>
                  <a:pt x="774402" y="0"/>
                </a:lnTo>
                <a:lnTo>
                  <a:pt x="774402" y="774402"/>
                </a:lnTo>
                <a:lnTo>
                  <a:pt x="0" y="774402"/>
                </a:lnTo>
                <a:lnTo>
                  <a:pt x="0" y="0"/>
                </a:lnTo>
                <a:close/>
              </a:path>
            </a:pathLst>
          </a:custGeom>
          <a:blipFill>
            <a:blip r:embed="rId11">
              <a:extLst>
                <a:ext uri="{96DAC541-7B7A-43D3-8B79-37D633B846F1}">
                  <asvg:svgBlip xmlns:asvg="http://schemas.microsoft.com/office/drawing/2016/SVG/main" r:embed="rId12"/>
                </a:ext>
              </a:extLst>
            </a:blip>
            <a:stretch>
              <a:fillRect l="0" t="-3657" r="0" b="-3659"/>
            </a:stretch>
          </a:blipFill>
        </p:spPr>
      </p:sp>
      <p:sp>
        <p:nvSpPr>
          <p:cNvPr name="TextBox 22" id="22"/>
          <p:cNvSpPr txBox="true"/>
          <p:nvPr/>
        </p:nvSpPr>
        <p:spPr>
          <a:xfrm rot="0">
            <a:off x="2644573" y="7203910"/>
            <a:ext cx="1665446" cy="406400"/>
          </a:xfrm>
          <a:prstGeom prst="rect">
            <a:avLst/>
          </a:prstGeom>
        </p:spPr>
        <p:txBody>
          <a:bodyPr anchor="t" rtlCol="false" tIns="0" lIns="0" bIns="0" rIns="0">
            <a:spAutoFit/>
          </a:bodyPr>
          <a:lstStyle/>
          <a:p>
            <a:pPr algn="ctr">
              <a:lnSpc>
                <a:spcPts val="3249"/>
              </a:lnSpc>
            </a:pPr>
            <a:r>
              <a:rPr lang="en-US" sz="2687" b="true">
                <a:solidFill>
                  <a:srgbClr val="303030"/>
                </a:solidFill>
                <a:latin typeface="Inter Bold"/>
                <a:ea typeface="Inter Bold"/>
                <a:cs typeface="Inter Bold"/>
                <a:sym typeface="Inter Bold"/>
              </a:rPr>
              <a:t>Trích xuất</a:t>
            </a:r>
          </a:p>
        </p:txBody>
      </p:sp>
      <p:sp>
        <p:nvSpPr>
          <p:cNvPr name="TextBox 23" id="23"/>
          <p:cNvSpPr txBox="true"/>
          <p:nvPr/>
        </p:nvSpPr>
        <p:spPr>
          <a:xfrm rot="0">
            <a:off x="992238" y="8784136"/>
            <a:ext cx="16303523" cy="615950"/>
          </a:xfrm>
          <a:prstGeom prst="rect">
            <a:avLst/>
          </a:prstGeom>
        </p:spPr>
        <p:txBody>
          <a:bodyPr anchor="t" rtlCol="false" tIns="0" lIns="0" bIns="0" rIns="0">
            <a:spAutoFit/>
          </a:bodyPr>
          <a:lstStyle/>
          <a:p>
            <a:pPr algn="l">
              <a:lnSpc>
                <a:spcPts val="2499"/>
              </a:lnSpc>
            </a:pPr>
            <a:r>
              <a:rPr lang="en-US" sz="1812">
                <a:solidFill>
                  <a:srgbClr val="303030"/>
                </a:solidFill>
                <a:latin typeface="Inter"/>
                <a:ea typeface="Inter"/>
                <a:cs typeface="Inter"/>
                <a:sym typeface="Inter"/>
              </a:rPr>
              <a:t>Kỹ thuật </a:t>
            </a:r>
            <a:r>
              <a:rPr lang="en-US" sz="1812" b="true">
                <a:solidFill>
                  <a:srgbClr val="303030"/>
                </a:solidFill>
                <a:latin typeface="Inter Bold"/>
                <a:ea typeface="Inter Bold"/>
                <a:cs typeface="Inter Bold"/>
                <a:sym typeface="Inter Bold"/>
              </a:rPr>
              <a:t>Uniform Sampling</a:t>
            </a:r>
            <a:r>
              <a:rPr lang="en-US" sz="1812">
                <a:solidFill>
                  <a:srgbClr val="303030"/>
                </a:solidFill>
                <a:latin typeface="Inter"/>
                <a:ea typeface="Inter"/>
                <a:cs typeface="Inter"/>
                <a:sym typeface="Inter"/>
              </a:rPr>
              <a:t> đảm bảo trích xuất đúng 20 khung hình phân bố đều trên toàn video. Việc nới rộng vùng cắt thêm </a:t>
            </a:r>
            <a:r>
              <a:rPr lang="en-US" sz="1812" b="true">
                <a:solidFill>
                  <a:srgbClr val="303030"/>
                </a:solidFill>
                <a:latin typeface="Inter Bold"/>
                <a:ea typeface="Inter Bold"/>
                <a:cs typeface="Inter Bold"/>
                <a:sym typeface="Inter Bold"/>
              </a:rPr>
              <a:t>20 pixel</a:t>
            </a:r>
            <a:r>
              <a:rPr lang="en-US" sz="1812">
                <a:solidFill>
                  <a:srgbClr val="303030"/>
                </a:solidFill>
                <a:latin typeface="Inter"/>
                <a:ea typeface="Inter"/>
                <a:cs typeface="Inter"/>
                <a:sym typeface="Inter"/>
              </a:rPr>
              <a:t> bằng MediaPipe giúp giữ lại các chi tiết quan trọng ở viền cằm và tóc — vùng thường bị Deepfake xử lý kém nhất.</a:t>
            </a:r>
          </a:p>
        </p:txBody>
      </p:sp>
      <p:grpSp>
        <p:nvGrpSpPr>
          <p:cNvPr name="Group 24" id="24"/>
          <p:cNvGrpSpPr/>
          <p:nvPr/>
        </p:nvGrpSpPr>
        <p:grpSpPr>
          <a:xfrm rot="0">
            <a:off x="15989351" y="0"/>
            <a:ext cx="2212924" cy="2212924"/>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3"/>
              <a:stretch>
                <a:fillRect l="0" t="0" r="0" b="0"/>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377C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5F5F5"/>
            </a:solidFill>
          </p:spPr>
        </p:sp>
      </p:grpSp>
      <p:grpSp>
        <p:nvGrpSpPr>
          <p:cNvPr name="Group 6" id="6"/>
          <p:cNvGrpSpPr/>
          <p:nvPr/>
        </p:nvGrpSpPr>
        <p:grpSpPr>
          <a:xfrm rot="0">
            <a:off x="992238" y="693687"/>
            <a:ext cx="2483196" cy="426691"/>
            <a:chOff x="0" y="0"/>
            <a:chExt cx="3310928" cy="568922"/>
          </a:xfrm>
        </p:grpSpPr>
        <p:sp>
          <p:nvSpPr>
            <p:cNvPr name="Freeform 7" id="7"/>
            <p:cNvSpPr/>
            <p:nvPr/>
          </p:nvSpPr>
          <p:spPr>
            <a:xfrm flipH="false" flipV="false" rot="0">
              <a:off x="0" y="0"/>
              <a:ext cx="3310890" cy="568833"/>
            </a:xfrm>
            <a:custGeom>
              <a:avLst/>
              <a:gdLst/>
              <a:ahLst/>
              <a:cxnLst/>
              <a:rect r="r" b="b" t="t" l="l"/>
              <a:pathLst>
                <a:path h="568833" w="3310890">
                  <a:moveTo>
                    <a:pt x="0" y="238125"/>
                  </a:moveTo>
                  <a:cubicBezTo>
                    <a:pt x="0" y="106680"/>
                    <a:pt x="106680" y="0"/>
                    <a:pt x="238125" y="0"/>
                  </a:cubicBezTo>
                  <a:lnTo>
                    <a:pt x="3072765" y="0"/>
                  </a:lnTo>
                  <a:cubicBezTo>
                    <a:pt x="3204337" y="0"/>
                    <a:pt x="3310890" y="106680"/>
                    <a:pt x="3310890" y="238125"/>
                  </a:cubicBezTo>
                  <a:lnTo>
                    <a:pt x="3310890" y="330708"/>
                  </a:lnTo>
                  <a:cubicBezTo>
                    <a:pt x="3310890" y="462280"/>
                    <a:pt x="3204210" y="568833"/>
                    <a:pt x="3072765" y="568833"/>
                  </a:cubicBezTo>
                  <a:lnTo>
                    <a:pt x="238125" y="568833"/>
                  </a:lnTo>
                  <a:cubicBezTo>
                    <a:pt x="106680" y="568960"/>
                    <a:pt x="0" y="462280"/>
                    <a:pt x="0" y="330708"/>
                  </a:cubicBezTo>
                  <a:close/>
                </a:path>
              </a:pathLst>
            </a:custGeom>
            <a:solidFill>
              <a:srgbClr val="5678F0"/>
            </a:solidFill>
          </p:spPr>
        </p:sp>
      </p:grpSp>
      <p:sp>
        <p:nvSpPr>
          <p:cNvPr name="TextBox 8" id="8"/>
          <p:cNvSpPr txBox="true"/>
          <p:nvPr/>
        </p:nvSpPr>
        <p:spPr>
          <a:xfrm rot="0">
            <a:off x="1141066" y="739531"/>
            <a:ext cx="2185540" cy="265113"/>
          </a:xfrm>
          <a:prstGeom prst="rect">
            <a:avLst/>
          </a:prstGeom>
        </p:spPr>
        <p:txBody>
          <a:bodyPr anchor="t" rtlCol="false" tIns="0" lIns="0" bIns="0" rIns="0">
            <a:spAutoFit/>
          </a:bodyPr>
          <a:lstStyle/>
          <a:p>
            <a:pPr algn="l">
              <a:lnSpc>
                <a:spcPts val="2187"/>
              </a:lnSpc>
            </a:pPr>
            <a:r>
              <a:rPr lang="en-US" sz="1562">
                <a:solidFill>
                  <a:srgbClr val="FFFFFF"/>
                </a:solidFill>
                <a:latin typeface="Inter"/>
                <a:ea typeface="Inter"/>
                <a:cs typeface="Inter"/>
                <a:sym typeface="Inter"/>
              </a:rPr>
              <a:t>KIẾN TRÚC HỆ THỐNG</a:t>
            </a:r>
          </a:p>
        </p:txBody>
      </p:sp>
      <p:sp>
        <p:nvSpPr>
          <p:cNvPr name="TextBox 9" id="9"/>
          <p:cNvSpPr txBox="true"/>
          <p:nvPr/>
        </p:nvSpPr>
        <p:spPr>
          <a:xfrm rot="0">
            <a:off x="992238" y="1219495"/>
            <a:ext cx="8921472" cy="738188"/>
          </a:xfrm>
          <a:prstGeom prst="rect">
            <a:avLst/>
          </a:prstGeom>
        </p:spPr>
        <p:txBody>
          <a:bodyPr anchor="t" rtlCol="false" tIns="0" lIns="0" bIns="0" rIns="0">
            <a:spAutoFit/>
          </a:bodyPr>
          <a:lstStyle/>
          <a:p>
            <a:pPr algn="l">
              <a:lnSpc>
                <a:spcPts val="5812"/>
              </a:lnSpc>
            </a:pPr>
            <a:r>
              <a:rPr lang="en-US" sz="4875" b="true">
                <a:solidFill>
                  <a:srgbClr val="5678F0"/>
                </a:solidFill>
                <a:latin typeface="Inter Bold"/>
                <a:ea typeface="Inter Bold"/>
                <a:cs typeface="Inter Bold"/>
                <a:sym typeface="Inter Bold"/>
              </a:rPr>
              <a:t>Kiến Trúc Hệ Thống Tổng Thể</a:t>
            </a:r>
          </a:p>
        </p:txBody>
      </p:sp>
      <p:grpSp>
        <p:nvGrpSpPr>
          <p:cNvPr name="Group 10" id="10"/>
          <p:cNvGrpSpPr/>
          <p:nvPr/>
        </p:nvGrpSpPr>
        <p:grpSpPr>
          <a:xfrm rot="0">
            <a:off x="992238" y="2459641"/>
            <a:ext cx="16303523" cy="40481"/>
            <a:chOff x="0" y="0"/>
            <a:chExt cx="21738031" cy="53975"/>
          </a:xfrm>
        </p:grpSpPr>
        <p:sp>
          <p:nvSpPr>
            <p:cNvPr name="Freeform 11" id="11"/>
            <p:cNvSpPr/>
            <p:nvPr/>
          </p:nvSpPr>
          <p:spPr>
            <a:xfrm flipH="false" flipV="false" rot="0">
              <a:off x="0" y="0"/>
              <a:ext cx="21738082" cy="53975"/>
            </a:xfrm>
            <a:custGeom>
              <a:avLst/>
              <a:gdLst/>
              <a:ahLst/>
              <a:cxnLst/>
              <a:rect r="r" b="b" t="t" l="l"/>
              <a:pathLst>
                <a:path h="53975" w="21738082">
                  <a:moveTo>
                    <a:pt x="0" y="0"/>
                  </a:moveTo>
                  <a:lnTo>
                    <a:pt x="21738082" y="0"/>
                  </a:lnTo>
                  <a:lnTo>
                    <a:pt x="21738082" y="53975"/>
                  </a:lnTo>
                  <a:lnTo>
                    <a:pt x="0" y="53975"/>
                  </a:lnTo>
                  <a:close/>
                </a:path>
              </a:pathLst>
            </a:custGeom>
            <a:solidFill>
              <a:srgbClr val="303030">
                <a:alpha val="24706"/>
              </a:srgbClr>
            </a:solidFill>
          </p:spPr>
        </p:sp>
      </p:grpSp>
      <p:sp>
        <p:nvSpPr>
          <p:cNvPr name="TextBox 12" id="12"/>
          <p:cNvSpPr txBox="true"/>
          <p:nvPr/>
        </p:nvSpPr>
        <p:spPr>
          <a:xfrm rot="0">
            <a:off x="992238" y="2740971"/>
            <a:ext cx="16303523"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Hệ thống được tổ chức theo kiến trúc 3 tầng, đảm bảo sự tách biệt rõ ràng giữa giao diện người dùng, lõi xử lý và các mô hình AI.</a:t>
            </a:r>
          </a:p>
        </p:txBody>
      </p:sp>
      <p:sp>
        <p:nvSpPr>
          <p:cNvPr name="TextBox 13" id="13"/>
          <p:cNvSpPr txBox="true"/>
          <p:nvPr/>
        </p:nvSpPr>
        <p:spPr>
          <a:xfrm rot="0">
            <a:off x="992238" y="3634235"/>
            <a:ext cx="3466862" cy="450850"/>
          </a:xfrm>
          <a:prstGeom prst="rect">
            <a:avLst/>
          </a:prstGeom>
        </p:spPr>
        <p:txBody>
          <a:bodyPr anchor="t" rtlCol="false" tIns="0" lIns="0" bIns="0" rIns="0">
            <a:spAutoFit/>
          </a:bodyPr>
          <a:lstStyle/>
          <a:p>
            <a:pPr algn="l">
              <a:lnSpc>
                <a:spcPts val="3500"/>
              </a:lnSpc>
            </a:pPr>
            <a:r>
              <a:rPr lang="en-US" sz="2874" b="true">
                <a:solidFill>
                  <a:srgbClr val="5678F0"/>
                </a:solidFill>
                <a:latin typeface="Inter Bold"/>
                <a:ea typeface="Inter Bold"/>
                <a:cs typeface="Inter Bold"/>
                <a:sym typeface="Inter Bold"/>
              </a:rPr>
              <a:t>Các Tầng Kiến Trúc</a:t>
            </a:r>
          </a:p>
        </p:txBody>
      </p:sp>
      <p:grpSp>
        <p:nvGrpSpPr>
          <p:cNvPr name="Group 14" id="14"/>
          <p:cNvGrpSpPr/>
          <p:nvPr/>
        </p:nvGrpSpPr>
        <p:grpSpPr>
          <a:xfrm rot="0">
            <a:off x="963663" y="4350248"/>
            <a:ext cx="57150" cy="1371600"/>
            <a:chOff x="0" y="0"/>
            <a:chExt cx="76200" cy="1828800"/>
          </a:xfrm>
        </p:grpSpPr>
        <p:sp>
          <p:nvSpPr>
            <p:cNvPr name="Freeform 15" id="15"/>
            <p:cNvSpPr/>
            <p:nvPr/>
          </p:nvSpPr>
          <p:spPr>
            <a:xfrm flipH="false" flipV="false" rot="0">
              <a:off x="0" y="0"/>
              <a:ext cx="76200" cy="1828800"/>
            </a:xfrm>
            <a:custGeom>
              <a:avLst/>
              <a:gdLst/>
              <a:ahLst/>
              <a:cxnLst/>
              <a:rect r="r" b="b" t="t" l="l"/>
              <a:pathLst>
                <a:path h="1828800" w="76200">
                  <a:moveTo>
                    <a:pt x="0" y="0"/>
                  </a:moveTo>
                  <a:lnTo>
                    <a:pt x="76200" y="0"/>
                  </a:lnTo>
                  <a:lnTo>
                    <a:pt x="76200" y="1828800"/>
                  </a:lnTo>
                  <a:lnTo>
                    <a:pt x="0" y="1828800"/>
                  </a:lnTo>
                  <a:close/>
                </a:path>
              </a:pathLst>
            </a:custGeom>
            <a:solidFill>
              <a:srgbClr val="5678F0"/>
            </a:solidFill>
          </p:spPr>
        </p:sp>
      </p:grpSp>
      <p:sp>
        <p:nvSpPr>
          <p:cNvPr name="TextBox 16" id="16"/>
          <p:cNvSpPr txBox="true"/>
          <p:nvPr/>
        </p:nvSpPr>
        <p:spPr>
          <a:xfrm rot="0">
            <a:off x="1297334" y="4378823"/>
            <a:ext cx="2299097" cy="368300"/>
          </a:xfrm>
          <a:prstGeom prst="rect">
            <a:avLst/>
          </a:prstGeom>
        </p:spPr>
        <p:txBody>
          <a:bodyPr anchor="t" rtlCol="false" tIns="0" lIns="0" bIns="0" rIns="0">
            <a:spAutoFit/>
          </a:bodyPr>
          <a:lstStyle/>
          <a:p>
            <a:pPr algn="l">
              <a:lnSpc>
                <a:spcPts val="2875"/>
              </a:lnSpc>
            </a:pPr>
            <a:r>
              <a:rPr lang="en-US" sz="2437" b="true">
                <a:solidFill>
                  <a:srgbClr val="303030"/>
                </a:solidFill>
                <a:latin typeface="Inter Bold"/>
                <a:ea typeface="Inter Bold"/>
                <a:cs typeface="Inter Bold"/>
                <a:sym typeface="Inter Bold"/>
              </a:rPr>
              <a:t>Tầng 1 — Client</a:t>
            </a:r>
          </a:p>
        </p:txBody>
      </p:sp>
      <p:sp>
        <p:nvSpPr>
          <p:cNvPr name="TextBox 17" id="17"/>
          <p:cNvSpPr txBox="true"/>
          <p:nvPr/>
        </p:nvSpPr>
        <p:spPr>
          <a:xfrm rot="0">
            <a:off x="1297334" y="4960734"/>
            <a:ext cx="7544095" cy="658812"/>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Giao diện web người dùng. Cho phép tải lên ảnh/video và hiển thị kết quả phân tích Deepfake trực quan.</a:t>
            </a:r>
          </a:p>
        </p:txBody>
      </p:sp>
      <p:grpSp>
        <p:nvGrpSpPr>
          <p:cNvPr name="Group 18" id="18"/>
          <p:cNvGrpSpPr/>
          <p:nvPr/>
        </p:nvGrpSpPr>
        <p:grpSpPr>
          <a:xfrm rot="0">
            <a:off x="963663" y="6160741"/>
            <a:ext cx="57150" cy="1371600"/>
            <a:chOff x="0" y="0"/>
            <a:chExt cx="76200" cy="1828800"/>
          </a:xfrm>
        </p:grpSpPr>
        <p:sp>
          <p:nvSpPr>
            <p:cNvPr name="Freeform 19" id="19"/>
            <p:cNvSpPr/>
            <p:nvPr/>
          </p:nvSpPr>
          <p:spPr>
            <a:xfrm flipH="false" flipV="false" rot="0">
              <a:off x="0" y="0"/>
              <a:ext cx="76200" cy="1828800"/>
            </a:xfrm>
            <a:custGeom>
              <a:avLst/>
              <a:gdLst/>
              <a:ahLst/>
              <a:cxnLst/>
              <a:rect r="r" b="b" t="t" l="l"/>
              <a:pathLst>
                <a:path h="1828800" w="76200">
                  <a:moveTo>
                    <a:pt x="0" y="0"/>
                  </a:moveTo>
                  <a:lnTo>
                    <a:pt x="76200" y="0"/>
                  </a:lnTo>
                  <a:lnTo>
                    <a:pt x="76200" y="1828800"/>
                  </a:lnTo>
                  <a:lnTo>
                    <a:pt x="0" y="1828800"/>
                  </a:lnTo>
                  <a:close/>
                </a:path>
              </a:pathLst>
            </a:custGeom>
            <a:solidFill>
              <a:srgbClr val="93CEF1"/>
            </a:solidFill>
          </p:spPr>
        </p:sp>
      </p:grpSp>
      <p:sp>
        <p:nvSpPr>
          <p:cNvPr name="TextBox 20" id="20"/>
          <p:cNvSpPr txBox="true"/>
          <p:nvPr/>
        </p:nvSpPr>
        <p:spPr>
          <a:xfrm rot="0">
            <a:off x="1297334" y="6189316"/>
            <a:ext cx="4281607" cy="368300"/>
          </a:xfrm>
          <a:prstGeom prst="rect">
            <a:avLst/>
          </a:prstGeom>
        </p:spPr>
        <p:txBody>
          <a:bodyPr anchor="t" rtlCol="false" tIns="0" lIns="0" bIns="0" rIns="0">
            <a:spAutoFit/>
          </a:bodyPr>
          <a:lstStyle/>
          <a:p>
            <a:pPr algn="l">
              <a:lnSpc>
                <a:spcPts val="2875"/>
              </a:lnSpc>
            </a:pPr>
            <a:r>
              <a:rPr lang="en-US" sz="2437" b="true">
                <a:solidFill>
                  <a:srgbClr val="303030"/>
                </a:solidFill>
                <a:latin typeface="Inter Bold"/>
                <a:ea typeface="Inter Bold"/>
                <a:cs typeface="Inter Bold"/>
                <a:sym typeface="Inter Bold"/>
              </a:rPr>
              <a:t>Tầng 2 — Application (Flask)</a:t>
            </a:r>
          </a:p>
        </p:txBody>
      </p:sp>
      <p:sp>
        <p:nvSpPr>
          <p:cNvPr name="TextBox 21" id="21"/>
          <p:cNvSpPr txBox="true"/>
          <p:nvPr/>
        </p:nvSpPr>
        <p:spPr>
          <a:xfrm rot="0">
            <a:off x="1297334" y="6771237"/>
            <a:ext cx="7544095" cy="658812"/>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Server Flask đóng vai trò trung gian: nhận yêu cầu từ Client, tiền xử lý dữ liệu và điều phối gọi đến các mô hình ML.</a:t>
            </a:r>
          </a:p>
        </p:txBody>
      </p:sp>
      <p:grpSp>
        <p:nvGrpSpPr>
          <p:cNvPr name="Group 22" id="22"/>
          <p:cNvGrpSpPr/>
          <p:nvPr/>
        </p:nvGrpSpPr>
        <p:grpSpPr>
          <a:xfrm rot="0">
            <a:off x="963663" y="7971234"/>
            <a:ext cx="57150" cy="1371600"/>
            <a:chOff x="0" y="0"/>
            <a:chExt cx="76200" cy="1828800"/>
          </a:xfrm>
        </p:grpSpPr>
        <p:sp>
          <p:nvSpPr>
            <p:cNvPr name="Freeform 23" id="23"/>
            <p:cNvSpPr/>
            <p:nvPr/>
          </p:nvSpPr>
          <p:spPr>
            <a:xfrm flipH="false" flipV="false" rot="0">
              <a:off x="0" y="0"/>
              <a:ext cx="76200" cy="1828800"/>
            </a:xfrm>
            <a:custGeom>
              <a:avLst/>
              <a:gdLst/>
              <a:ahLst/>
              <a:cxnLst/>
              <a:rect r="r" b="b" t="t" l="l"/>
              <a:pathLst>
                <a:path h="1828800" w="76200">
                  <a:moveTo>
                    <a:pt x="0" y="0"/>
                  </a:moveTo>
                  <a:lnTo>
                    <a:pt x="76200" y="0"/>
                  </a:lnTo>
                  <a:lnTo>
                    <a:pt x="76200" y="1828800"/>
                  </a:lnTo>
                  <a:lnTo>
                    <a:pt x="0" y="1828800"/>
                  </a:lnTo>
                  <a:close/>
                </a:path>
              </a:pathLst>
            </a:custGeom>
            <a:solidFill>
              <a:srgbClr val="948BE2"/>
            </a:solidFill>
          </p:spPr>
        </p:sp>
      </p:grpSp>
      <p:sp>
        <p:nvSpPr>
          <p:cNvPr name="TextBox 24" id="24"/>
          <p:cNvSpPr txBox="true"/>
          <p:nvPr/>
        </p:nvSpPr>
        <p:spPr>
          <a:xfrm rot="0">
            <a:off x="1297334" y="7999809"/>
            <a:ext cx="3121462" cy="368300"/>
          </a:xfrm>
          <a:prstGeom prst="rect">
            <a:avLst/>
          </a:prstGeom>
        </p:spPr>
        <p:txBody>
          <a:bodyPr anchor="t" rtlCol="false" tIns="0" lIns="0" bIns="0" rIns="0">
            <a:spAutoFit/>
          </a:bodyPr>
          <a:lstStyle/>
          <a:p>
            <a:pPr algn="l">
              <a:lnSpc>
                <a:spcPts val="2875"/>
              </a:lnSpc>
            </a:pPr>
            <a:r>
              <a:rPr lang="en-US" sz="2437" b="true">
                <a:solidFill>
                  <a:srgbClr val="303030"/>
                </a:solidFill>
                <a:latin typeface="Inter Bold"/>
                <a:ea typeface="Inter Bold"/>
                <a:cs typeface="Inter Bold"/>
                <a:sym typeface="Inter Bold"/>
              </a:rPr>
              <a:t>Tầng 3 — ML Models</a:t>
            </a:r>
          </a:p>
        </p:txBody>
      </p:sp>
      <p:sp>
        <p:nvSpPr>
          <p:cNvPr name="TextBox 25" id="25"/>
          <p:cNvSpPr txBox="true"/>
          <p:nvPr/>
        </p:nvSpPr>
        <p:spPr>
          <a:xfrm rot="0">
            <a:off x="1297334" y="8581730"/>
            <a:ext cx="7544095" cy="658812"/>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Lõi AI gồm các mô hình học sâu thực hiện phân loại REAL/FAKE và trả kết quả về Application Layer.</a:t>
            </a:r>
          </a:p>
        </p:txBody>
      </p:sp>
      <p:sp>
        <p:nvSpPr>
          <p:cNvPr name="TextBox 26" id="26"/>
          <p:cNvSpPr txBox="true"/>
          <p:nvPr/>
        </p:nvSpPr>
        <p:spPr>
          <a:xfrm rot="0">
            <a:off x="9456096" y="3634235"/>
            <a:ext cx="3612237" cy="450850"/>
          </a:xfrm>
          <a:prstGeom prst="rect">
            <a:avLst/>
          </a:prstGeom>
        </p:spPr>
        <p:txBody>
          <a:bodyPr anchor="t" rtlCol="false" tIns="0" lIns="0" bIns="0" rIns="0">
            <a:spAutoFit/>
          </a:bodyPr>
          <a:lstStyle/>
          <a:p>
            <a:pPr algn="l">
              <a:lnSpc>
                <a:spcPts val="3500"/>
              </a:lnSpc>
            </a:pPr>
            <a:r>
              <a:rPr lang="en-US" sz="2874" b="true">
                <a:solidFill>
                  <a:srgbClr val="5678F0"/>
                </a:solidFill>
                <a:latin typeface="Inter Bold"/>
                <a:ea typeface="Inter Bold"/>
                <a:cs typeface="Inter Bold"/>
                <a:sym typeface="Inter Bold"/>
              </a:rPr>
              <a:t>Luồng Xử Lý Dữ Liệu</a:t>
            </a:r>
          </a:p>
        </p:txBody>
      </p:sp>
      <p:grpSp>
        <p:nvGrpSpPr>
          <p:cNvPr name="Group 27" id="27"/>
          <p:cNvGrpSpPr/>
          <p:nvPr/>
        </p:nvGrpSpPr>
        <p:grpSpPr>
          <a:xfrm rot="0">
            <a:off x="9427521" y="4350248"/>
            <a:ext cx="57150" cy="1371600"/>
            <a:chOff x="0" y="0"/>
            <a:chExt cx="76200" cy="1828800"/>
          </a:xfrm>
        </p:grpSpPr>
        <p:sp>
          <p:nvSpPr>
            <p:cNvPr name="Freeform 28" id="28"/>
            <p:cNvSpPr/>
            <p:nvPr/>
          </p:nvSpPr>
          <p:spPr>
            <a:xfrm flipH="false" flipV="false" rot="0">
              <a:off x="0" y="0"/>
              <a:ext cx="76200" cy="1828800"/>
            </a:xfrm>
            <a:custGeom>
              <a:avLst/>
              <a:gdLst/>
              <a:ahLst/>
              <a:cxnLst/>
              <a:rect r="r" b="b" t="t" l="l"/>
              <a:pathLst>
                <a:path h="1828800" w="76200">
                  <a:moveTo>
                    <a:pt x="0" y="0"/>
                  </a:moveTo>
                  <a:lnTo>
                    <a:pt x="76200" y="0"/>
                  </a:lnTo>
                  <a:lnTo>
                    <a:pt x="76200" y="1828800"/>
                  </a:lnTo>
                  <a:lnTo>
                    <a:pt x="0" y="1828800"/>
                  </a:lnTo>
                  <a:close/>
                </a:path>
              </a:pathLst>
            </a:custGeom>
            <a:solidFill>
              <a:srgbClr val="5678F0"/>
            </a:solidFill>
          </p:spPr>
        </p:sp>
      </p:grpSp>
      <p:sp>
        <p:nvSpPr>
          <p:cNvPr name="TextBox 29" id="29"/>
          <p:cNvSpPr txBox="true"/>
          <p:nvPr/>
        </p:nvSpPr>
        <p:spPr>
          <a:xfrm rot="0">
            <a:off x="9761191" y="4378823"/>
            <a:ext cx="2043351" cy="368300"/>
          </a:xfrm>
          <a:prstGeom prst="rect">
            <a:avLst/>
          </a:prstGeom>
        </p:spPr>
        <p:txBody>
          <a:bodyPr anchor="t" rtlCol="false" tIns="0" lIns="0" bIns="0" rIns="0">
            <a:spAutoFit/>
          </a:bodyPr>
          <a:lstStyle/>
          <a:p>
            <a:pPr algn="l">
              <a:lnSpc>
                <a:spcPts val="2875"/>
              </a:lnSpc>
            </a:pPr>
            <a:r>
              <a:rPr lang="en-US" sz="2437" b="true">
                <a:solidFill>
                  <a:srgbClr val="303030"/>
                </a:solidFill>
                <a:latin typeface="Inter Bold"/>
                <a:ea typeface="Inter Bold"/>
                <a:cs typeface="Inter Bold"/>
                <a:sym typeface="Inter Bold"/>
              </a:rPr>
              <a:t>Nhận đầu vào</a:t>
            </a:r>
          </a:p>
        </p:txBody>
      </p:sp>
      <p:sp>
        <p:nvSpPr>
          <p:cNvPr name="TextBox 30" id="30"/>
          <p:cNvSpPr txBox="true"/>
          <p:nvPr/>
        </p:nvSpPr>
        <p:spPr>
          <a:xfrm rot="0">
            <a:off x="9761191" y="4960734"/>
            <a:ext cx="7544095" cy="658812"/>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Flask API nhận file ảnh hoặc video từ Client thông qua HTTP request.</a:t>
            </a:r>
          </a:p>
        </p:txBody>
      </p:sp>
      <p:grpSp>
        <p:nvGrpSpPr>
          <p:cNvPr name="Group 31" id="31"/>
          <p:cNvGrpSpPr/>
          <p:nvPr/>
        </p:nvGrpSpPr>
        <p:grpSpPr>
          <a:xfrm rot="0">
            <a:off x="9427521" y="6160741"/>
            <a:ext cx="57150" cy="1371600"/>
            <a:chOff x="0" y="0"/>
            <a:chExt cx="76200" cy="1828800"/>
          </a:xfrm>
        </p:grpSpPr>
        <p:sp>
          <p:nvSpPr>
            <p:cNvPr name="Freeform 32" id="32"/>
            <p:cNvSpPr/>
            <p:nvPr/>
          </p:nvSpPr>
          <p:spPr>
            <a:xfrm flipH="false" flipV="false" rot="0">
              <a:off x="0" y="0"/>
              <a:ext cx="76200" cy="1828800"/>
            </a:xfrm>
            <a:custGeom>
              <a:avLst/>
              <a:gdLst/>
              <a:ahLst/>
              <a:cxnLst/>
              <a:rect r="r" b="b" t="t" l="l"/>
              <a:pathLst>
                <a:path h="1828800" w="76200">
                  <a:moveTo>
                    <a:pt x="0" y="0"/>
                  </a:moveTo>
                  <a:lnTo>
                    <a:pt x="76200" y="0"/>
                  </a:lnTo>
                  <a:lnTo>
                    <a:pt x="76200" y="1828800"/>
                  </a:lnTo>
                  <a:lnTo>
                    <a:pt x="0" y="1828800"/>
                  </a:lnTo>
                  <a:close/>
                </a:path>
              </a:pathLst>
            </a:custGeom>
            <a:solidFill>
              <a:srgbClr val="93CEF1"/>
            </a:solidFill>
          </p:spPr>
        </p:sp>
      </p:grpSp>
      <p:sp>
        <p:nvSpPr>
          <p:cNvPr name="TextBox 33" id="33"/>
          <p:cNvSpPr txBox="true"/>
          <p:nvPr/>
        </p:nvSpPr>
        <p:spPr>
          <a:xfrm rot="0">
            <a:off x="9761191" y="6189316"/>
            <a:ext cx="3233738" cy="368300"/>
          </a:xfrm>
          <a:prstGeom prst="rect">
            <a:avLst/>
          </a:prstGeom>
        </p:spPr>
        <p:txBody>
          <a:bodyPr anchor="t" rtlCol="false" tIns="0" lIns="0" bIns="0" rIns="0">
            <a:spAutoFit/>
          </a:bodyPr>
          <a:lstStyle/>
          <a:p>
            <a:pPr algn="l">
              <a:lnSpc>
                <a:spcPts val="2875"/>
              </a:lnSpc>
            </a:pPr>
            <a:r>
              <a:rPr lang="en-US" sz="2437" b="true">
                <a:solidFill>
                  <a:srgbClr val="303030"/>
                </a:solidFill>
                <a:latin typeface="Inter Bold"/>
                <a:ea typeface="Inter Bold"/>
                <a:cs typeface="Inter Bold"/>
                <a:sym typeface="Inter Bold"/>
              </a:rPr>
              <a:t>Tiền xử lý &amp; Inference</a:t>
            </a:r>
          </a:p>
        </p:txBody>
      </p:sp>
      <p:sp>
        <p:nvSpPr>
          <p:cNvPr name="TextBox 34" id="34"/>
          <p:cNvSpPr txBox="true"/>
          <p:nvPr/>
        </p:nvSpPr>
        <p:spPr>
          <a:xfrm rot="0">
            <a:off x="9761191" y="6771237"/>
            <a:ext cx="7544095" cy="658812"/>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Pipeline tiền xử lý được kích hoạt, sau đó mô hình ML thực hiện dự đoán REAL/FAKE.</a:t>
            </a:r>
          </a:p>
        </p:txBody>
      </p:sp>
      <p:grpSp>
        <p:nvGrpSpPr>
          <p:cNvPr name="Group 35" id="35"/>
          <p:cNvGrpSpPr/>
          <p:nvPr/>
        </p:nvGrpSpPr>
        <p:grpSpPr>
          <a:xfrm rot="0">
            <a:off x="9427521" y="7971234"/>
            <a:ext cx="57150" cy="1371600"/>
            <a:chOff x="0" y="0"/>
            <a:chExt cx="76200" cy="1828800"/>
          </a:xfrm>
        </p:grpSpPr>
        <p:sp>
          <p:nvSpPr>
            <p:cNvPr name="Freeform 36" id="36"/>
            <p:cNvSpPr/>
            <p:nvPr/>
          </p:nvSpPr>
          <p:spPr>
            <a:xfrm flipH="false" flipV="false" rot="0">
              <a:off x="0" y="0"/>
              <a:ext cx="76200" cy="1828800"/>
            </a:xfrm>
            <a:custGeom>
              <a:avLst/>
              <a:gdLst/>
              <a:ahLst/>
              <a:cxnLst/>
              <a:rect r="r" b="b" t="t" l="l"/>
              <a:pathLst>
                <a:path h="1828800" w="76200">
                  <a:moveTo>
                    <a:pt x="0" y="0"/>
                  </a:moveTo>
                  <a:lnTo>
                    <a:pt x="76200" y="0"/>
                  </a:lnTo>
                  <a:lnTo>
                    <a:pt x="76200" y="1828800"/>
                  </a:lnTo>
                  <a:lnTo>
                    <a:pt x="0" y="1828800"/>
                  </a:lnTo>
                  <a:close/>
                </a:path>
              </a:pathLst>
            </a:custGeom>
            <a:solidFill>
              <a:srgbClr val="948BE2"/>
            </a:solidFill>
          </p:spPr>
        </p:sp>
      </p:grpSp>
      <p:sp>
        <p:nvSpPr>
          <p:cNvPr name="TextBox 37" id="37"/>
          <p:cNvSpPr txBox="true"/>
          <p:nvPr/>
        </p:nvSpPr>
        <p:spPr>
          <a:xfrm rot="0">
            <a:off x="9761191" y="7999809"/>
            <a:ext cx="1683306" cy="368300"/>
          </a:xfrm>
          <a:prstGeom prst="rect">
            <a:avLst/>
          </a:prstGeom>
        </p:spPr>
        <p:txBody>
          <a:bodyPr anchor="t" rtlCol="false" tIns="0" lIns="0" bIns="0" rIns="0">
            <a:spAutoFit/>
          </a:bodyPr>
          <a:lstStyle/>
          <a:p>
            <a:pPr algn="l">
              <a:lnSpc>
                <a:spcPts val="2875"/>
              </a:lnSpc>
            </a:pPr>
            <a:r>
              <a:rPr lang="en-US" sz="2437" b="true">
                <a:solidFill>
                  <a:srgbClr val="303030"/>
                </a:solidFill>
                <a:latin typeface="Inter Bold"/>
                <a:ea typeface="Inter Bold"/>
                <a:cs typeface="Inter Bold"/>
                <a:sym typeface="Inter Bold"/>
              </a:rPr>
              <a:t>Trả kết quả</a:t>
            </a:r>
          </a:p>
        </p:txBody>
      </p:sp>
      <p:sp>
        <p:nvSpPr>
          <p:cNvPr name="TextBox 38" id="38"/>
          <p:cNvSpPr txBox="true"/>
          <p:nvPr/>
        </p:nvSpPr>
        <p:spPr>
          <a:xfrm rot="0">
            <a:off x="9761191" y="8581730"/>
            <a:ext cx="7544095" cy="658812"/>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Nhãn phân loại và độ tin cậy được gửi về giao diện và hiển thị cho người dùng.</a:t>
            </a:r>
          </a:p>
        </p:txBody>
      </p:sp>
      <p:grpSp>
        <p:nvGrpSpPr>
          <p:cNvPr name="Group 39" id="39"/>
          <p:cNvGrpSpPr/>
          <p:nvPr/>
        </p:nvGrpSpPr>
        <p:grpSpPr>
          <a:xfrm rot="0">
            <a:off x="15989351" y="0"/>
            <a:ext cx="2212924" cy="2212924"/>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0" t="0" r="0" b="0"/>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377C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992238" y="1268911"/>
            <a:ext cx="3697338" cy="426691"/>
            <a:chOff x="0" y="0"/>
            <a:chExt cx="4929784" cy="568922"/>
          </a:xfrm>
        </p:grpSpPr>
        <p:sp>
          <p:nvSpPr>
            <p:cNvPr name="Freeform 7" id="7"/>
            <p:cNvSpPr/>
            <p:nvPr/>
          </p:nvSpPr>
          <p:spPr>
            <a:xfrm flipH="false" flipV="false" rot="0">
              <a:off x="0" y="0"/>
              <a:ext cx="4929759" cy="568833"/>
            </a:xfrm>
            <a:custGeom>
              <a:avLst/>
              <a:gdLst/>
              <a:ahLst/>
              <a:cxnLst/>
              <a:rect r="r" b="b" t="t" l="l"/>
              <a:pathLst>
                <a:path h="568833" w="4929759">
                  <a:moveTo>
                    <a:pt x="0" y="238125"/>
                  </a:moveTo>
                  <a:cubicBezTo>
                    <a:pt x="0" y="106680"/>
                    <a:pt x="106680" y="0"/>
                    <a:pt x="238125" y="0"/>
                  </a:cubicBezTo>
                  <a:lnTo>
                    <a:pt x="4691634" y="0"/>
                  </a:lnTo>
                  <a:cubicBezTo>
                    <a:pt x="4823206" y="0"/>
                    <a:pt x="4929759" y="106680"/>
                    <a:pt x="4929759" y="238125"/>
                  </a:cubicBezTo>
                  <a:lnTo>
                    <a:pt x="4929759" y="330708"/>
                  </a:lnTo>
                  <a:cubicBezTo>
                    <a:pt x="4929759" y="462280"/>
                    <a:pt x="4823079" y="568833"/>
                    <a:pt x="4691634" y="568833"/>
                  </a:cubicBezTo>
                  <a:lnTo>
                    <a:pt x="238125" y="568833"/>
                  </a:lnTo>
                  <a:cubicBezTo>
                    <a:pt x="106680" y="568960"/>
                    <a:pt x="0" y="462280"/>
                    <a:pt x="0" y="330708"/>
                  </a:cubicBezTo>
                  <a:close/>
                </a:path>
              </a:pathLst>
            </a:custGeom>
            <a:solidFill>
              <a:srgbClr val="5678F0"/>
            </a:solidFill>
          </p:spPr>
        </p:sp>
      </p:grpSp>
      <p:sp>
        <p:nvSpPr>
          <p:cNvPr name="TextBox 8" id="8"/>
          <p:cNvSpPr txBox="true"/>
          <p:nvPr/>
        </p:nvSpPr>
        <p:spPr>
          <a:xfrm rot="0">
            <a:off x="1141066" y="1314745"/>
            <a:ext cx="3399682" cy="265113"/>
          </a:xfrm>
          <a:prstGeom prst="rect">
            <a:avLst/>
          </a:prstGeom>
        </p:spPr>
        <p:txBody>
          <a:bodyPr anchor="t" rtlCol="false" tIns="0" lIns="0" bIns="0" rIns="0">
            <a:spAutoFit/>
          </a:bodyPr>
          <a:lstStyle/>
          <a:p>
            <a:pPr algn="l">
              <a:lnSpc>
                <a:spcPts val="2187"/>
              </a:lnSpc>
            </a:pPr>
            <a:r>
              <a:rPr lang="en-US" sz="1562">
                <a:solidFill>
                  <a:srgbClr val="FFFFFF"/>
                </a:solidFill>
                <a:latin typeface="Inter"/>
                <a:ea typeface="Inter"/>
                <a:cs typeface="Inter"/>
                <a:sym typeface="Inter"/>
              </a:rPr>
              <a:t>MÔ HÌNH PHÂN TÍCH KHÔNG GIAN</a:t>
            </a:r>
          </a:p>
        </p:txBody>
      </p:sp>
      <p:sp>
        <p:nvSpPr>
          <p:cNvPr name="TextBox 9" id="9"/>
          <p:cNvSpPr txBox="true"/>
          <p:nvPr/>
        </p:nvSpPr>
        <p:spPr>
          <a:xfrm rot="0">
            <a:off x="992238" y="1794720"/>
            <a:ext cx="14229398" cy="738188"/>
          </a:xfrm>
          <a:prstGeom prst="rect">
            <a:avLst/>
          </a:prstGeom>
        </p:spPr>
        <p:txBody>
          <a:bodyPr anchor="t" rtlCol="false" tIns="0" lIns="0" bIns="0" rIns="0">
            <a:spAutoFit/>
          </a:bodyPr>
          <a:lstStyle/>
          <a:p>
            <a:pPr algn="l">
              <a:lnSpc>
                <a:spcPts val="5812"/>
              </a:lnSpc>
            </a:pPr>
            <a:r>
              <a:rPr lang="en-US" b="true" sz="4875">
                <a:solidFill>
                  <a:srgbClr val="5678F0"/>
                </a:solidFill>
                <a:latin typeface="Inter Bold"/>
                <a:ea typeface="Inter Bold"/>
                <a:cs typeface="Inter Bold"/>
                <a:sym typeface="Inter Bold"/>
              </a:rPr>
              <a:t>EfficientNet-B4: Mô Hình Phân Tích Không Gian</a:t>
            </a:r>
          </a:p>
        </p:txBody>
      </p:sp>
      <p:sp>
        <p:nvSpPr>
          <p:cNvPr name="TextBox 10" id="10"/>
          <p:cNvSpPr txBox="true"/>
          <p:nvPr/>
        </p:nvSpPr>
        <p:spPr>
          <a:xfrm rot="0">
            <a:off x="992238" y="2872826"/>
            <a:ext cx="16303523" cy="658812"/>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EfficientNet-B4 được chọn làm backbone chính cho bài toán phân tích ảnh tĩnh nhờ khả năng cân bằng tối ưu giữa </a:t>
            </a:r>
            <a:r>
              <a:rPr lang="en-US" sz="1937" b="true">
                <a:solidFill>
                  <a:srgbClr val="303030"/>
                </a:solidFill>
                <a:latin typeface="Inter Bold"/>
                <a:ea typeface="Inter Bold"/>
                <a:cs typeface="Inter Bold"/>
                <a:sym typeface="Inter Bold"/>
              </a:rPr>
              <a:t>độ chính xác</a:t>
            </a:r>
            <a:r>
              <a:rPr lang="en-US" sz="1937">
                <a:solidFill>
                  <a:srgbClr val="303030"/>
                </a:solidFill>
                <a:latin typeface="Inter"/>
                <a:ea typeface="Inter"/>
                <a:cs typeface="Inter"/>
                <a:sym typeface="Inter"/>
              </a:rPr>
              <a:t> và </a:t>
            </a:r>
            <a:r>
              <a:rPr lang="en-US" sz="1937" b="true">
                <a:solidFill>
                  <a:srgbClr val="303030"/>
                </a:solidFill>
                <a:latin typeface="Inter Bold"/>
                <a:ea typeface="Inter Bold"/>
                <a:cs typeface="Inter Bold"/>
                <a:sym typeface="Inter Bold"/>
              </a:rPr>
              <a:t>tốc độ suy luận</a:t>
            </a:r>
            <a:r>
              <a:rPr lang="en-US" sz="1937">
                <a:solidFill>
                  <a:srgbClr val="303030"/>
                </a:solidFill>
                <a:latin typeface="Inter"/>
                <a:ea typeface="Inter"/>
                <a:cs typeface="Inter"/>
                <a:sym typeface="Inter"/>
              </a:rPr>
              <a:t>.</a:t>
            </a:r>
          </a:p>
        </p:txBody>
      </p:sp>
      <p:grpSp>
        <p:nvGrpSpPr>
          <p:cNvPr name="Group 11" id="11"/>
          <p:cNvGrpSpPr/>
          <p:nvPr/>
        </p:nvGrpSpPr>
        <p:grpSpPr>
          <a:xfrm rot="0">
            <a:off x="992238" y="3884409"/>
            <a:ext cx="1240336" cy="1463278"/>
            <a:chOff x="0" y="0"/>
            <a:chExt cx="1653781" cy="1951038"/>
          </a:xfrm>
        </p:grpSpPr>
        <p:sp>
          <p:nvSpPr>
            <p:cNvPr name="Freeform 12" id="12" descr="preencoded.png"/>
            <p:cNvSpPr/>
            <p:nvPr/>
          </p:nvSpPr>
          <p:spPr>
            <a:xfrm flipH="false" flipV="false" rot="0">
              <a:off x="0" y="0"/>
              <a:ext cx="1653794" cy="1950974"/>
            </a:xfrm>
            <a:custGeom>
              <a:avLst/>
              <a:gdLst/>
              <a:ahLst/>
              <a:cxnLst/>
              <a:rect r="r" b="b" t="t" l="l"/>
              <a:pathLst>
                <a:path h="1950974" w="1653794">
                  <a:moveTo>
                    <a:pt x="0" y="0"/>
                  </a:moveTo>
                  <a:lnTo>
                    <a:pt x="1653794" y="0"/>
                  </a:lnTo>
                  <a:lnTo>
                    <a:pt x="1653794" y="1950974"/>
                  </a:lnTo>
                  <a:lnTo>
                    <a:pt x="0" y="1950974"/>
                  </a:lnTo>
                  <a:lnTo>
                    <a:pt x="0" y="0"/>
                  </a:lnTo>
                  <a:close/>
                </a:path>
              </a:pathLst>
            </a:custGeom>
            <a:blipFill>
              <a:blip r:embed="rId2"/>
              <a:stretch>
                <a:fillRect l="0" t="-206" r="0" b="-209"/>
              </a:stretch>
            </a:blipFill>
          </p:spPr>
        </p:sp>
      </p:grpSp>
      <p:sp>
        <p:nvSpPr>
          <p:cNvPr name="TextBox 13" id="13"/>
          <p:cNvSpPr txBox="true"/>
          <p:nvPr/>
        </p:nvSpPr>
        <p:spPr>
          <a:xfrm rot="0">
            <a:off x="2480520" y="3884409"/>
            <a:ext cx="2829163" cy="368300"/>
          </a:xfrm>
          <a:prstGeom prst="rect">
            <a:avLst/>
          </a:prstGeom>
        </p:spPr>
        <p:txBody>
          <a:bodyPr anchor="t" rtlCol="false" tIns="0" lIns="0" bIns="0" rIns="0">
            <a:spAutoFit/>
          </a:bodyPr>
          <a:lstStyle/>
          <a:p>
            <a:pPr algn="l">
              <a:lnSpc>
                <a:spcPts val="2875"/>
              </a:lnSpc>
            </a:pPr>
            <a:r>
              <a:rPr lang="en-US" sz="2437" b="true">
                <a:solidFill>
                  <a:srgbClr val="303030"/>
                </a:solidFill>
                <a:latin typeface="Inter Bold"/>
                <a:ea typeface="Inter Bold"/>
                <a:cs typeface="Inter Bold"/>
                <a:sym typeface="Inter Bold"/>
              </a:rPr>
              <a:t>Compound Scaling</a:t>
            </a:r>
          </a:p>
        </p:txBody>
      </p:sp>
      <p:sp>
        <p:nvSpPr>
          <p:cNvPr name="TextBox 14" id="14"/>
          <p:cNvSpPr txBox="true"/>
          <p:nvPr/>
        </p:nvSpPr>
        <p:spPr>
          <a:xfrm rot="0">
            <a:off x="2480520" y="4367212"/>
            <a:ext cx="14815242" cy="658812"/>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EfficientNet áp dụng nguyên lý </a:t>
            </a:r>
            <a:r>
              <a:rPr lang="en-US" sz="1937" b="true">
                <a:solidFill>
                  <a:srgbClr val="303030"/>
                </a:solidFill>
                <a:latin typeface="Inter Bold"/>
                <a:ea typeface="Inter Bold"/>
                <a:cs typeface="Inter Bold"/>
                <a:sym typeface="Inter Bold"/>
              </a:rPr>
              <a:t>Compound Scaling</a:t>
            </a:r>
            <a:r>
              <a:rPr lang="en-US" sz="1937">
                <a:solidFill>
                  <a:srgbClr val="303030"/>
                </a:solidFill>
                <a:latin typeface="Inter"/>
                <a:ea typeface="Inter"/>
                <a:cs typeface="Inter"/>
                <a:sym typeface="Inter"/>
              </a:rPr>
              <a:t> — tăng đồng thời chiều sâu (depth), chiều rộng (width) và độ phân giải (resolution) theo một hệ số cố định, thay vì tăng từng chiều riêng lẻ như các mạng truyền thống.</a:t>
            </a:r>
          </a:p>
        </p:txBody>
      </p:sp>
      <p:grpSp>
        <p:nvGrpSpPr>
          <p:cNvPr name="Group 15" id="15"/>
          <p:cNvGrpSpPr/>
          <p:nvPr/>
        </p:nvGrpSpPr>
        <p:grpSpPr>
          <a:xfrm rot="0">
            <a:off x="992238" y="5595642"/>
            <a:ext cx="1240336" cy="1463278"/>
            <a:chOff x="0" y="0"/>
            <a:chExt cx="1653781" cy="1951038"/>
          </a:xfrm>
        </p:grpSpPr>
        <p:sp>
          <p:nvSpPr>
            <p:cNvPr name="Freeform 16" id="16" descr="preencoded.png"/>
            <p:cNvSpPr/>
            <p:nvPr/>
          </p:nvSpPr>
          <p:spPr>
            <a:xfrm flipH="false" flipV="false" rot="0">
              <a:off x="0" y="0"/>
              <a:ext cx="1653794" cy="1950974"/>
            </a:xfrm>
            <a:custGeom>
              <a:avLst/>
              <a:gdLst/>
              <a:ahLst/>
              <a:cxnLst/>
              <a:rect r="r" b="b" t="t" l="l"/>
              <a:pathLst>
                <a:path h="1950974" w="1653794">
                  <a:moveTo>
                    <a:pt x="0" y="0"/>
                  </a:moveTo>
                  <a:lnTo>
                    <a:pt x="1653794" y="0"/>
                  </a:lnTo>
                  <a:lnTo>
                    <a:pt x="1653794" y="1950974"/>
                  </a:lnTo>
                  <a:lnTo>
                    <a:pt x="0" y="1950974"/>
                  </a:lnTo>
                  <a:lnTo>
                    <a:pt x="0" y="0"/>
                  </a:lnTo>
                  <a:close/>
                </a:path>
              </a:pathLst>
            </a:custGeom>
            <a:blipFill>
              <a:blip r:embed="rId3"/>
              <a:stretch>
                <a:fillRect l="0" t="-206" r="0" b="-209"/>
              </a:stretch>
            </a:blipFill>
          </p:spPr>
        </p:sp>
      </p:grpSp>
      <p:sp>
        <p:nvSpPr>
          <p:cNvPr name="TextBox 17" id="17"/>
          <p:cNvSpPr txBox="true"/>
          <p:nvPr/>
        </p:nvSpPr>
        <p:spPr>
          <a:xfrm rot="0">
            <a:off x="2480520" y="5595642"/>
            <a:ext cx="4255770" cy="368300"/>
          </a:xfrm>
          <a:prstGeom prst="rect">
            <a:avLst/>
          </a:prstGeom>
        </p:spPr>
        <p:txBody>
          <a:bodyPr anchor="t" rtlCol="false" tIns="0" lIns="0" bIns="0" rIns="0">
            <a:spAutoFit/>
          </a:bodyPr>
          <a:lstStyle/>
          <a:p>
            <a:pPr algn="l">
              <a:lnSpc>
                <a:spcPts val="2875"/>
              </a:lnSpc>
            </a:pPr>
            <a:r>
              <a:rPr lang="en-US" sz="2437" b="true">
                <a:solidFill>
                  <a:srgbClr val="303030"/>
                </a:solidFill>
                <a:latin typeface="Inter Bold"/>
                <a:ea typeface="Inter Bold"/>
                <a:cs typeface="Inter Bold"/>
                <a:sym typeface="Inter Bold"/>
              </a:rPr>
              <a:t>Hiệu quả với EfficientNet-B4</a:t>
            </a:r>
          </a:p>
        </p:txBody>
      </p:sp>
      <p:sp>
        <p:nvSpPr>
          <p:cNvPr name="TextBox 18" id="18"/>
          <p:cNvSpPr txBox="true"/>
          <p:nvPr/>
        </p:nvSpPr>
        <p:spPr>
          <a:xfrm rot="0">
            <a:off x="2480520" y="6078436"/>
            <a:ext cx="14815242" cy="658812"/>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Variant B4 cung cấp sự cân bằng lý tưởng: đủ sâu và rộng để phát hiện các artifact tinh vi của Deepfake, trong khi vẫn đủ nhẹ để </a:t>
            </a:r>
            <a:r>
              <a:rPr lang="en-US" sz="1937" b="true">
                <a:solidFill>
                  <a:srgbClr val="303030"/>
                </a:solidFill>
                <a:latin typeface="Inter Bold"/>
                <a:ea typeface="Inter Bold"/>
                <a:cs typeface="Inter Bold"/>
                <a:sym typeface="Inter Bold"/>
              </a:rPr>
              <a:t>quét cực nhanh các ảnh tĩnh</a:t>
            </a:r>
            <a:r>
              <a:rPr lang="en-US" sz="1937">
                <a:solidFill>
                  <a:srgbClr val="303030"/>
                </a:solidFill>
                <a:latin typeface="Inter"/>
                <a:ea typeface="Inter"/>
                <a:cs typeface="Inter"/>
                <a:sym typeface="Inter"/>
              </a:rPr>
              <a:t> trên server.</a:t>
            </a:r>
          </a:p>
        </p:txBody>
      </p:sp>
      <p:grpSp>
        <p:nvGrpSpPr>
          <p:cNvPr name="Group 19" id="19"/>
          <p:cNvGrpSpPr/>
          <p:nvPr/>
        </p:nvGrpSpPr>
        <p:grpSpPr>
          <a:xfrm rot="0">
            <a:off x="992238" y="7306866"/>
            <a:ext cx="1240336" cy="1463278"/>
            <a:chOff x="0" y="0"/>
            <a:chExt cx="1653781" cy="1951038"/>
          </a:xfrm>
        </p:grpSpPr>
        <p:sp>
          <p:nvSpPr>
            <p:cNvPr name="Freeform 20" id="20" descr="preencoded.png"/>
            <p:cNvSpPr/>
            <p:nvPr/>
          </p:nvSpPr>
          <p:spPr>
            <a:xfrm flipH="false" flipV="false" rot="0">
              <a:off x="0" y="0"/>
              <a:ext cx="1653794" cy="1950974"/>
            </a:xfrm>
            <a:custGeom>
              <a:avLst/>
              <a:gdLst/>
              <a:ahLst/>
              <a:cxnLst/>
              <a:rect r="r" b="b" t="t" l="l"/>
              <a:pathLst>
                <a:path h="1950974" w="1653794">
                  <a:moveTo>
                    <a:pt x="0" y="0"/>
                  </a:moveTo>
                  <a:lnTo>
                    <a:pt x="1653794" y="0"/>
                  </a:lnTo>
                  <a:lnTo>
                    <a:pt x="1653794" y="1950974"/>
                  </a:lnTo>
                  <a:lnTo>
                    <a:pt x="0" y="1950974"/>
                  </a:lnTo>
                  <a:lnTo>
                    <a:pt x="0" y="0"/>
                  </a:lnTo>
                  <a:close/>
                </a:path>
              </a:pathLst>
            </a:custGeom>
            <a:blipFill>
              <a:blip r:embed="rId4"/>
              <a:stretch>
                <a:fillRect l="0" t="-206" r="0" b="-209"/>
              </a:stretch>
            </a:blipFill>
          </p:spPr>
        </p:sp>
      </p:grpSp>
      <p:sp>
        <p:nvSpPr>
          <p:cNvPr name="TextBox 21" id="21"/>
          <p:cNvSpPr txBox="true"/>
          <p:nvPr/>
        </p:nvSpPr>
        <p:spPr>
          <a:xfrm rot="0">
            <a:off x="2480520" y="7306866"/>
            <a:ext cx="3876675" cy="368300"/>
          </a:xfrm>
          <a:prstGeom prst="rect">
            <a:avLst/>
          </a:prstGeom>
        </p:spPr>
        <p:txBody>
          <a:bodyPr anchor="t" rtlCol="false" tIns="0" lIns="0" bIns="0" rIns="0">
            <a:spAutoFit/>
          </a:bodyPr>
          <a:lstStyle/>
          <a:p>
            <a:pPr algn="l">
              <a:lnSpc>
                <a:spcPts val="2875"/>
              </a:lnSpc>
            </a:pPr>
            <a:r>
              <a:rPr lang="en-US" sz="2437" b="true">
                <a:solidFill>
                  <a:srgbClr val="303030"/>
                </a:solidFill>
                <a:latin typeface="Inter Bold"/>
                <a:ea typeface="Inter Bold"/>
                <a:cs typeface="Inter Bold"/>
                <a:sym typeface="Inter Bold"/>
              </a:rPr>
              <a:t>Fine-tuning cho Deepfake</a:t>
            </a:r>
          </a:p>
        </p:txBody>
      </p:sp>
      <p:sp>
        <p:nvSpPr>
          <p:cNvPr name="TextBox 22" id="22"/>
          <p:cNvSpPr txBox="true"/>
          <p:nvPr/>
        </p:nvSpPr>
        <p:spPr>
          <a:xfrm rot="0">
            <a:off x="2480520" y="7789659"/>
            <a:ext cx="14815242" cy="658812"/>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Mô hình được khởi tạo từ trọng số ImageNet pretrained, sau đó fine-tune trên FaceForensics++ với các kỹ thuật tăng cường dữ liệu chuyên biệt để tối đa hóa độ nhạy với các vùng giả mạo.</a:t>
            </a:r>
          </a:p>
        </p:txBody>
      </p:sp>
      <p:grpSp>
        <p:nvGrpSpPr>
          <p:cNvPr name="Group 23" id="23"/>
          <p:cNvGrpSpPr/>
          <p:nvPr/>
        </p:nvGrpSpPr>
        <p:grpSpPr>
          <a:xfrm rot="0">
            <a:off x="15989351" y="0"/>
            <a:ext cx="2212924" cy="2212924"/>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0" t="0" r="0" b="0"/>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377C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5F5F5"/>
            </a:solidFill>
          </p:spPr>
        </p:sp>
      </p:grpSp>
      <p:grpSp>
        <p:nvGrpSpPr>
          <p:cNvPr name="Group 6" id="6"/>
          <p:cNvGrpSpPr/>
          <p:nvPr/>
        </p:nvGrpSpPr>
        <p:grpSpPr>
          <a:xfrm rot="0">
            <a:off x="992238" y="786403"/>
            <a:ext cx="2494655" cy="293932"/>
            <a:chOff x="0" y="0"/>
            <a:chExt cx="3326206" cy="391909"/>
          </a:xfrm>
        </p:grpSpPr>
        <p:sp>
          <p:nvSpPr>
            <p:cNvPr name="Freeform 7" id="7"/>
            <p:cNvSpPr/>
            <p:nvPr/>
          </p:nvSpPr>
          <p:spPr>
            <a:xfrm flipH="false" flipV="false" rot="0">
              <a:off x="0" y="0"/>
              <a:ext cx="3326257" cy="392049"/>
            </a:xfrm>
            <a:custGeom>
              <a:avLst/>
              <a:gdLst/>
              <a:ahLst/>
              <a:cxnLst/>
              <a:rect r="r" b="b" t="t" l="l"/>
              <a:pathLst>
                <a:path h="392049" w="3326257">
                  <a:moveTo>
                    <a:pt x="0" y="178689"/>
                  </a:moveTo>
                  <a:cubicBezTo>
                    <a:pt x="0" y="80010"/>
                    <a:pt x="80010" y="0"/>
                    <a:pt x="178689" y="0"/>
                  </a:cubicBezTo>
                  <a:lnTo>
                    <a:pt x="3147568" y="0"/>
                  </a:lnTo>
                  <a:cubicBezTo>
                    <a:pt x="3246247" y="0"/>
                    <a:pt x="3326257" y="80010"/>
                    <a:pt x="3326257" y="178689"/>
                  </a:cubicBezTo>
                  <a:lnTo>
                    <a:pt x="3326257" y="213360"/>
                  </a:lnTo>
                  <a:cubicBezTo>
                    <a:pt x="3326257" y="312039"/>
                    <a:pt x="3246247" y="392049"/>
                    <a:pt x="3147568" y="392049"/>
                  </a:cubicBezTo>
                  <a:lnTo>
                    <a:pt x="178689" y="392049"/>
                  </a:lnTo>
                  <a:cubicBezTo>
                    <a:pt x="80010" y="391922"/>
                    <a:pt x="0" y="311912"/>
                    <a:pt x="0" y="213233"/>
                  </a:cubicBezTo>
                  <a:close/>
                </a:path>
              </a:pathLst>
            </a:custGeom>
            <a:solidFill>
              <a:srgbClr val="5678F0"/>
            </a:solidFill>
          </p:spPr>
        </p:sp>
      </p:grpSp>
      <p:sp>
        <p:nvSpPr>
          <p:cNvPr name="TextBox 8" id="8"/>
          <p:cNvSpPr txBox="true"/>
          <p:nvPr/>
        </p:nvSpPr>
        <p:spPr>
          <a:xfrm rot="0">
            <a:off x="1103862" y="832695"/>
            <a:ext cx="2163366" cy="177800"/>
          </a:xfrm>
          <a:prstGeom prst="rect">
            <a:avLst/>
          </a:prstGeom>
        </p:spPr>
        <p:txBody>
          <a:bodyPr anchor="t" rtlCol="false" tIns="0" lIns="0" bIns="0" rIns="0">
            <a:spAutoFit/>
          </a:bodyPr>
          <a:lstStyle/>
          <a:p>
            <a:pPr algn="l">
              <a:lnSpc>
                <a:spcPts val="1374"/>
              </a:lnSpc>
            </a:pPr>
            <a:r>
              <a:rPr lang="en-US" sz="1124">
                <a:solidFill>
                  <a:srgbClr val="FFFFFF"/>
                </a:solidFill>
                <a:latin typeface="Inter"/>
                <a:ea typeface="Inter"/>
                <a:cs typeface="Inter"/>
                <a:sym typeface="Inter"/>
              </a:rPr>
              <a:t>PHẦN 3: KIẾN TRÚC NÂNG CAO</a:t>
            </a:r>
          </a:p>
        </p:txBody>
      </p:sp>
      <p:sp>
        <p:nvSpPr>
          <p:cNvPr name="TextBox 9" id="9"/>
          <p:cNvSpPr txBox="true"/>
          <p:nvPr/>
        </p:nvSpPr>
        <p:spPr>
          <a:xfrm rot="0">
            <a:off x="992238" y="1136152"/>
            <a:ext cx="11981498" cy="549275"/>
          </a:xfrm>
          <a:prstGeom prst="rect">
            <a:avLst/>
          </a:prstGeom>
        </p:spPr>
        <p:txBody>
          <a:bodyPr anchor="t" rtlCol="false" tIns="0" lIns="0" bIns="0" rIns="0">
            <a:spAutoFit/>
          </a:bodyPr>
          <a:lstStyle/>
          <a:p>
            <a:pPr algn="l">
              <a:lnSpc>
                <a:spcPts val="4375"/>
              </a:lnSpc>
            </a:pPr>
            <a:r>
              <a:rPr lang="en-US" sz="3625" b="true">
                <a:solidFill>
                  <a:srgbClr val="5678F0"/>
                </a:solidFill>
                <a:latin typeface="Inter Bold"/>
                <a:ea typeface="Inter Bold"/>
                <a:cs typeface="Inter Bold"/>
                <a:sym typeface="Inter Bold"/>
              </a:rPr>
              <a:t>Mô hình Phân tích Thời gian — Advanced Architecture</a:t>
            </a:r>
          </a:p>
        </p:txBody>
      </p:sp>
      <p:sp>
        <p:nvSpPr>
          <p:cNvPr name="TextBox 10" id="10"/>
          <p:cNvSpPr txBox="true"/>
          <p:nvPr/>
        </p:nvSpPr>
        <p:spPr>
          <a:xfrm rot="0">
            <a:off x="992238" y="1894132"/>
            <a:ext cx="13347383" cy="225425"/>
          </a:xfrm>
          <a:prstGeom prst="rect">
            <a:avLst/>
          </a:prstGeom>
        </p:spPr>
        <p:txBody>
          <a:bodyPr anchor="t" rtlCol="false" tIns="0" lIns="0" bIns="0" rIns="0">
            <a:spAutoFit/>
          </a:bodyPr>
          <a:lstStyle/>
          <a:p>
            <a:pPr algn="l">
              <a:lnSpc>
                <a:spcPts val="1750"/>
              </a:lnSpc>
            </a:pPr>
            <a:r>
              <a:rPr lang="en-US" sz="1437">
                <a:solidFill>
                  <a:srgbClr val="303030"/>
                </a:solidFill>
                <a:latin typeface="Inter"/>
                <a:ea typeface="Inter"/>
                <a:cs typeface="Inter"/>
                <a:sym typeface="Inter"/>
              </a:rPr>
              <a:t>Vũ khí chuyên biệt chống lại Face2Face: kết hợp trích xuất đặc trưng không gian với phân tích chuỗi thời gian để phát hiện các lỗi vi mô trong video deepfake.</a:t>
            </a:r>
          </a:p>
        </p:txBody>
      </p:sp>
      <p:grpSp>
        <p:nvGrpSpPr>
          <p:cNvPr name="Group 11" id="11"/>
          <p:cNvGrpSpPr/>
          <p:nvPr/>
        </p:nvGrpSpPr>
        <p:grpSpPr>
          <a:xfrm rot="0">
            <a:off x="3080595" y="2288381"/>
            <a:ext cx="12126811" cy="5229377"/>
            <a:chOff x="0" y="0"/>
            <a:chExt cx="16169081" cy="6972503"/>
          </a:xfrm>
        </p:grpSpPr>
        <p:sp>
          <p:nvSpPr>
            <p:cNvPr name="Freeform 12" id="12" descr="preencoded.png"/>
            <p:cNvSpPr/>
            <p:nvPr/>
          </p:nvSpPr>
          <p:spPr>
            <a:xfrm flipH="false" flipV="false" rot="0">
              <a:off x="0" y="0"/>
              <a:ext cx="16169132" cy="6972554"/>
            </a:xfrm>
            <a:custGeom>
              <a:avLst/>
              <a:gdLst/>
              <a:ahLst/>
              <a:cxnLst/>
              <a:rect r="r" b="b" t="t" l="l"/>
              <a:pathLst>
                <a:path h="6972554" w="16169132">
                  <a:moveTo>
                    <a:pt x="0" y="0"/>
                  </a:moveTo>
                  <a:lnTo>
                    <a:pt x="16169132" y="0"/>
                  </a:lnTo>
                  <a:lnTo>
                    <a:pt x="16169132" y="6972554"/>
                  </a:lnTo>
                  <a:lnTo>
                    <a:pt x="0" y="6972554"/>
                  </a:lnTo>
                  <a:lnTo>
                    <a:pt x="0" y="0"/>
                  </a:lnTo>
                  <a:close/>
                </a:path>
              </a:pathLst>
            </a:custGeom>
            <a:blipFill>
              <a:blip r:embed="rId2"/>
              <a:stretch>
                <a:fillRect l="0" t="-4" r="0" b="-3"/>
              </a:stretch>
            </a:blipFill>
          </p:spPr>
        </p:sp>
      </p:grpSp>
      <p:sp>
        <p:nvSpPr>
          <p:cNvPr name="TextBox 13" id="13"/>
          <p:cNvSpPr txBox="true"/>
          <p:nvPr/>
        </p:nvSpPr>
        <p:spPr>
          <a:xfrm rot="0">
            <a:off x="3896592" y="6532950"/>
            <a:ext cx="2002155" cy="322262"/>
          </a:xfrm>
          <a:prstGeom prst="rect">
            <a:avLst/>
          </a:prstGeom>
        </p:spPr>
        <p:txBody>
          <a:bodyPr anchor="t" rtlCol="false" tIns="0" lIns="0" bIns="0" rIns="0">
            <a:spAutoFit/>
          </a:bodyPr>
          <a:lstStyle/>
          <a:p>
            <a:pPr algn="l">
              <a:lnSpc>
                <a:spcPts val="2562"/>
              </a:lnSpc>
            </a:pPr>
            <a:r>
              <a:rPr lang="en-US" sz="2125" b="true">
                <a:solidFill>
                  <a:srgbClr val="000000"/>
                </a:solidFill>
                <a:latin typeface="Inter Bold"/>
                <a:ea typeface="Inter Bold"/>
                <a:cs typeface="Inter Bold"/>
                <a:sym typeface="Inter Bold"/>
              </a:rPr>
              <a:t>Phân tích chuỗi</a:t>
            </a:r>
          </a:p>
        </p:txBody>
      </p:sp>
      <p:sp>
        <p:nvSpPr>
          <p:cNvPr name="TextBox 14" id="14"/>
          <p:cNvSpPr txBox="true"/>
          <p:nvPr/>
        </p:nvSpPr>
        <p:spPr>
          <a:xfrm rot="0">
            <a:off x="3896592" y="5322437"/>
            <a:ext cx="2332315" cy="322262"/>
          </a:xfrm>
          <a:prstGeom prst="rect">
            <a:avLst/>
          </a:prstGeom>
        </p:spPr>
        <p:txBody>
          <a:bodyPr anchor="t" rtlCol="false" tIns="0" lIns="0" bIns="0" rIns="0">
            <a:spAutoFit/>
          </a:bodyPr>
          <a:lstStyle/>
          <a:p>
            <a:pPr algn="l">
              <a:lnSpc>
                <a:spcPts val="2562"/>
              </a:lnSpc>
            </a:pPr>
            <a:r>
              <a:rPr lang="en-US" sz="2125" b="true">
                <a:solidFill>
                  <a:srgbClr val="000000"/>
                </a:solidFill>
                <a:latin typeface="Inter Bold"/>
                <a:ea typeface="Inter Bold"/>
                <a:cs typeface="Inter Bold"/>
                <a:sym typeface="Inter Bold"/>
              </a:rPr>
              <a:t>Kết hợp đặc trưng</a:t>
            </a:r>
          </a:p>
        </p:txBody>
      </p:sp>
      <p:sp>
        <p:nvSpPr>
          <p:cNvPr name="TextBox 15" id="15"/>
          <p:cNvSpPr txBox="true"/>
          <p:nvPr/>
        </p:nvSpPr>
        <p:spPr>
          <a:xfrm rot="0">
            <a:off x="3896592" y="4124144"/>
            <a:ext cx="2280404" cy="322262"/>
          </a:xfrm>
          <a:prstGeom prst="rect">
            <a:avLst/>
          </a:prstGeom>
        </p:spPr>
        <p:txBody>
          <a:bodyPr anchor="t" rtlCol="false" tIns="0" lIns="0" bIns="0" rIns="0">
            <a:spAutoFit/>
          </a:bodyPr>
          <a:lstStyle/>
          <a:p>
            <a:pPr algn="l">
              <a:lnSpc>
                <a:spcPts val="2562"/>
              </a:lnSpc>
            </a:pPr>
            <a:r>
              <a:rPr lang="en-US" sz="2125" b="true">
                <a:solidFill>
                  <a:srgbClr val="000000"/>
                </a:solidFill>
                <a:latin typeface="Inter Bold"/>
                <a:ea typeface="Inter Bold"/>
                <a:cs typeface="Inter Bold"/>
                <a:sym typeface="Inter Bold"/>
              </a:rPr>
              <a:t>Đánh giá cấu trúc</a:t>
            </a:r>
          </a:p>
        </p:txBody>
      </p:sp>
      <p:sp>
        <p:nvSpPr>
          <p:cNvPr name="TextBox 16" id="16"/>
          <p:cNvSpPr txBox="true"/>
          <p:nvPr/>
        </p:nvSpPr>
        <p:spPr>
          <a:xfrm rot="0">
            <a:off x="3896592" y="2913631"/>
            <a:ext cx="2252662" cy="322262"/>
          </a:xfrm>
          <a:prstGeom prst="rect">
            <a:avLst/>
          </a:prstGeom>
        </p:spPr>
        <p:txBody>
          <a:bodyPr anchor="t" rtlCol="false" tIns="0" lIns="0" bIns="0" rIns="0">
            <a:spAutoFit/>
          </a:bodyPr>
          <a:lstStyle/>
          <a:p>
            <a:pPr algn="l">
              <a:lnSpc>
                <a:spcPts val="2562"/>
              </a:lnSpc>
            </a:pPr>
            <a:r>
              <a:rPr lang="en-US" sz="2125" b="true">
                <a:solidFill>
                  <a:srgbClr val="000000"/>
                </a:solidFill>
                <a:latin typeface="Inter Bold"/>
                <a:ea typeface="Inter Bold"/>
                <a:cs typeface="Inter Bold"/>
                <a:sym typeface="Inter Bold"/>
              </a:rPr>
              <a:t>Trích xuất cục bộ</a:t>
            </a:r>
          </a:p>
        </p:txBody>
      </p:sp>
      <p:grpSp>
        <p:nvGrpSpPr>
          <p:cNvPr name="Group 17" id="17"/>
          <p:cNvGrpSpPr/>
          <p:nvPr/>
        </p:nvGrpSpPr>
        <p:grpSpPr>
          <a:xfrm rot="0">
            <a:off x="982713" y="7821959"/>
            <a:ext cx="7943850" cy="1531296"/>
            <a:chOff x="0" y="0"/>
            <a:chExt cx="10591800" cy="2041728"/>
          </a:xfrm>
        </p:grpSpPr>
        <p:sp>
          <p:nvSpPr>
            <p:cNvPr name="Freeform 18" id="18"/>
            <p:cNvSpPr/>
            <p:nvPr/>
          </p:nvSpPr>
          <p:spPr>
            <a:xfrm flipH="false" flipV="false" rot="0">
              <a:off x="12700" y="12700"/>
              <a:ext cx="10566400" cy="2016379"/>
            </a:xfrm>
            <a:custGeom>
              <a:avLst/>
              <a:gdLst/>
              <a:ahLst/>
              <a:cxnLst/>
              <a:rect r="r" b="b" t="t" l="l"/>
              <a:pathLst>
                <a:path h="2016379" w="10566400">
                  <a:moveTo>
                    <a:pt x="0" y="121920"/>
                  </a:moveTo>
                  <a:cubicBezTo>
                    <a:pt x="0" y="54610"/>
                    <a:pt x="55118" y="0"/>
                    <a:pt x="123190" y="0"/>
                  </a:cubicBezTo>
                  <a:lnTo>
                    <a:pt x="10443210" y="0"/>
                  </a:lnTo>
                  <a:cubicBezTo>
                    <a:pt x="10511282" y="0"/>
                    <a:pt x="10566400" y="54610"/>
                    <a:pt x="10566400" y="121920"/>
                  </a:cubicBezTo>
                  <a:lnTo>
                    <a:pt x="10566400" y="1894459"/>
                  </a:lnTo>
                  <a:cubicBezTo>
                    <a:pt x="10566400" y="1961769"/>
                    <a:pt x="10511282" y="2016379"/>
                    <a:pt x="10443210" y="2016379"/>
                  </a:cubicBezTo>
                  <a:lnTo>
                    <a:pt x="123190" y="2016379"/>
                  </a:lnTo>
                  <a:cubicBezTo>
                    <a:pt x="55118" y="2016379"/>
                    <a:pt x="0" y="1961769"/>
                    <a:pt x="0" y="1894459"/>
                  </a:cubicBezTo>
                  <a:close/>
                </a:path>
              </a:pathLst>
            </a:custGeom>
            <a:solidFill>
              <a:srgbClr val="F5F5F5"/>
            </a:solidFill>
          </p:spPr>
        </p:sp>
        <p:sp>
          <p:nvSpPr>
            <p:cNvPr name="Freeform 19" id="19"/>
            <p:cNvSpPr/>
            <p:nvPr/>
          </p:nvSpPr>
          <p:spPr>
            <a:xfrm flipH="false" flipV="false" rot="0">
              <a:off x="0" y="0"/>
              <a:ext cx="10591800" cy="2041779"/>
            </a:xfrm>
            <a:custGeom>
              <a:avLst/>
              <a:gdLst/>
              <a:ahLst/>
              <a:cxnLst/>
              <a:rect r="r" b="b" t="t" l="l"/>
              <a:pathLst>
                <a:path h="2041779" w="10591800">
                  <a:moveTo>
                    <a:pt x="0" y="134620"/>
                  </a:moveTo>
                  <a:cubicBezTo>
                    <a:pt x="0" y="60198"/>
                    <a:pt x="60960" y="0"/>
                    <a:pt x="135890" y="0"/>
                  </a:cubicBezTo>
                  <a:lnTo>
                    <a:pt x="10455910" y="0"/>
                  </a:lnTo>
                  <a:lnTo>
                    <a:pt x="10455910" y="12700"/>
                  </a:lnTo>
                  <a:lnTo>
                    <a:pt x="10455910" y="0"/>
                  </a:lnTo>
                  <a:cubicBezTo>
                    <a:pt x="10530840" y="0"/>
                    <a:pt x="10591800" y="60198"/>
                    <a:pt x="10591800" y="134620"/>
                  </a:cubicBezTo>
                  <a:lnTo>
                    <a:pt x="10579100" y="134620"/>
                  </a:lnTo>
                  <a:lnTo>
                    <a:pt x="10591800" y="134620"/>
                  </a:lnTo>
                  <a:lnTo>
                    <a:pt x="10591800" y="1907159"/>
                  </a:lnTo>
                  <a:lnTo>
                    <a:pt x="10579100" y="1907159"/>
                  </a:lnTo>
                  <a:lnTo>
                    <a:pt x="10591800" y="1907159"/>
                  </a:lnTo>
                  <a:cubicBezTo>
                    <a:pt x="10591800" y="1981581"/>
                    <a:pt x="10530840" y="2041779"/>
                    <a:pt x="10455910" y="2041779"/>
                  </a:cubicBezTo>
                  <a:lnTo>
                    <a:pt x="10455910" y="2029079"/>
                  </a:lnTo>
                  <a:lnTo>
                    <a:pt x="10455910" y="2041779"/>
                  </a:lnTo>
                  <a:lnTo>
                    <a:pt x="135890" y="2041779"/>
                  </a:lnTo>
                  <a:lnTo>
                    <a:pt x="135890" y="2029079"/>
                  </a:lnTo>
                  <a:lnTo>
                    <a:pt x="135890" y="2041779"/>
                  </a:lnTo>
                  <a:cubicBezTo>
                    <a:pt x="60960" y="2041779"/>
                    <a:pt x="0" y="1981581"/>
                    <a:pt x="0" y="1907159"/>
                  </a:cubicBezTo>
                  <a:lnTo>
                    <a:pt x="0" y="134620"/>
                  </a:lnTo>
                  <a:lnTo>
                    <a:pt x="12700" y="134620"/>
                  </a:lnTo>
                  <a:lnTo>
                    <a:pt x="0" y="134620"/>
                  </a:lnTo>
                  <a:moveTo>
                    <a:pt x="25400" y="134620"/>
                  </a:moveTo>
                  <a:lnTo>
                    <a:pt x="25400" y="1907159"/>
                  </a:lnTo>
                  <a:lnTo>
                    <a:pt x="12700" y="1907159"/>
                  </a:lnTo>
                  <a:lnTo>
                    <a:pt x="25400" y="1907159"/>
                  </a:lnTo>
                  <a:cubicBezTo>
                    <a:pt x="25400" y="1967357"/>
                    <a:pt x="74676" y="2016379"/>
                    <a:pt x="135890" y="2016379"/>
                  </a:cubicBezTo>
                  <a:lnTo>
                    <a:pt x="10455910" y="2016379"/>
                  </a:lnTo>
                  <a:cubicBezTo>
                    <a:pt x="10516997" y="2016379"/>
                    <a:pt x="10566400" y="1967357"/>
                    <a:pt x="10566400" y="1907159"/>
                  </a:cubicBezTo>
                  <a:lnTo>
                    <a:pt x="10566400" y="134620"/>
                  </a:lnTo>
                  <a:cubicBezTo>
                    <a:pt x="10566400" y="74422"/>
                    <a:pt x="10517124" y="25400"/>
                    <a:pt x="10455910" y="25400"/>
                  </a:cubicBezTo>
                  <a:lnTo>
                    <a:pt x="135890" y="25400"/>
                  </a:lnTo>
                  <a:lnTo>
                    <a:pt x="135890" y="12700"/>
                  </a:lnTo>
                  <a:lnTo>
                    <a:pt x="135890" y="25400"/>
                  </a:lnTo>
                  <a:cubicBezTo>
                    <a:pt x="74676" y="25400"/>
                    <a:pt x="25400" y="74422"/>
                    <a:pt x="25400" y="134620"/>
                  </a:cubicBezTo>
                  <a:close/>
                </a:path>
              </a:pathLst>
            </a:custGeom>
            <a:solidFill>
              <a:srgbClr val="5678F0"/>
            </a:solidFill>
          </p:spPr>
        </p:sp>
      </p:grpSp>
      <p:grpSp>
        <p:nvGrpSpPr>
          <p:cNvPr name="Group 20" id="20"/>
          <p:cNvGrpSpPr/>
          <p:nvPr/>
        </p:nvGrpSpPr>
        <p:grpSpPr>
          <a:xfrm rot="0">
            <a:off x="973188" y="7831484"/>
            <a:ext cx="76200" cy="1512246"/>
            <a:chOff x="0" y="0"/>
            <a:chExt cx="101600" cy="2016328"/>
          </a:xfrm>
        </p:grpSpPr>
        <p:sp>
          <p:nvSpPr>
            <p:cNvPr name="Freeform 21" id="21"/>
            <p:cNvSpPr/>
            <p:nvPr/>
          </p:nvSpPr>
          <p:spPr>
            <a:xfrm flipH="false" flipV="false" rot="0">
              <a:off x="0" y="0"/>
              <a:ext cx="101600" cy="2016379"/>
            </a:xfrm>
            <a:custGeom>
              <a:avLst/>
              <a:gdLst/>
              <a:ahLst/>
              <a:cxnLst/>
              <a:rect r="r" b="b" t="t" l="l"/>
              <a:pathLst>
                <a:path h="2016379" w="101600">
                  <a:moveTo>
                    <a:pt x="0" y="50800"/>
                  </a:moveTo>
                  <a:cubicBezTo>
                    <a:pt x="0" y="22733"/>
                    <a:pt x="22733" y="0"/>
                    <a:pt x="50800" y="0"/>
                  </a:cubicBezTo>
                  <a:cubicBezTo>
                    <a:pt x="78867" y="0"/>
                    <a:pt x="101600" y="22733"/>
                    <a:pt x="101600" y="50800"/>
                  </a:cubicBezTo>
                  <a:lnTo>
                    <a:pt x="101600" y="1965579"/>
                  </a:lnTo>
                  <a:cubicBezTo>
                    <a:pt x="101600" y="1993646"/>
                    <a:pt x="78867" y="2016379"/>
                    <a:pt x="50800" y="2016379"/>
                  </a:cubicBezTo>
                  <a:cubicBezTo>
                    <a:pt x="22733" y="2016379"/>
                    <a:pt x="0" y="1993646"/>
                    <a:pt x="0" y="1965579"/>
                  </a:cubicBezTo>
                  <a:close/>
                </a:path>
              </a:pathLst>
            </a:custGeom>
            <a:solidFill>
              <a:srgbClr val="5678F0"/>
            </a:solidFill>
          </p:spPr>
        </p:sp>
      </p:grpSp>
      <p:sp>
        <p:nvSpPr>
          <p:cNvPr name="TextBox 22" id="22"/>
          <p:cNvSpPr txBox="true"/>
          <p:nvPr/>
        </p:nvSpPr>
        <p:spPr>
          <a:xfrm rot="0">
            <a:off x="1254471" y="8036566"/>
            <a:ext cx="2002274" cy="274638"/>
          </a:xfrm>
          <a:prstGeom prst="rect">
            <a:avLst/>
          </a:prstGeom>
        </p:spPr>
        <p:txBody>
          <a:bodyPr anchor="t" rtlCol="false" tIns="0" lIns="0" bIns="0" rIns="0">
            <a:spAutoFit/>
          </a:bodyPr>
          <a:lstStyle/>
          <a:p>
            <a:pPr algn="l">
              <a:lnSpc>
                <a:spcPts val="2187"/>
              </a:lnSpc>
            </a:pPr>
            <a:r>
              <a:rPr lang="en-US" sz="1812" b="true">
                <a:solidFill>
                  <a:srgbClr val="303030"/>
                </a:solidFill>
                <a:latin typeface="Inter Bold"/>
                <a:ea typeface="Inter Bold"/>
                <a:cs typeface="Inter Bold"/>
                <a:sym typeface="Inter Bold"/>
              </a:rPr>
              <a:t>Swin Transformer</a:t>
            </a:r>
          </a:p>
        </p:txBody>
      </p:sp>
      <p:sp>
        <p:nvSpPr>
          <p:cNvPr name="TextBox 23" id="23"/>
          <p:cNvSpPr txBox="true"/>
          <p:nvPr/>
        </p:nvSpPr>
        <p:spPr>
          <a:xfrm rot="0">
            <a:off x="1254471" y="8445551"/>
            <a:ext cx="7457484" cy="663575"/>
          </a:xfrm>
          <a:prstGeom prst="rect">
            <a:avLst/>
          </a:prstGeom>
        </p:spPr>
        <p:txBody>
          <a:bodyPr anchor="t" rtlCol="false" tIns="0" lIns="0" bIns="0" rIns="0">
            <a:spAutoFit/>
          </a:bodyPr>
          <a:lstStyle/>
          <a:p>
            <a:pPr algn="l">
              <a:lnSpc>
                <a:spcPts val="1750"/>
              </a:lnSpc>
            </a:pPr>
            <a:r>
              <a:rPr lang="en-US" sz="1437">
                <a:solidFill>
                  <a:srgbClr val="303030"/>
                </a:solidFill>
                <a:latin typeface="Inter"/>
                <a:ea typeface="Inter"/>
                <a:cs typeface="Inter"/>
                <a:sym typeface="Inter"/>
              </a:rPr>
              <a:t>Đánh giá </a:t>
            </a:r>
            <a:r>
              <a:rPr lang="en-US" sz="1437" b="true">
                <a:solidFill>
                  <a:srgbClr val="303030"/>
                </a:solidFill>
                <a:latin typeface="Inter Bold"/>
                <a:ea typeface="Inter Bold"/>
                <a:cs typeface="Inter Bold"/>
                <a:sym typeface="Inter Bold"/>
              </a:rPr>
              <a:t>cấu trúc tổng quát</a:t>
            </a:r>
            <a:r>
              <a:rPr lang="en-US" sz="1437">
                <a:solidFill>
                  <a:srgbClr val="303030"/>
                </a:solidFill>
                <a:latin typeface="Inter"/>
                <a:ea typeface="Inter"/>
                <a:cs typeface="Inter"/>
                <a:sym typeface="Inter"/>
              </a:rPr>
              <a:t> của khung hình nhờ cơ chế </a:t>
            </a:r>
            <a:r>
              <a:rPr lang="en-US" sz="1437" b="true">
                <a:solidFill>
                  <a:srgbClr val="303030"/>
                </a:solidFill>
                <a:latin typeface="Inter Bold"/>
                <a:ea typeface="Inter Bold"/>
                <a:cs typeface="Inter Bold"/>
                <a:sym typeface="Inter Bold"/>
              </a:rPr>
              <a:t>cửa sổ dịch chuyển (shifted window)</a:t>
            </a:r>
            <a:r>
              <a:rPr lang="en-US" sz="1437">
                <a:solidFill>
                  <a:srgbClr val="303030"/>
                </a:solidFill>
                <a:latin typeface="Inter"/>
                <a:ea typeface="Inter"/>
                <a:cs typeface="Inter"/>
                <a:sym typeface="Inter"/>
              </a:rPr>
              <a:t>, giúp nắm bắt mối quan hệ giữa các vùng xa nhau trong ảnh mà EfficientNet bỏ sót.</a:t>
            </a:r>
          </a:p>
        </p:txBody>
      </p:sp>
      <p:grpSp>
        <p:nvGrpSpPr>
          <p:cNvPr name="Group 24" id="24"/>
          <p:cNvGrpSpPr/>
          <p:nvPr/>
        </p:nvGrpSpPr>
        <p:grpSpPr>
          <a:xfrm rot="0">
            <a:off x="9370962" y="7821959"/>
            <a:ext cx="7943850" cy="1531296"/>
            <a:chOff x="0" y="0"/>
            <a:chExt cx="10591800" cy="2041728"/>
          </a:xfrm>
        </p:grpSpPr>
        <p:sp>
          <p:nvSpPr>
            <p:cNvPr name="Freeform 25" id="25"/>
            <p:cNvSpPr/>
            <p:nvPr/>
          </p:nvSpPr>
          <p:spPr>
            <a:xfrm flipH="false" flipV="false" rot="0">
              <a:off x="12700" y="12700"/>
              <a:ext cx="10566400" cy="2016379"/>
            </a:xfrm>
            <a:custGeom>
              <a:avLst/>
              <a:gdLst/>
              <a:ahLst/>
              <a:cxnLst/>
              <a:rect r="r" b="b" t="t" l="l"/>
              <a:pathLst>
                <a:path h="2016379" w="10566400">
                  <a:moveTo>
                    <a:pt x="0" y="121920"/>
                  </a:moveTo>
                  <a:cubicBezTo>
                    <a:pt x="0" y="54610"/>
                    <a:pt x="55118" y="0"/>
                    <a:pt x="123190" y="0"/>
                  </a:cubicBezTo>
                  <a:lnTo>
                    <a:pt x="10443210" y="0"/>
                  </a:lnTo>
                  <a:cubicBezTo>
                    <a:pt x="10511282" y="0"/>
                    <a:pt x="10566400" y="54610"/>
                    <a:pt x="10566400" y="121920"/>
                  </a:cubicBezTo>
                  <a:lnTo>
                    <a:pt x="10566400" y="1894459"/>
                  </a:lnTo>
                  <a:cubicBezTo>
                    <a:pt x="10566400" y="1961769"/>
                    <a:pt x="10511282" y="2016379"/>
                    <a:pt x="10443210" y="2016379"/>
                  </a:cubicBezTo>
                  <a:lnTo>
                    <a:pt x="123190" y="2016379"/>
                  </a:lnTo>
                  <a:cubicBezTo>
                    <a:pt x="55118" y="2016379"/>
                    <a:pt x="0" y="1961769"/>
                    <a:pt x="0" y="1894459"/>
                  </a:cubicBezTo>
                  <a:close/>
                </a:path>
              </a:pathLst>
            </a:custGeom>
            <a:solidFill>
              <a:srgbClr val="F5F5F5"/>
            </a:solidFill>
          </p:spPr>
        </p:sp>
        <p:sp>
          <p:nvSpPr>
            <p:cNvPr name="Freeform 26" id="26"/>
            <p:cNvSpPr/>
            <p:nvPr/>
          </p:nvSpPr>
          <p:spPr>
            <a:xfrm flipH="false" flipV="false" rot="0">
              <a:off x="0" y="0"/>
              <a:ext cx="10591800" cy="2041779"/>
            </a:xfrm>
            <a:custGeom>
              <a:avLst/>
              <a:gdLst/>
              <a:ahLst/>
              <a:cxnLst/>
              <a:rect r="r" b="b" t="t" l="l"/>
              <a:pathLst>
                <a:path h="2041779" w="10591800">
                  <a:moveTo>
                    <a:pt x="0" y="134620"/>
                  </a:moveTo>
                  <a:cubicBezTo>
                    <a:pt x="0" y="60198"/>
                    <a:pt x="60960" y="0"/>
                    <a:pt x="135890" y="0"/>
                  </a:cubicBezTo>
                  <a:lnTo>
                    <a:pt x="10455910" y="0"/>
                  </a:lnTo>
                  <a:lnTo>
                    <a:pt x="10455910" y="12700"/>
                  </a:lnTo>
                  <a:lnTo>
                    <a:pt x="10455910" y="0"/>
                  </a:lnTo>
                  <a:cubicBezTo>
                    <a:pt x="10530840" y="0"/>
                    <a:pt x="10591800" y="60198"/>
                    <a:pt x="10591800" y="134620"/>
                  </a:cubicBezTo>
                  <a:lnTo>
                    <a:pt x="10579100" y="134620"/>
                  </a:lnTo>
                  <a:lnTo>
                    <a:pt x="10591800" y="134620"/>
                  </a:lnTo>
                  <a:lnTo>
                    <a:pt x="10591800" y="1907159"/>
                  </a:lnTo>
                  <a:lnTo>
                    <a:pt x="10579100" y="1907159"/>
                  </a:lnTo>
                  <a:lnTo>
                    <a:pt x="10591800" y="1907159"/>
                  </a:lnTo>
                  <a:cubicBezTo>
                    <a:pt x="10591800" y="1981581"/>
                    <a:pt x="10530840" y="2041779"/>
                    <a:pt x="10455910" y="2041779"/>
                  </a:cubicBezTo>
                  <a:lnTo>
                    <a:pt x="10455910" y="2029079"/>
                  </a:lnTo>
                  <a:lnTo>
                    <a:pt x="10455910" y="2041779"/>
                  </a:lnTo>
                  <a:lnTo>
                    <a:pt x="135890" y="2041779"/>
                  </a:lnTo>
                  <a:lnTo>
                    <a:pt x="135890" y="2029079"/>
                  </a:lnTo>
                  <a:lnTo>
                    <a:pt x="135890" y="2041779"/>
                  </a:lnTo>
                  <a:cubicBezTo>
                    <a:pt x="60960" y="2041779"/>
                    <a:pt x="0" y="1981581"/>
                    <a:pt x="0" y="1907159"/>
                  </a:cubicBezTo>
                  <a:lnTo>
                    <a:pt x="0" y="134620"/>
                  </a:lnTo>
                  <a:lnTo>
                    <a:pt x="12700" y="134620"/>
                  </a:lnTo>
                  <a:lnTo>
                    <a:pt x="0" y="134620"/>
                  </a:lnTo>
                  <a:moveTo>
                    <a:pt x="25400" y="134620"/>
                  </a:moveTo>
                  <a:lnTo>
                    <a:pt x="25400" y="1907159"/>
                  </a:lnTo>
                  <a:lnTo>
                    <a:pt x="12700" y="1907159"/>
                  </a:lnTo>
                  <a:lnTo>
                    <a:pt x="25400" y="1907159"/>
                  </a:lnTo>
                  <a:cubicBezTo>
                    <a:pt x="25400" y="1967357"/>
                    <a:pt x="74676" y="2016379"/>
                    <a:pt x="135890" y="2016379"/>
                  </a:cubicBezTo>
                  <a:lnTo>
                    <a:pt x="10455910" y="2016379"/>
                  </a:lnTo>
                  <a:cubicBezTo>
                    <a:pt x="10516997" y="2016379"/>
                    <a:pt x="10566400" y="1967357"/>
                    <a:pt x="10566400" y="1907159"/>
                  </a:cubicBezTo>
                  <a:lnTo>
                    <a:pt x="10566400" y="134620"/>
                  </a:lnTo>
                  <a:cubicBezTo>
                    <a:pt x="10566400" y="74422"/>
                    <a:pt x="10517124" y="25400"/>
                    <a:pt x="10455910" y="25400"/>
                  </a:cubicBezTo>
                  <a:lnTo>
                    <a:pt x="135890" y="25400"/>
                  </a:lnTo>
                  <a:lnTo>
                    <a:pt x="135890" y="12700"/>
                  </a:lnTo>
                  <a:lnTo>
                    <a:pt x="135890" y="25400"/>
                  </a:lnTo>
                  <a:cubicBezTo>
                    <a:pt x="74676" y="25400"/>
                    <a:pt x="25400" y="74422"/>
                    <a:pt x="25400" y="134620"/>
                  </a:cubicBezTo>
                  <a:close/>
                </a:path>
              </a:pathLst>
            </a:custGeom>
            <a:solidFill>
              <a:srgbClr val="948BE2"/>
            </a:solidFill>
          </p:spPr>
        </p:sp>
      </p:grpSp>
      <p:grpSp>
        <p:nvGrpSpPr>
          <p:cNvPr name="Group 27" id="27"/>
          <p:cNvGrpSpPr/>
          <p:nvPr/>
        </p:nvGrpSpPr>
        <p:grpSpPr>
          <a:xfrm rot="0">
            <a:off x="9361437" y="7831484"/>
            <a:ext cx="76200" cy="1512246"/>
            <a:chOff x="0" y="0"/>
            <a:chExt cx="101600" cy="2016328"/>
          </a:xfrm>
        </p:grpSpPr>
        <p:sp>
          <p:nvSpPr>
            <p:cNvPr name="Freeform 28" id="28"/>
            <p:cNvSpPr/>
            <p:nvPr/>
          </p:nvSpPr>
          <p:spPr>
            <a:xfrm flipH="false" flipV="false" rot="0">
              <a:off x="0" y="0"/>
              <a:ext cx="101600" cy="2016379"/>
            </a:xfrm>
            <a:custGeom>
              <a:avLst/>
              <a:gdLst/>
              <a:ahLst/>
              <a:cxnLst/>
              <a:rect r="r" b="b" t="t" l="l"/>
              <a:pathLst>
                <a:path h="2016379" w="101600">
                  <a:moveTo>
                    <a:pt x="0" y="50800"/>
                  </a:moveTo>
                  <a:cubicBezTo>
                    <a:pt x="0" y="22733"/>
                    <a:pt x="22733" y="0"/>
                    <a:pt x="50800" y="0"/>
                  </a:cubicBezTo>
                  <a:cubicBezTo>
                    <a:pt x="78867" y="0"/>
                    <a:pt x="101600" y="22733"/>
                    <a:pt x="101600" y="50800"/>
                  </a:cubicBezTo>
                  <a:lnTo>
                    <a:pt x="101600" y="1965579"/>
                  </a:lnTo>
                  <a:cubicBezTo>
                    <a:pt x="101600" y="1993646"/>
                    <a:pt x="78867" y="2016379"/>
                    <a:pt x="50800" y="2016379"/>
                  </a:cubicBezTo>
                  <a:cubicBezTo>
                    <a:pt x="22733" y="2016379"/>
                    <a:pt x="0" y="1993646"/>
                    <a:pt x="0" y="1965579"/>
                  </a:cubicBezTo>
                  <a:close/>
                </a:path>
              </a:pathLst>
            </a:custGeom>
            <a:solidFill>
              <a:srgbClr val="948BE2"/>
            </a:solidFill>
          </p:spPr>
        </p:sp>
      </p:grpSp>
      <p:sp>
        <p:nvSpPr>
          <p:cNvPr name="TextBox 29" id="29"/>
          <p:cNvSpPr txBox="true"/>
          <p:nvPr/>
        </p:nvSpPr>
        <p:spPr>
          <a:xfrm rot="0">
            <a:off x="9642719" y="8036566"/>
            <a:ext cx="3495794" cy="274638"/>
          </a:xfrm>
          <a:prstGeom prst="rect">
            <a:avLst/>
          </a:prstGeom>
        </p:spPr>
        <p:txBody>
          <a:bodyPr anchor="t" rtlCol="false" tIns="0" lIns="0" bIns="0" rIns="0">
            <a:spAutoFit/>
          </a:bodyPr>
          <a:lstStyle/>
          <a:p>
            <a:pPr algn="l">
              <a:lnSpc>
                <a:spcPts val="2187"/>
              </a:lnSpc>
            </a:pPr>
            <a:r>
              <a:rPr lang="en-US" sz="1812" b="true">
                <a:solidFill>
                  <a:srgbClr val="303030"/>
                </a:solidFill>
                <a:latin typeface="Inter Bold"/>
                <a:ea typeface="Inter Bold"/>
                <a:cs typeface="Inter Bold"/>
                <a:sym typeface="Inter Bold"/>
              </a:rPr>
              <a:t>Bi-LSTM (Chuỗi 10 Khung Hình)</a:t>
            </a:r>
          </a:p>
        </p:txBody>
      </p:sp>
      <p:sp>
        <p:nvSpPr>
          <p:cNvPr name="TextBox 30" id="30"/>
          <p:cNvSpPr txBox="true"/>
          <p:nvPr/>
        </p:nvSpPr>
        <p:spPr>
          <a:xfrm rot="0">
            <a:off x="9642719" y="8445551"/>
            <a:ext cx="7457484" cy="444500"/>
          </a:xfrm>
          <a:prstGeom prst="rect">
            <a:avLst/>
          </a:prstGeom>
        </p:spPr>
        <p:txBody>
          <a:bodyPr anchor="t" rtlCol="false" tIns="0" lIns="0" bIns="0" rIns="0">
            <a:spAutoFit/>
          </a:bodyPr>
          <a:lstStyle/>
          <a:p>
            <a:pPr algn="l">
              <a:lnSpc>
                <a:spcPts val="1750"/>
              </a:lnSpc>
            </a:pPr>
            <a:r>
              <a:rPr lang="en-US" sz="1437">
                <a:solidFill>
                  <a:srgbClr val="303030"/>
                </a:solidFill>
                <a:latin typeface="Inter"/>
                <a:ea typeface="Inter"/>
                <a:cs typeface="Inter"/>
                <a:sym typeface="Inter"/>
              </a:rPr>
              <a:t>Phân tích </a:t>
            </a:r>
            <a:r>
              <a:rPr lang="en-US" sz="1437" b="true">
                <a:solidFill>
                  <a:srgbClr val="303030"/>
                </a:solidFill>
                <a:latin typeface="Inter Bold"/>
                <a:ea typeface="Inter Bold"/>
                <a:cs typeface="Inter Bold"/>
                <a:sym typeface="Inter Bold"/>
              </a:rPr>
              <a:t>luồng thời gian hai chiều</a:t>
            </a:r>
            <a:r>
              <a:rPr lang="en-US" sz="1437">
                <a:solidFill>
                  <a:srgbClr val="303030"/>
                </a:solidFill>
                <a:latin typeface="Inter"/>
                <a:ea typeface="Inter"/>
                <a:cs typeface="Inter"/>
                <a:sym typeface="Inter"/>
              </a:rPr>
              <a:t> trên chuỗi 10 khung hình liên tiếp, bắt lỗi </a:t>
            </a:r>
            <a:r>
              <a:rPr lang="en-US" sz="1437" b="true">
                <a:solidFill>
                  <a:srgbClr val="303030"/>
                </a:solidFill>
                <a:latin typeface="Inter Bold"/>
                <a:ea typeface="Inter Bold"/>
                <a:cs typeface="Inter Bold"/>
                <a:sym typeface="Inter Bold"/>
              </a:rPr>
              <a:t>nhấp nháy mắt bất thường</a:t>
            </a:r>
            <a:r>
              <a:rPr lang="en-US" sz="1437">
                <a:solidFill>
                  <a:srgbClr val="303030"/>
                </a:solidFill>
                <a:latin typeface="Inter"/>
                <a:ea typeface="Inter"/>
                <a:cs typeface="Inter"/>
                <a:sym typeface="Inter"/>
              </a:rPr>
              <a:t> và </a:t>
            </a:r>
            <a:r>
              <a:rPr lang="en-US" sz="1437" b="true">
                <a:solidFill>
                  <a:srgbClr val="303030"/>
                </a:solidFill>
                <a:latin typeface="Inter Bold"/>
                <a:ea typeface="Inter Bold"/>
                <a:cs typeface="Inter Bold"/>
                <a:sym typeface="Inter Bold"/>
              </a:rPr>
              <a:t>giật môi không tự nhiên</a:t>
            </a:r>
            <a:r>
              <a:rPr lang="en-US" sz="1437">
                <a:solidFill>
                  <a:srgbClr val="303030"/>
                </a:solidFill>
                <a:latin typeface="Inter"/>
                <a:ea typeface="Inter"/>
                <a:cs typeface="Inter"/>
                <a:sym typeface="Inter"/>
              </a:rPr>
              <a:t> — dấu hiệu đặc trưng của Face2Face.</a:t>
            </a:r>
          </a:p>
        </p:txBody>
      </p:sp>
      <p:grpSp>
        <p:nvGrpSpPr>
          <p:cNvPr name="Group 31" id="31"/>
          <p:cNvGrpSpPr/>
          <p:nvPr/>
        </p:nvGrpSpPr>
        <p:grpSpPr>
          <a:xfrm rot="0">
            <a:off x="15989351" y="0"/>
            <a:ext cx="2212924" cy="2212924"/>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0" r="0" b="0"/>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377C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5F5F5"/>
            </a:solidFill>
          </p:spPr>
        </p:sp>
      </p:grpSp>
      <p:grpSp>
        <p:nvGrpSpPr>
          <p:cNvPr name="Group 6" id="6"/>
          <p:cNvGrpSpPr/>
          <p:nvPr/>
        </p:nvGrpSpPr>
        <p:grpSpPr>
          <a:xfrm rot="0">
            <a:off x="992238" y="1049836"/>
            <a:ext cx="3651799" cy="426691"/>
            <a:chOff x="0" y="0"/>
            <a:chExt cx="4869066" cy="568922"/>
          </a:xfrm>
        </p:grpSpPr>
        <p:sp>
          <p:nvSpPr>
            <p:cNvPr name="Freeform 7" id="7"/>
            <p:cNvSpPr/>
            <p:nvPr/>
          </p:nvSpPr>
          <p:spPr>
            <a:xfrm flipH="false" flipV="false" rot="0">
              <a:off x="0" y="0"/>
              <a:ext cx="4869053" cy="568833"/>
            </a:xfrm>
            <a:custGeom>
              <a:avLst/>
              <a:gdLst/>
              <a:ahLst/>
              <a:cxnLst/>
              <a:rect r="r" b="b" t="t" l="l"/>
              <a:pathLst>
                <a:path h="568833" w="4869053">
                  <a:moveTo>
                    <a:pt x="0" y="238125"/>
                  </a:moveTo>
                  <a:cubicBezTo>
                    <a:pt x="0" y="106680"/>
                    <a:pt x="106680" y="0"/>
                    <a:pt x="238125" y="0"/>
                  </a:cubicBezTo>
                  <a:lnTo>
                    <a:pt x="4630928" y="0"/>
                  </a:lnTo>
                  <a:cubicBezTo>
                    <a:pt x="4762500" y="0"/>
                    <a:pt x="4869053" y="106680"/>
                    <a:pt x="4869053" y="238125"/>
                  </a:cubicBezTo>
                  <a:lnTo>
                    <a:pt x="4869053" y="330708"/>
                  </a:lnTo>
                  <a:cubicBezTo>
                    <a:pt x="4869053" y="462280"/>
                    <a:pt x="4762373" y="568833"/>
                    <a:pt x="4630928" y="568833"/>
                  </a:cubicBezTo>
                  <a:lnTo>
                    <a:pt x="238125" y="568833"/>
                  </a:lnTo>
                  <a:cubicBezTo>
                    <a:pt x="106680" y="568960"/>
                    <a:pt x="0" y="462280"/>
                    <a:pt x="0" y="330708"/>
                  </a:cubicBezTo>
                  <a:close/>
                </a:path>
              </a:pathLst>
            </a:custGeom>
            <a:solidFill>
              <a:srgbClr val="5678F0"/>
            </a:solidFill>
          </p:spPr>
        </p:sp>
      </p:grpSp>
      <p:sp>
        <p:nvSpPr>
          <p:cNvPr name="TextBox 8" id="8"/>
          <p:cNvSpPr txBox="true"/>
          <p:nvPr/>
        </p:nvSpPr>
        <p:spPr>
          <a:xfrm rot="0">
            <a:off x="1141066" y="1095670"/>
            <a:ext cx="3354143" cy="265113"/>
          </a:xfrm>
          <a:prstGeom prst="rect">
            <a:avLst/>
          </a:prstGeom>
        </p:spPr>
        <p:txBody>
          <a:bodyPr anchor="t" rtlCol="false" tIns="0" lIns="0" bIns="0" rIns="0">
            <a:spAutoFit/>
          </a:bodyPr>
          <a:lstStyle/>
          <a:p>
            <a:pPr algn="l">
              <a:lnSpc>
                <a:spcPts val="2187"/>
              </a:lnSpc>
            </a:pPr>
            <a:r>
              <a:rPr lang="en-US" sz="1562">
                <a:solidFill>
                  <a:srgbClr val="FFFFFF"/>
                </a:solidFill>
                <a:latin typeface="Inter"/>
                <a:ea typeface="Inter"/>
                <a:cs typeface="Inter"/>
                <a:sym typeface="Inter"/>
              </a:rPr>
              <a:t>PHẦN 4: HUẤN LUYỆN &amp; ĐÁNH GIÁ</a:t>
            </a:r>
          </a:p>
        </p:txBody>
      </p:sp>
      <p:sp>
        <p:nvSpPr>
          <p:cNvPr name="TextBox 9" id="9"/>
          <p:cNvSpPr txBox="true"/>
          <p:nvPr/>
        </p:nvSpPr>
        <p:spPr>
          <a:xfrm rot="0">
            <a:off x="992238" y="1575645"/>
            <a:ext cx="10087452" cy="738188"/>
          </a:xfrm>
          <a:prstGeom prst="rect">
            <a:avLst/>
          </a:prstGeom>
        </p:spPr>
        <p:txBody>
          <a:bodyPr anchor="t" rtlCol="false" tIns="0" lIns="0" bIns="0" rIns="0">
            <a:spAutoFit/>
          </a:bodyPr>
          <a:lstStyle/>
          <a:p>
            <a:pPr algn="l">
              <a:lnSpc>
                <a:spcPts val="5812"/>
              </a:lnSpc>
            </a:pPr>
            <a:r>
              <a:rPr lang="en-US" sz="4875" b="true">
                <a:solidFill>
                  <a:srgbClr val="5678F0"/>
                </a:solidFill>
                <a:latin typeface="Inter Bold"/>
                <a:ea typeface="Inter Bold"/>
                <a:cs typeface="Inter Bold"/>
                <a:sym typeface="Inter Bold"/>
              </a:rPr>
              <a:t>Thiết lập &amp; Môi trường Huấn luyện</a:t>
            </a:r>
          </a:p>
        </p:txBody>
      </p:sp>
      <p:sp>
        <p:nvSpPr>
          <p:cNvPr name="TextBox 10" id="10"/>
          <p:cNvSpPr txBox="true"/>
          <p:nvPr/>
        </p:nvSpPr>
        <p:spPr>
          <a:xfrm rot="0">
            <a:off x="992238" y="2653751"/>
            <a:ext cx="16303523"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Cấu hình siêu tham số được tối ưu hóa nhằm đảm bảo quá trình hội tụ ổn định và chống Overfitting hiệu quả.</a:t>
            </a:r>
          </a:p>
        </p:txBody>
      </p:sp>
      <p:sp>
        <p:nvSpPr>
          <p:cNvPr name="TextBox 11" id="11"/>
          <p:cNvSpPr txBox="true"/>
          <p:nvPr/>
        </p:nvSpPr>
        <p:spPr>
          <a:xfrm rot="0">
            <a:off x="992238" y="3547024"/>
            <a:ext cx="5870615" cy="450850"/>
          </a:xfrm>
          <a:prstGeom prst="rect">
            <a:avLst/>
          </a:prstGeom>
        </p:spPr>
        <p:txBody>
          <a:bodyPr anchor="t" rtlCol="false" tIns="0" lIns="0" bIns="0" rIns="0">
            <a:spAutoFit/>
          </a:bodyPr>
          <a:lstStyle/>
          <a:p>
            <a:pPr algn="l">
              <a:lnSpc>
                <a:spcPts val="3500"/>
              </a:lnSpc>
            </a:pPr>
            <a:r>
              <a:rPr lang="en-US" sz="2874" b="true">
                <a:solidFill>
                  <a:srgbClr val="5678F0"/>
                </a:solidFill>
                <a:latin typeface="Inter Bold"/>
                <a:ea typeface="Inter Bold"/>
                <a:cs typeface="Inter Bold"/>
                <a:sym typeface="Inter Bold"/>
              </a:rPr>
              <a:t>Siêu Tham Số (Hyperparameters)</a:t>
            </a:r>
          </a:p>
        </p:txBody>
      </p:sp>
      <p:grpSp>
        <p:nvGrpSpPr>
          <p:cNvPr name="Group 12" id="12"/>
          <p:cNvGrpSpPr/>
          <p:nvPr/>
        </p:nvGrpSpPr>
        <p:grpSpPr>
          <a:xfrm rot="0">
            <a:off x="987476" y="4286841"/>
            <a:ext cx="8704059" cy="4676032"/>
            <a:chOff x="0" y="0"/>
            <a:chExt cx="11605412" cy="6234709"/>
          </a:xfrm>
        </p:grpSpPr>
        <p:sp>
          <p:nvSpPr>
            <p:cNvPr name="Freeform 13" id="13"/>
            <p:cNvSpPr/>
            <p:nvPr/>
          </p:nvSpPr>
          <p:spPr>
            <a:xfrm flipH="false" flipV="false" rot="0">
              <a:off x="0" y="0"/>
              <a:ext cx="11605387" cy="6234684"/>
            </a:xfrm>
            <a:custGeom>
              <a:avLst/>
              <a:gdLst/>
              <a:ahLst/>
              <a:cxnLst/>
              <a:rect r="r" b="b" t="t" l="l"/>
              <a:pathLst>
                <a:path h="6234684" w="11605387">
                  <a:moveTo>
                    <a:pt x="0" y="304038"/>
                  </a:moveTo>
                  <a:cubicBezTo>
                    <a:pt x="0" y="136144"/>
                    <a:pt x="136271" y="0"/>
                    <a:pt x="304292" y="0"/>
                  </a:cubicBezTo>
                  <a:lnTo>
                    <a:pt x="11301095" y="0"/>
                  </a:lnTo>
                  <a:lnTo>
                    <a:pt x="11301095" y="6350"/>
                  </a:lnTo>
                  <a:lnTo>
                    <a:pt x="11301095" y="0"/>
                  </a:lnTo>
                  <a:cubicBezTo>
                    <a:pt x="11469243" y="0"/>
                    <a:pt x="11605387" y="136144"/>
                    <a:pt x="11605387" y="304038"/>
                  </a:cubicBezTo>
                  <a:lnTo>
                    <a:pt x="11599037" y="304038"/>
                  </a:lnTo>
                  <a:lnTo>
                    <a:pt x="11605387" y="304038"/>
                  </a:lnTo>
                  <a:lnTo>
                    <a:pt x="11605387" y="5930646"/>
                  </a:lnTo>
                  <a:lnTo>
                    <a:pt x="11599037" y="5930646"/>
                  </a:lnTo>
                  <a:lnTo>
                    <a:pt x="11605387" y="5930646"/>
                  </a:lnTo>
                  <a:cubicBezTo>
                    <a:pt x="11605387" y="6098540"/>
                    <a:pt x="11469115" y="6234684"/>
                    <a:pt x="11301095" y="6234684"/>
                  </a:cubicBezTo>
                  <a:lnTo>
                    <a:pt x="11301095" y="6228334"/>
                  </a:lnTo>
                  <a:lnTo>
                    <a:pt x="11301095" y="6234684"/>
                  </a:lnTo>
                  <a:lnTo>
                    <a:pt x="304292" y="6234684"/>
                  </a:lnTo>
                  <a:lnTo>
                    <a:pt x="304292" y="6228334"/>
                  </a:lnTo>
                  <a:lnTo>
                    <a:pt x="304292" y="6234684"/>
                  </a:lnTo>
                  <a:cubicBezTo>
                    <a:pt x="136271" y="6234684"/>
                    <a:pt x="0" y="6098540"/>
                    <a:pt x="0" y="5930646"/>
                  </a:cubicBezTo>
                  <a:lnTo>
                    <a:pt x="0" y="304038"/>
                  </a:lnTo>
                  <a:lnTo>
                    <a:pt x="6350" y="304038"/>
                  </a:lnTo>
                  <a:lnTo>
                    <a:pt x="0" y="304038"/>
                  </a:lnTo>
                  <a:moveTo>
                    <a:pt x="12700" y="304038"/>
                  </a:moveTo>
                  <a:lnTo>
                    <a:pt x="12700" y="5930646"/>
                  </a:lnTo>
                  <a:lnTo>
                    <a:pt x="6350" y="5930646"/>
                  </a:lnTo>
                  <a:lnTo>
                    <a:pt x="12700" y="5930646"/>
                  </a:lnTo>
                  <a:cubicBezTo>
                    <a:pt x="12700" y="6091555"/>
                    <a:pt x="143256" y="6221984"/>
                    <a:pt x="304292" y="6221984"/>
                  </a:cubicBezTo>
                  <a:lnTo>
                    <a:pt x="11301095" y="6221984"/>
                  </a:lnTo>
                  <a:cubicBezTo>
                    <a:pt x="11462131" y="6221984"/>
                    <a:pt x="11592687" y="6091555"/>
                    <a:pt x="11592687" y="5930646"/>
                  </a:cubicBezTo>
                  <a:lnTo>
                    <a:pt x="11592687" y="304038"/>
                  </a:lnTo>
                  <a:cubicBezTo>
                    <a:pt x="11592687" y="143129"/>
                    <a:pt x="11462131" y="12700"/>
                    <a:pt x="11301095" y="12700"/>
                  </a:cubicBezTo>
                  <a:lnTo>
                    <a:pt x="304292" y="12700"/>
                  </a:lnTo>
                  <a:lnTo>
                    <a:pt x="304292" y="6350"/>
                  </a:lnTo>
                  <a:lnTo>
                    <a:pt x="304292" y="12700"/>
                  </a:lnTo>
                  <a:cubicBezTo>
                    <a:pt x="143256" y="12700"/>
                    <a:pt x="12700" y="143129"/>
                    <a:pt x="12700" y="304038"/>
                  </a:cubicBezTo>
                  <a:close/>
                </a:path>
              </a:pathLst>
            </a:custGeom>
            <a:solidFill>
              <a:srgbClr val="000000">
                <a:alpha val="392"/>
              </a:srgbClr>
            </a:solidFill>
          </p:spPr>
        </p:sp>
      </p:grpSp>
      <p:grpSp>
        <p:nvGrpSpPr>
          <p:cNvPr name="Group 14" id="14"/>
          <p:cNvGrpSpPr/>
          <p:nvPr/>
        </p:nvGrpSpPr>
        <p:grpSpPr>
          <a:xfrm rot="0">
            <a:off x="1001763" y="4301128"/>
            <a:ext cx="8675484" cy="663921"/>
            <a:chOff x="0" y="0"/>
            <a:chExt cx="11567312" cy="885228"/>
          </a:xfrm>
        </p:grpSpPr>
        <p:sp>
          <p:nvSpPr>
            <p:cNvPr name="Freeform 15" id="15"/>
            <p:cNvSpPr/>
            <p:nvPr/>
          </p:nvSpPr>
          <p:spPr>
            <a:xfrm flipH="false" flipV="false" rot="0">
              <a:off x="0" y="0"/>
              <a:ext cx="11567287" cy="885190"/>
            </a:xfrm>
            <a:custGeom>
              <a:avLst/>
              <a:gdLst/>
              <a:ahLst/>
              <a:cxnLst/>
              <a:rect r="r" b="b" t="t" l="l"/>
              <a:pathLst>
                <a:path h="885190" w="11567287">
                  <a:moveTo>
                    <a:pt x="0" y="0"/>
                  </a:moveTo>
                  <a:lnTo>
                    <a:pt x="11567287" y="0"/>
                  </a:lnTo>
                  <a:lnTo>
                    <a:pt x="11567287" y="885190"/>
                  </a:lnTo>
                  <a:lnTo>
                    <a:pt x="0" y="885190"/>
                  </a:lnTo>
                  <a:close/>
                </a:path>
              </a:pathLst>
            </a:custGeom>
            <a:solidFill>
              <a:srgbClr val="FFFFFF">
                <a:alpha val="0"/>
              </a:srgbClr>
            </a:solidFill>
          </p:spPr>
        </p:sp>
      </p:grpSp>
      <p:sp>
        <p:nvSpPr>
          <p:cNvPr name="TextBox 16" id="16"/>
          <p:cNvSpPr txBox="true"/>
          <p:nvPr/>
        </p:nvSpPr>
        <p:spPr>
          <a:xfrm rot="0">
            <a:off x="1250004" y="4421391"/>
            <a:ext cx="2969419" cy="325438"/>
          </a:xfrm>
          <a:prstGeom prst="rect">
            <a:avLst/>
          </a:prstGeom>
        </p:spPr>
        <p:txBody>
          <a:bodyPr anchor="t" rtlCol="false" tIns="0" lIns="0" bIns="0" rIns="0">
            <a:spAutoFit/>
          </a:bodyPr>
          <a:lstStyle/>
          <a:p>
            <a:pPr algn="l">
              <a:lnSpc>
                <a:spcPts val="2687"/>
              </a:lnSpc>
            </a:pPr>
            <a:r>
              <a:rPr lang="en-US" sz="1937" b="true">
                <a:solidFill>
                  <a:srgbClr val="303030"/>
                </a:solidFill>
                <a:latin typeface="Inter Bold"/>
                <a:ea typeface="Inter Bold"/>
                <a:cs typeface="Inter Bold"/>
                <a:sym typeface="Inter Bold"/>
              </a:rPr>
              <a:t>Tham số</a:t>
            </a:r>
          </a:p>
        </p:txBody>
      </p:sp>
      <p:sp>
        <p:nvSpPr>
          <p:cNvPr name="TextBox 17" id="17"/>
          <p:cNvSpPr txBox="true"/>
          <p:nvPr/>
        </p:nvSpPr>
        <p:spPr>
          <a:xfrm rot="0">
            <a:off x="4724848" y="4421391"/>
            <a:ext cx="2097138" cy="325438"/>
          </a:xfrm>
          <a:prstGeom prst="rect">
            <a:avLst/>
          </a:prstGeom>
        </p:spPr>
        <p:txBody>
          <a:bodyPr anchor="t" rtlCol="false" tIns="0" lIns="0" bIns="0" rIns="0">
            <a:spAutoFit/>
          </a:bodyPr>
          <a:lstStyle/>
          <a:p>
            <a:pPr algn="l">
              <a:lnSpc>
                <a:spcPts val="2687"/>
              </a:lnSpc>
            </a:pPr>
            <a:r>
              <a:rPr lang="en-US" sz="1937" b="true">
                <a:solidFill>
                  <a:srgbClr val="303030"/>
                </a:solidFill>
                <a:latin typeface="Inter Bold"/>
                <a:ea typeface="Inter Bold"/>
                <a:cs typeface="Inter Bold"/>
                <a:sym typeface="Inter Bold"/>
              </a:rPr>
              <a:t>Standard</a:t>
            </a:r>
          </a:p>
        </p:txBody>
      </p:sp>
      <p:sp>
        <p:nvSpPr>
          <p:cNvPr name="TextBox 18" id="18"/>
          <p:cNvSpPr txBox="true"/>
          <p:nvPr/>
        </p:nvSpPr>
        <p:spPr>
          <a:xfrm rot="0">
            <a:off x="7327402" y="4421391"/>
            <a:ext cx="2101901" cy="325438"/>
          </a:xfrm>
          <a:prstGeom prst="rect">
            <a:avLst/>
          </a:prstGeom>
        </p:spPr>
        <p:txBody>
          <a:bodyPr anchor="t" rtlCol="false" tIns="0" lIns="0" bIns="0" rIns="0">
            <a:spAutoFit/>
          </a:bodyPr>
          <a:lstStyle/>
          <a:p>
            <a:pPr algn="l">
              <a:lnSpc>
                <a:spcPts val="2687"/>
              </a:lnSpc>
            </a:pPr>
            <a:r>
              <a:rPr lang="en-US" sz="1937" b="true">
                <a:solidFill>
                  <a:srgbClr val="303030"/>
                </a:solidFill>
                <a:latin typeface="Inter Bold"/>
                <a:ea typeface="Inter Bold"/>
                <a:cs typeface="Inter Bold"/>
                <a:sym typeface="Inter Bold"/>
              </a:rPr>
              <a:t>Advanced</a:t>
            </a:r>
          </a:p>
        </p:txBody>
      </p:sp>
      <p:grpSp>
        <p:nvGrpSpPr>
          <p:cNvPr name="Group 19" id="19"/>
          <p:cNvGrpSpPr/>
          <p:nvPr/>
        </p:nvGrpSpPr>
        <p:grpSpPr>
          <a:xfrm rot="0">
            <a:off x="1001763" y="4965059"/>
            <a:ext cx="8675484" cy="663921"/>
            <a:chOff x="0" y="0"/>
            <a:chExt cx="11567312" cy="885228"/>
          </a:xfrm>
        </p:grpSpPr>
        <p:sp>
          <p:nvSpPr>
            <p:cNvPr name="Freeform 20" id="20"/>
            <p:cNvSpPr/>
            <p:nvPr/>
          </p:nvSpPr>
          <p:spPr>
            <a:xfrm flipH="false" flipV="false" rot="0">
              <a:off x="0" y="0"/>
              <a:ext cx="11567287" cy="885190"/>
            </a:xfrm>
            <a:custGeom>
              <a:avLst/>
              <a:gdLst/>
              <a:ahLst/>
              <a:cxnLst/>
              <a:rect r="r" b="b" t="t" l="l"/>
              <a:pathLst>
                <a:path h="885190" w="11567287">
                  <a:moveTo>
                    <a:pt x="0" y="0"/>
                  </a:moveTo>
                  <a:lnTo>
                    <a:pt x="11567287" y="0"/>
                  </a:lnTo>
                  <a:lnTo>
                    <a:pt x="11567287" y="885190"/>
                  </a:lnTo>
                  <a:lnTo>
                    <a:pt x="0" y="885190"/>
                  </a:lnTo>
                  <a:close/>
                </a:path>
              </a:pathLst>
            </a:custGeom>
            <a:solidFill>
              <a:srgbClr val="000000">
                <a:alpha val="0"/>
              </a:srgbClr>
            </a:solidFill>
          </p:spPr>
        </p:sp>
      </p:grpSp>
      <p:sp>
        <p:nvSpPr>
          <p:cNvPr name="TextBox 21" id="21"/>
          <p:cNvSpPr txBox="true"/>
          <p:nvPr/>
        </p:nvSpPr>
        <p:spPr>
          <a:xfrm rot="0">
            <a:off x="1250004" y="5085312"/>
            <a:ext cx="2969419"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Epochs</a:t>
            </a:r>
          </a:p>
        </p:txBody>
      </p:sp>
      <p:sp>
        <p:nvSpPr>
          <p:cNvPr name="TextBox 22" id="22"/>
          <p:cNvSpPr txBox="true"/>
          <p:nvPr/>
        </p:nvSpPr>
        <p:spPr>
          <a:xfrm rot="0">
            <a:off x="4724848" y="5085312"/>
            <a:ext cx="2097138"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50</a:t>
            </a:r>
          </a:p>
        </p:txBody>
      </p:sp>
      <p:sp>
        <p:nvSpPr>
          <p:cNvPr name="TextBox 23" id="23"/>
          <p:cNvSpPr txBox="true"/>
          <p:nvPr/>
        </p:nvSpPr>
        <p:spPr>
          <a:xfrm rot="0">
            <a:off x="7327402" y="5085312"/>
            <a:ext cx="2101901"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50</a:t>
            </a:r>
          </a:p>
        </p:txBody>
      </p:sp>
      <p:grpSp>
        <p:nvGrpSpPr>
          <p:cNvPr name="Group 24" id="24"/>
          <p:cNvGrpSpPr/>
          <p:nvPr/>
        </p:nvGrpSpPr>
        <p:grpSpPr>
          <a:xfrm rot="0">
            <a:off x="1001763" y="5628980"/>
            <a:ext cx="8675484" cy="663921"/>
            <a:chOff x="0" y="0"/>
            <a:chExt cx="11567312" cy="885228"/>
          </a:xfrm>
        </p:grpSpPr>
        <p:sp>
          <p:nvSpPr>
            <p:cNvPr name="Freeform 25" id="25"/>
            <p:cNvSpPr/>
            <p:nvPr/>
          </p:nvSpPr>
          <p:spPr>
            <a:xfrm flipH="false" flipV="false" rot="0">
              <a:off x="0" y="0"/>
              <a:ext cx="11567287" cy="885190"/>
            </a:xfrm>
            <a:custGeom>
              <a:avLst/>
              <a:gdLst/>
              <a:ahLst/>
              <a:cxnLst/>
              <a:rect r="r" b="b" t="t" l="l"/>
              <a:pathLst>
                <a:path h="885190" w="11567287">
                  <a:moveTo>
                    <a:pt x="0" y="0"/>
                  </a:moveTo>
                  <a:lnTo>
                    <a:pt x="11567287" y="0"/>
                  </a:lnTo>
                  <a:lnTo>
                    <a:pt x="11567287" y="885190"/>
                  </a:lnTo>
                  <a:lnTo>
                    <a:pt x="0" y="885190"/>
                  </a:lnTo>
                  <a:close/>
                </a:path>
              </a:pathLst>
            </a:custGeom>
            <a:solidFill>
              <a:srgbClr val="FFFFFF">
                <a:alpha val="0"/>
              </a:srgbClr>
            </a:solidFill>
          </p:spPr>
        </p:sp>
      </p:grpSp>
      <p:sp>
        <p:nvSpPr>
          <p:cNvPr name="TextBox 26" id="26"/>
          <p:cNvSpPr txBox="true"/>
          <p:nvPr/>
        </p:nvSpPr>
        <p:spPr>
          <a:xfrm rot="0">
            <a:off x="1250004" y="5749233"/>
            <a:ext cx="2969419"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Batch Size</a:t>
            </a:r>
          </a:p>
        </p:txBody>
      </p:sp>
      <p:sp>
        <p:nvSpPr>
          <p:cNvPr name="TextBox 27" id="27"/>
          <p:cNvSpPr txBox="true"/>
          <p:nvPr/>
        </p:nvSpPr>
        <p:spPr>
          <a:xfrm rot="0">
            <a:off x="4724848" y="5749233"/>
            <a:ext cx="2097138"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32</a:t>
            </a:r>
          </a:p>
        </p:txBody>
      </p:sp>
      <p:sp>
        <p:nvSpPr>
          <p:cNvPr name="TextBox 28" id="28"/>
          <p:cNvSpPr txBox="true"/>
          <p:nvPr/>
        </p:nvSpPr>
        <p:spPr>
          <a:xfrm rot="0">
            <a:off x="7327402" y="5749233"/>
            <a:ext cx="2101901"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16</a:t>
            </a:r>
          </a:p>
        </p:txBody>
      </p:sp>
      <p:grpSp>
        <p:nvGrpSpPr>
          <p:cNvPr name="Group 29" id="29"/>
          <p:cNvGrpSpPr/>
          <p:nvPr/>
        </p:nvGrpSpPr>
        <p:grpSpPr>
          <a:xfrm rot="0">
            <a:off x="1001763" y="6292901"/>
            <a:ext cx="8675484" cy="663921"/>
            <a:chOff x="0" y="0"/>
            <a:chExt cx="11567312" cy="885228"/>
          </a:xfrm>
        </p:grpSpPr>
        <p:sp>
          <p:nvSpPr>
            <p:cNvPr name="Freeform 30" id="30"/>
            <p:cNvSpPr/>
            <p:nvPr/>
          </p:nvSpPr>
          <p:spPr>
            <a:xfrm flipH="false" flipV="false" rot="0">
              <a:off x="0" y="0"/>
              <a:ext cx="11567287" cy="885190"/>
            </a:xfrm>
            <a:custGeom>
              <a:avLst/>
              <a:gdLst/>
              <a:ahLst/>
              <a:cxnLst/>
              <a:rect r="r" b="b" t="t" l="l"/>
              <a:pathLst>
                <a:path h="885190" w="11567287">
                  <a:moveTo>
                    <a:pt x="0" y="0"/>
                  </a:moveTo>
                  <a:lnTo>
                    <a:pt x="11567287" y="0"/>
                  </a:lnTo>
                  <a:lnTo>
                    <a:pt x="11567287" y="885190"/>
                  </a:lnTo>
                  <a:lnTo>
                    <a:pt x="0" y="885190"/>
                  </a:lnTo>
                  <a:close/>
                </a:path>
              </a:pathLst>
            </a:custGeom>
            <a:solidFill>
              <a:srgbClr val="000000">
                <a:alpha val="0"/>
              </a:srgbClr>
            </a:solidFill>
          </p:spPr>
        </p:sp>
      </p:grpSp>
      <p:sp>
        <p:nvSpPr>
          <p:cNvPr name="TextBox 31" id="31"/>
          <p:cNvSpPr txBox="true"/>
          <p:nvPr/>
        </p:nvSpPr>
        <p:spPr>
          <a:xfrm rot="0">
            <a:off x="1250004" y="6413154"/>
            <a:ext cx="2969419"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Learning Rate</a:t>
            </a:r>
          </a:p>
        </p:txBody>
      </p:sp>
      <p:sp>
        <p:nvSpPr>
          <p:cNvPr name="TextBox 32" id="32"/>
          <p:cNvSpPr txBox="true"/>
          <p:nvPr/>
        </p:nvSpPr>
        <p:spPr>
          <a:xfrm rot="0">
            <a:off x="4724848" y="6413154"/>
            <a:ext cx="2097138"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0.0001</a:t>
            </a:r>
          </a:p>
        </p:txBody>
      </p:sp>
      <p:sp>
        <p:nvSpPr>
          <p:cNvPr name="TextBox 33" id="33"/>
          <p:cNvSpPr txBox="true"/>
          <p:nvPr/>
        </p:nvSpPr>
        <p:spPr>
          <a:xfrm rot="0">
            <a:off x="7327402" y="6413154"/>
            <a:ext cx="2101901"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0.0001</a:t>
            </a:r>
          </a:p>
        </p:txBody>
      </p:sp>
      <p:grpSp>
        <p:nvGrpSpPr>
          <p:cNvPr name="Group 34" id="34"/>
          <p:cNvGrpSpPr/>
          <p:nvPr/>
        </p:nvGrpSpPr>
        <p:grpSpPr>
          <a:xfrm rot="0">
            <a:off x="1001763" y="6956822"/>
            <a:ext cx="8675484" cy="663921"/>
            <a:chOff x="0" y="0"/>
            <a:chExt cx="11567312" cy="885228"/>
          </a:xfrm>
        </p:grpSpPr>
        <p:sp>
          <p:nvSpPr>
            <p:cNvPr name="Freeform 35" id="35"/>
            <p:cNvSpPr/>
            <p:nvPr/>
          </p:nvSpPr>
          <p:spPr>
            <a:xfrm flipH="false" flipV="false" rot="0">
              <a:off x="0" y="0"/>
              <a:ext cx="11567287" cy="885190"/>
            </a:xfrm>
            <a:custGeom>
              <a:avLst/>
              <a:gdLst/>
              <a:ahLst/>
              <a:cxnLst/>
              <a:rect r="r" b="b" t="t" l="l"/>
              <a:pathLst>
                <a:path h="885190" w="11567287">
                  <a:moveTo>
                    <a:pt x="0" y="0"/>
                  </a:moveTo>
                  <a:lnTo>
                    <a:pt x="11567287" y="0"/>
                  </a:lnTo>
                  <a:lnTo>
                    <a:pt x="11567287" y="885190"/>
                  </a:lnTo>
                  <a:lnTo>
                    <a:pt x="0" y="885190"/>
                  </a:lnTo>
                  <a:close/>
                </a:path>
              </a:pathLst>
            </a:custGeom>
            <a:solidFill>
              <a:srgbClr val="FFFFFF">
                <a:alpha val="0"/>
              </a:srgbClr>
            </a:solidFill>
          </p:spPr>
        </p:sp>
      </p:grpSp>
      <p:sp>
        <p:nvSpPr>
          <p:cNvPr name="TextBox 36" id="36"/>
          <p:cNvSpPr txBox="true"/>
          <p:nvPr/>
        </p:nvSpPr>
        <p:spPr>
          <a:xfrm rot="0">
            <a:off x="1250004" y="7077075"/>
            <a:ext cx="2969419"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Optimizer</a:t>
            </a:r>
          </a:p>
        </p:txBody>
      </p:sp>
      <p:sp>
        <p:nvSpPr>
          <p:cNvPr name="TextBox 37" id="37"/>
          <p:cNvSpPr txBox="true"/>
          <p:nvPr/>
        </p:nvSpPr>
        <p:spPr>
          <a:xfrm rot="0">
            <a:off x="4724848" y="7077075"/>
            <a:ext cx="2097138"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Adam</a:t>
            </a:r>
          </a:p>
        </p:txBody>
      </p:sp>
      <p:sp>
        <p:nvSpPr>
          <p:cNvPr name="TextBox 38" id="38"/>
          <p:cNvSpPr txBox="true"/>
          <p:nvPr/>
        </p:nvSpPr>
        <p:spPr>
          <a:xfrm rot="0">
            <a:off x="7327402" y="7077075"/>
            <a:ext cx="2101901"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Adam</a:t>
            </a:r>
          </a:p>
        </p:txBody>
      </p:sp>
      <p:grpSp>
        <p:nvGrpSpPr>
          <p:cNvPr name="Group 39" id="39"/>
          <p:cNvGrpSpPr/>
          <p:nvPr/>
        </p:nvGrpSpPr>
        <p:grpSpPr>
          <a:xfrm rot="0">
            <a:off x="1001763" y="7620743"/>
            <a:ext cx="8675484" cy="663921"/>
            <a:chOff x="0" y="0"/>
            <a:chExt cx="11567312" cy="885228"/>
          </a:xfrm>
        </p:grpSpPr>
        <p:sp>
          <p:nvSpPr>
            <p:cNvPr name="Freeform 40" id="40"/>
            <p:cNvSpPr/>
            <p:nvPr/>
          </p:nvSpPr>
          <p:spPr>
            <a:xfrm flipH="false" flipV="false" rot="0">
              <a:off x="0" y="0"/>
              <a:ext cx="11567287" cy="885190"/>
            </a:xfrm>
            <a:custGeom>
              <a:avLst/>
              <a:gdLst/>
              <a:ahLst/>
              <a:cxnLst/>
              <a:rect r="r" b="b" t="t" l="l"/>
              <a:pathLst>
                <a:path h="885190" w="11567287">
                  <a:moveTo>
                    <a:pt x="0" y="0"/>
                  </a:moveTo>
                  <a:lnTo>
                    <a:pt x="11567287" y="0"/>
                  </a:lnTo>
                  <a:lnTo>
                    <a:pt x="11567287" y="885190"/>
                  </a:lnTo>
                  <a:lnTo>
                    <a:pt x="0" y="885190"/>
                  </a:lnTo>
                  <a:close/>
                </a:path>
              </a:pathLst>
            </a:custGeom>
            <a:solidFill>
              <a:srgbClr val="000000">
                <a:alpha val="0"/>
              </a:srgbClr>
            </a:solidFill>
          </p:spPr>
        </p:sp>
      </p:grpSp>
      <p:sp>
        <p:nvSpPr>
          <p:cNvPr name="TextBox 41" id="41"/>
          <p:cNvSpPr txBox="true"/>
          <p:nvPr/>
        </p:nvSpPr>
        <p:spPr>
          <a:xfrm rot="0">
            <a:off x="1250004" y="7740996"/>
            <a:ext cx="2969419"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Loss Function</a:t>
            </a:r>
          </a:p>
        </p:txBody>
      </p:sp>
      <p:sp>
        <p:nvSpPr>
          <p:cNvPr name="TextBox 42" id="42"/>
          <p:cNvSpPr txBox="true"/>
          <p:nvPr/>
        </p:nvSpPr>
        <p:spPr>
          <a:xfrm rot="0">
            <a:off x="4724848" y="7740996"/>
            <a:ext cx="2097138"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Cross-Entropy</a:t>
            </a:r>
          </a:p>
        </p:txBody>
      </p:sp>
      <p:sp>
        <p:nvSpPr>
          <p:cNvPr name="TextBox 43" id="43"/>
          <p:cNvSpPr txBox="true"/>
          <p:nvPr/>
        </p:nvSpPr>
        <p:spPr>
          <a:xfrm rot="0">
            <a:off x="7327402" y="7740996"/>
            <a:ext cx="2101901"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Cross-Entropy</a:t>
            </a:r>
          </a:p>
        </p:txBody>
      </p:sp>
      <p:grpSp>
        <p:nvGrpSpPr>
          <p:cNvPr name="Group 44" id="44"/>
          <p:cNvGrpSpPr/>
          <p:nvPr/>
        </p:nvGrpSpPr>
        <p:grpSpPr>
          <a:xfrm rot="0">
            <a:off x="1001763" y="8284664"/>
            <a:ext cx="8675484" cy="663921"/>
            <a:chOff x="0" y="0"/>
            <a:chExt cx="11567312" cy="885228"/>
          </a:xfrm>
        </p:grpSpPr>
        <p:sp>
          <p:nvSpPr>
            <p:cNvPr name="Freeform 45" id="45"/>
            <p:cNvSpPr/>
            <p:nvPr/>
          </p:nvSpPr>
          <p:spPr>
            <a:xfrm flipH="false" flipV="false" rot="0">
              <a:off x="0" y="0"/>
              <a:ext cx="11567287" cy="885190"/>
            </a:xfrm>
            <a:custGeom>
              <a:avLst/>
              <a:gdLst/>
              <a:ahLst/>
              <a:cxnLst/>
              <a:rect r="r" b="b" t="t" l="l"/>
              <a:pathLst>
                <a:path h="885190" w="11567287">
                  <a:moveTo>
                    <a:pt x="0" y="0"/>
                  </a:moveTo>
                  <a:lnTo>
                    <a:pt x="11567287" y="0"/>
                  </a:lnTo>
                  <a:lnTo>
                    <a:pt x="11567287" y="885190"/>
                  </a:lnTo>
                  <a:lnTo>
                    <a:pt x="0" y="885190"/>
                  </a:lnTo>
                  <a:close/>
                </a:path>
              </a:pathLst>
            </a:custGeom>
            <a:solidFill>
              <a:srgbClr val="FFFFFF">
                <a:alpha val="0"/>
              </a:srgbClr>
            </a:solidFill>
          </p:spPr>
        </p:sp>
      </p:grpSp>
      <p:sp>
        <p:nvSpPr>
          <p:cNvPr name="TextBox 46" id="46"/>
          <p:cNvSpPr txBox="true"/>
          <p:nvPr/>
        </p:nvSpPr>
        <p:spPr>
          <a:xfrm rot="0">
            <a:off x="1250004" y="8404917"/>
            <a:ext cx="2969419"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Early Stopping</a:t>
            </a:r>
          </a:p>
        </p:txBody>
      </p:sp>
      <p:sp>
        <p:nvSpPr>
          <p:cNvPr name="TextBox 47" id="47"/>
          <p:cNvSpPr txBox="true"/>
          <p:nvPr/>
        </p:nvSpPr>
        <p:spPr>
          <a:xfrm rot="0">
            <a:off x="4724848" y="8404917"/>
            <a:ext cx="2097138"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Patience=5</a:t>
            </a:r>
          </a:p>
        </p:txBody>
      </p:sp>
      <p:sp>
        <p:nvSpPr>
          <p:cNvPr name="TextBox 48" id="48"/>
          <p:cNvSpPr txBox="true"/>
          <p:nvPr/>
        </p:nvSpPr>
        <p:spPr>
          <a:xfrm rot="0">
            <a:off x="7327402" y="8404917"/>
            <a:ext cx="2101901"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Patience=5</a:t>
            </a:r>
          </a:p>
        </p:txBody>
      </p:sp>
      <p:grpSp>
        <p:nvGrpSpPr>
          <p:cNvPr name="Group 49" id="49"/>
          <p:cNvGrpSpPr/>
          <p:nvPr/>
        </p:nvGrpSpPr>
        <p:grpSpPr>
          <a:xfrm rot="0">
            <a:off x="10301440" y="3597173"/>
            <a:ext cx="3377803" cy="2895895"/>
            <a:chOff x="0" y="0"/>
            <a:chExt cx="4503738" cy="3861194"/>
          </a:xfrm>
        </p:grpSpPr>
        <p:sp>
          <p:nvSpPr>
            <p:cNvPr name="Freeform 50" id="50"/>
            <p:cNvSpPr/>
            <p:nvPr/>
          </p:nvSpPr>
          <p:spPr>
            <a:xfrm flipH="false" flipV="false" rot="0">
              <a:off x="0" y="0"/>
              <a:ext cx="4503674" cy="3861181"/>
            </a:xfrm>
            <a:custGeom>
              <a:avLst/>
              <a:gdLst/>
              <a:ahLst/>
              <a:cxnLst/>
              <a:rect r="r" b="b" t="t" l="l"/>
              <a:pathLst>
                <a:path h="3861181" w="4503674">
                  <a:moveTo>
                    <a:pt x="0" y="297688"/>
                  </a:moveTo>
                  <a:cubicBezTo>
                    <a:pt x="0" y="133223"/>
                    <a:pt x="133223" y="0"/>
                    <a:pt x="297688" y="0"/>
                  </a:cubicBezTo>
                  <a:lnTo>
                    <a:pt x="4205986" y="0"/>
                  </a:lnTo>
                  <a:cubicBezTo>
                    <a:pt x="4370451" y="0"/>
                    <a:pt x="4503674" y="133223"/>
                    <a:pt x="4503674" y="297688"/>
                  </a:cubicBezTo>
                  <a:lnTo>
                    <a:pt x="4503674" y="3563493"/>
                  </a:lnTo>
                  <a:cubicBezTo>
                    <a:pt x="4503674" y="3727958"/>
                    <a:pt x="4370451" y="3861181"/>
                    <a:pt x="4205986" y="3861181"/>
                  </a:cubicBezTo>
                  <a:lnTo>
                    <a:pt x="297688" y="3861181"/>
                  </a:lnTo>
                  <a:cubicBezTo>
                    <a:pt x="133223" y="3861181"/>
                    <a:pt x="0" y="3727958"/>
                    <a:pt x="0" y="3563493"/>
                  </a:cubicBezTo>
                  <a:close/>
                </a:path>
              </a:pathLst>
            </a:custGeom>
            <a:solidFill>
              <a:srgbClr val="5678F0"/>
            </a:solidFill>
          </p:spPr>
        </p:sp>
      </p:grpSp>
      <p:sp>
        <p:nvSpPr>
          <p:cNvPr name="TextBox 51" id="51"/>
          <p:cNvSpPr txBox="true"/>
          <p:nvPr/>
        </p:nvSpPr>
        <p:spPr>
          <a:xfrm rot="0">
            <a:off x="10549385" y="3845128"/>
            <a:ext cx="2881903" cy="730250"/>
          </a:xfrm>
          <a:prstGeom prst="rect">
            <a:avLst/>
          </a:prstGeom>
        </p:spPr>
        <p:txBody>
          <a:bodyPr anchor="t" rtlCol="false" tIns="0" lIns="0" bIns="0" rIns="0">
            <a:spAutoFit/>
          </a:bodyPr>
          <a:lstStyle/>
          <a:p>
            <a:pPr algn="l">
              <a:lnSpc>
                <a:spcPts val="2875"/>
              </a:lnSpc>
            </a:pPr>
            <a:r>
              <a:rPr lang="en-US" sz="2437" b="true">
                <a:solidFill>
                  <a:srgbClr val="000000"/>
                </a:solidFill>
                <a:latin typeface="Inter Bold"/>
                <a:ea typeface="Inter Bold"/>
                <a:cs typeface="Inter Bold"/>
                <a:sym typeface="Inter Bold"/>
              </a:rPr>
              <a:t>🧠</a:t>
            </a:r>
            <a:r>
              <a:rPr lang="en-US" sz="2437" b="true">
                <a:solidFill>
                  <a:srgbClr val="FFFFFF"/>
                </a:solidFill>
                <a:latin typeface="Inter Bold"/>
                <a:ea typeface="Inter Bold"/>
                <a:cs typeface="Inter Bold"/>
                <a:sym typeface="Inter Bold"/>
              </a:rPr>
              <a:t> Optimizer: Adam</a:t>
            </a:r>
          </a:p>
        </p:txBody>
      </p:sp>
      <p:sp>
        <p:nvSpPr>
          <p:cNvPr name="TextBox 52" id="52"/>
          <p:cNvSpPr txBox="true"/>
          <p:nvPr/>
        </p:nvSpPr>
        <p:spPr>
          <a:xfrm rot="0">
            <a:off x="10549385" y="4818164"/>
            <a:ext cx="2881903" cy="1325562"/>
          </a:xfrm>
          <a:prstGeom prst="rect">
            <a:avLst/>
          </a:prstGeom>
        </p:spPr>
        <p:txBody>
          <a:bodyPr anchor="t" rtlCol="false" tIns="0" lIns="0" bIns="0" rIns="0">
            <a:spAutoFit/>
          </a:bodyPr>
          <a:lstStyle/>
          <a:p>
            <a:pPr algn="l">
              <a:lnSpc>
                <a:spcPts val="2687"/>
              </a:lnSpc>
            </a:pPr>
            <a:r>
              <a:rPr lang="en-US" sz="1937">
                <a:solidFill>
                  <a:srgbClr val="FFFFFF"/>
                </a:solidFill>
                <a:latin typeface="Inter"/>
                <a:ea typeface="Inter"/>
                <a:cs typeface="Inter"/>
                <a:sym typeface="Inter"/>
              </a:rPr>
              <a:t>Tự điều chỉnh learning rate cho từng tham số, tăng tốc hội tụ so với SGD truyền thống.</a:t>
            </a:r>
          </a:p>
        </p:txBody>
      </p:sp>
      <p:grpSp>
        <p:nvGrpSpPr>
          <p:cNvPr name="Group 53" id="53"/>
          <p:cNvGrpSpPr/>
          <p:nvPr/>
        </p:nvGrpSpPr>
        <p:grpSpPr>
          <a:xfrm rot="0">
            <a:off x="13927188" y="3597173"/>
            <a:ext cx="3377956" cy="2895895"/>
            <a:chOff x="0" y="0"/>
            <a:chExt cx="4503941" cy="3861194"/>
          </a:xfrm>
        </p:grpSpPr>
        <p:sp>
          <p:nvSpPr>
            <p:cNvPr name="Freeform 54" id="54"/>
            <p:cNvSpPr/>
            <p:nvPr/>
          </p:nvSpPr>
          <p:spPr>
            <a:xfrm flipH="false" flipV="false" rot="0">
              <a:off x="0" y="0"/>
              <a:ext cx="4503928" cy="3861181"/>
            </a:xfrm>
            <a:custGeom>
              <a:avLst/>
              <a:gdLst/>
              <a:ahLst/>
              <a:cxnLst/>
              <a:rect r="r" b="b" t="t" l="l"/>
              <a:pathLst>
                <a:path h="3861181" w="4503928">
                  <a:moveTo>
                    <a:pt x="0" y="297688"/>
                  </a:moveTo>
                  <a:cubicBezTo>
                    <a:pt x="0" y="133223"/>
                    <a:pt x="133223" y="0"/>
                    <a:pt x="297688" y="0"/>
                  </a:cubicBezTo>
                  <a:lnTo>
                    <a:pt x="4206240" y="0"/>
                  </a:lnTo>
                  <a:cubicBezTo>
                    <a:pt x="4370705" y="0"/>
                    <a:pt x="4503928" y="133223"/>
                    <a:pt x="4503928" y="297688"/>
                  </a:cubicBezTo>
                  <a:lnTo>
                    <a:pt x="4503928" y="3563493"/>
                  </a:lnTo>
                  <a:cubicBezTo>
                    <a:pt x="4503928" y="3727958"/>
                    <a:pt x="4370705" y="3861181"/>
                    <a:pt x="4206240" y="3861181"/>
                  </a:cubicBezTo>
                  <a:lnTo>
                    <a:pt x="297688" y="3861181"/>
                  </a:lnTo>
                  <a:cubicBezTo>
                    <a:pt x="133223" y="3861181"/>
                    <a:pt x="0" y="3727958"/>
                    <a:pt x="0" y="3563493"/>
                  </a:cubicBezTo>
                  <a:close/>
                </a:path>
              </a:pathLst>
            </a:custGeom>
            <a:solidFill>
              <a:srgbClr val="93CEF1"/>
            </a:solidFill>
          </p:spPr>
        </p:sp>
      </p:grpSp>
      <p:sp>
        <p:nvSpPr>
          <p:cNvPr name="TextBox 55" id="55"/>
          <p:cNvSpPr txBox="true"/>
          <p:nvPr/>
        </p:nvSpPr>
        <p:spPr>
          <a:xfrm rot="0">
            <a:off x="14175134" y="3845128"/>
            <a:ext cx="2882055" cy="730250"/>
          </a:xfrm>
          <a:prstGeom prst="rect">
            <a:avLst/>
          </a:prstGeom>
        </p:spPr>
        <p:txBody>
          <a:bodyPr anchor="t" rtlCol="false" tIns="0" lIns="0" bIns="0" rIns="0">
            <a:spAutoFit/>
          </a:bodyPr>
          <a:lstStyle/>
          <a:p>
            <a:pPr algn="l">
              <a:lnSpc>
                <a:spcPts val="2875"/>
              </a:lnSpc>
            </a:pPr>
            <a:r>
              <a:rPr lang="en-US" sz="2437" b="true">
                <a:solidFill>
                  <a:srgbClr val="000000"/>
                </a:solidFill>
                <a:latin typeface="Inter Bold"/>
                <a:ea typeface="Inter Bold"/>
                <a:cs typeface="Inter Bold"/>
                <a:sym typeface="Inter Bold"/>
              </a:rPr>
              <a:t>📉 Loss: Cross-Entropy</a:t>
            </a:r>
          </a:p>
        </p:txBody>
      </p:sp>
      <p:sp>
        <p:nvSpPr>
          <p:cNvPr name="TextBox 56" id="56"/>
          <p:cNvSpPr txBox="true"/>
          <p:nvPr/>
        </p:nvSpPr>
        <p:spPr>
          <a:xfrm rot="0">
            <a:off x="14175134" y="4818164"/>
            <a:ext cx="2882055" cy="1325562"/>
          </a:xfrm>
          <a:prstGeom prst="rect">
            <a:avLst/>
          </a:prstGeom>
        </p:spPr>
        <p:txBody>
          <a:bodyPr anchor="t" rtlCol="false" tIns="0" lIns="0" bIns="0" rIns="0">
            <a:spAutoFit/>
          </a:bodyPr>
          <a:lstStyle/>
          <a:p>
            <a:pPr algn="l">
              <a:lnSpc>
                <a:spcPts val="2687"/>
              </a:lnSpc>
            </a:pPr>
            <a:r>
              <a:rPr lang="en-US" sz="1937">
                <a:solidFill>
                  <a:srgbClr val="000000"/>
                </a:solidFill>
                <a:latin typeface="Inter"/>
                <a:ea typeface="Inter"/>
                <a:cs typeface="Inter"/>
                <a:sym typeface="Inter"/>
              </a:rPr>
              <a:t>Phù hợp cho bài toán phân loại nhị phân REAL/FAKE, phạt nặng các dự đoán sai lệch lớn.</a:t>
            </a:r>
          </a:p>
        </p:txBody>
      </p:sp>
      <p:grpSp>
        <p:nvGrpSpPr>
          <p:cNvPr name="Group 57" id="57"/>
          <p:cNvGrpSpPr/>
          <p:nvPr/>
        </p:nvGrpSpPr>
        <p:grpSpPr>
          <a:xfrm rot="0">
            <a:off x="10301440" y="6741023"/>
            <a:ext cx="7003704" cy="1829391"/>
            <a:chOff x="0" y="0"/>
            <a:chExt cx="9338272" cy="2439187"/>
          </a:xfrm>
        </p:grpSpPr>
        <p:sp>
          <p:nvSpPr>
            <p:cNvPr name="Freeform 58" id="58"/>
            <p:cNvSpPr/>
            <p:nvPr/>
          </p:nvSpPr>
          <p:spPr>
            <a:xfrm flipH="false" flipV="false" rot="0">
              <a:off x="0" y="0"/>
              <a:ext cx="9338310" cy="2439162"/>
            </a:xfrm>
            <a:custGeom>
              <a:avLst/>
              <a:gdLst/>
              <a:ahLst/>
              <a:cxnLst/>
              <a:rect r="r" b="b" t="t" l="l"/>
              <a:pathLst>
                <a:path h="2439162" w="9338310">
                  <a:moveTo>
                    <a:pt x="0" y="297688"/>
                  </a:moveTo>
                  <a:cubicBezTo>
                    <a:pt x="0" y="133223"/>
                    <a:pt x="133223" y="0"/>
                    <a:pt x="297688" y="0"/>
                  </a:cubicBezTo>
                  <a:lnTo>
                    <a:pt x="9040622" y="0"/>
                  </a:lnTo>
                  <a:cubicBezTo>
                    <a:pt x="9204960" y="0"/>
                    <a:pt x="9338310" y="133223"/>
                    <a:pt x="9338310" y="297688"/>
                  </a:cubicBezTo>
                  <a:lnTo>
                    <a:pt x="9338310" y="2141474"/>
                  </a:lnTo>
                  <a:cubicBezTo>
                    <a:pt x="9338310" y="2305939"/>
                    <a:pt x="9205087" y="2439162"/>
                    <a:pt x="9040622" y="2439162"/>
                  </a:cubicBezTo>
                  <a:lnTo>
                    <a:pt x="297688" y="2439162"/>
                  </a:lnTo>
                  <a:cubicBezTo>
                    <a:pt x="133223" y="2439162"/>
                    <a:pt x="0" y="2305939"/>
                    <a:pt x="0" y="2141474"/>
                  </a:cubicBezTo>
                  <a:close/>
                </a:path>
              </a:pathLst>
            </a:custGeom>
            <a:solidFill>
              <a:srgbClr val="948BE2"/>
            </a:solidFill>
          </p:spPr>
        </p:sp>
      </p:grpSp>
      <p:sp>
        <p:nvSpPr>
          <p:cNvPr name="TextBox 59" id="59"/>
          <p:cNvSpPr txBox="true"/>
          <p:nvPr/>
        </p:nvSpPr>
        <p:spPr>
          <a:xfrm rot="0">
            <a:off x="10549385" y="6988969"/>
            <a:ext cx="2678192" cy="368300"/>
          </a:xfrm>
          <a:prstGeom prst="rect">
            <a:avLst/>
          </a:prstGeom>
        </p:spPr>
        <p:txBody>
          <a:bodyPr anchor="t" rtlCol="false" tIns="0" lIns="0" bIns="0" rIns="0">
            <a:spAutoFit/>
          </a:bodyPr>
          <a:lstStyle/>
          <a:p>
            <a:pPr algn="l">
              <a:lnSpc>
                <a:spcPts val="2875"/>
              </a:lnSpc>
            </a:pPr>
            <a:r>
              <a:rPr lang="en-US" sz="2437" b="true">
                <a:solidFill>
                  <a:srgbClr val="000000"/>
                </a:solidFill>
                <a:latin typeface="Inter Bold"/>
                <a:ea typeface="Inter Bold"/>
                <a:cs typeface="Inter Bold"/>
                <a:sym typeface="Inter Bold"/>
              </a:rPr>
              <a:t>🛑 Early Stopping</a:t>
            </a:r>
          </a:p>
        </p:txBody>
      </p:sp>
      <p:sp>
        <p:nvSpPr>
          <p:cNvPr name="TextBox 60" id="60"/>
          <p:cNvSpPr txBox="true"/>
          <p:nvPr/>
        </p:nvSpPr>
        <p:spPr>
          <a:xfrm rot="0">
            <a:off x="10549385" y="7589939"/>
            <a:ext cx="6507804" cy="658812"/>
          </a:xfrm>
          <a:prstGeom prst="rect">
            <a:avLst/>
          </a:prstGeom>
        </p:spPr>
        <p:txBody>
          <a:bodyPr anchor="t" rtlCol="false" tIns="0" lIns="0" bIns="0" rIns="0">
            <a:spAutoFit/>
          </a:bodyPr>
          <a:lstStyle/>
          <a:p>
            <a:pPr algn="l">
              <a:lnSpc>
                <a:spcPts val="2687"/>
              </a:lnSpc>
            </a:pPr>
            <a:r>
              <a:rPr lang="en-US" sz="1937">
                <a:solidFill>
                  <a:srgbClr val="000000"/>
                </a:solidFill>
                <a:latin typeface="Inter"/>
                <a:ea typeface="Inter"/>
                <a:cs typeface="Inter"/>
                <a:sym typeface="Inter"/>
              </a:rPr>
              <a:t>Dừng huấn luyện khi val_loss không cải thiện sau 5 epoch liên tiếp — chống Overfitting chủ động.</a:t>
            </a:r>
          </a:p>
        </p:txBody>
      </p:sp>
      <p:grpSp>
        <p:nvGrpSpPr>
          <p:cNvPr name="Group 61" id="61"/>
          <p:cNvGrpSpPr/>
          <p:nvPr/>
        </p:nvGrpSpPr>
        <p:grpSpPr>
          <a:xfrm rot="0">
            <a:off x="15989351" y="0"/>
            <a:ext cx="2212924" cy="2212924"/>
            <a:chOff x="0" y="0"/>
            <a:chExt cx="812800" cy="812800"/>
          </a:xfrm>
        </p:grpSpPr>
        <p:sp>
          <p:nvSpPr>
            <p:cNvPr name="Freeform 62" id="6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0" t="0" r="0" b="0"/>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377C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5F5F5"/>
            </a:solidFill>
          </p:spPr>
        </p:sp>
      </p:grpSp>
      <p:grpSp>
        <p:nvGrpSpPr>
          <p:cNvPr name="Group 6" id="6"/>
          <p:cNvGrpSpPr/>
          <p:nvPr/>
        </p:nvGrpSpPr>
        <p:grpSpPr>
          <a:xfrm rot="0">
            <a:off x="992238" y="1066648"/>
            <a:ext cx="3651799" cy="426691"/>
            <a:chOff x="0" y="0"/>
            <a:chExt cx="4869066" cy="568922"/>
          </a:xfrm>
        </p:grpSpPr>
        <p:sp>
          <p:nvSpPr>
            <p:cNvPr name="Freeform 7" id="7"/>
            <p:cNvSpPr/>
            <p:nvPr/>
          </p:nvSpPr>
          <p:spPr>
            <a:xfrm flipH="false" flipV="false" rot="0">
              <a:off x="0" y="0"/>
              <a:ext cx="4869053" cy="568833"/>
            </a:xfrm>
            <a:custGeom>
              <a:avLst/>
              <a:gdLst/>
              <a:ahLst/>
              <a:cxnLst/>
              <a:rect r="r" b="b" t="t" l="l"/>
              <a:pathLst>
                <a:path h="568833" w="4869053">
                  <a:moveTo>
                    <a:pt x="0" y="238125"/>
                  </a:moveTo>
                  <a:cubicBezTo>
                    <a:pt x="0" y="106680"/>
                    <a:pt x="106680" y="0"/>
                    <a:pt x="238125" y="0"/>
                  </a:cubicBezTo>
                  <a:lnTo>
                    <a:pt x="4630928" y="0"/>
                  </a:lnTo>
                  <a:cubicBezTo>
                    <a:pt x="4762500" y="0"/>
                    <a:pt x="4869053" y="106680"/>
                    <a:pt x="4869053" y="238125"/>
                  </a:cubicBezTo>
                  <a:lnTo>
                    <a:pt x="4869053" y="330708"/>
                  </a:lnTo>
                  <a:cubicBezTo>
                    <a:pt x="4869053" y="462280"/>
                    <a:pt x="4762373" y="568833"/>
                    <a:pt x="4630928" y="568833"/>
                  </a:cubicBezTo>
                  <a:lnTo>
                    <a:pt x="238125" y="568833"/>
                  </a:lnTo>
                  <a:cubicBezTo>
                    <a:pt x="106680" y="568960"/>
                    <a:pt x="0" y="462280"/>
                    <a:pt x="0" y="330708"/>
                  </a:cubicBezTo>
                  <a:close/>
                </a:path>
              </a:pathLst>
            </a:custGeom>
            <a:solidFill>
              <a:srgbClr val="5678F0"/>
            </a:solidFill>
          </p:spPr>
        </p:sp>
      </p:grpSp>
      <p:sp>
        <p:nvSpPr>
          <p:cNvPr name="TextBox 8" id="8"/>
          <p:cNvSpPr txBox="true"/>
          <p:nvPr/>
        </p:nvSpPr>
        <p:spPr>
          <a:xfrm rot="0">
            <a:off x="1141066" y="1112491"/>
            <a:ext cx="3354143" cy="265113"/>
          </a:xfrm>
          <a:prstGeom prst="rect">
            <a:avLst/>
          </a:prstGeom>
        </p:spPr>
        <p:txBody>
          <a:bodyPr anchor="t" rtlCol="false" tIns="0" lIns="0" bIns="0" rIns="0">
            <a:spAutoFit/>
          </a:bodyPr>
          <a:lstStyle/>
          <a:p>
            <a:pPr algn="l">
              <a:lnSpc>
                <a:spcPts val="2187"/>
              </a:lnSpc>
            </a:pPr>
            <a:r>
              <a:rPr lang="en-US" sz="1562">
                <a:solidFill>
                  <a:srgbClr val="FFFFFF"/>
                </a:solidFill>
                <a:latin typeface="Inter"/>
                <a:ea typeface="Inter"/>
                <a:cs typeface="Inter"/>
                <a:sym typeface="Inter"/>
              </a:rPr>
              <a:t>PHẦN 4: HUẤN LUYỆN &amp; ĐÁNH GIÁ</a:t>
            </a:r>
          </a:p>
        </p:txBody>
      </p:sp>
      <p:sp>
        <p:nvSpPr>
          <p:cNvPr name="TextBox 9" id="9"/>
          <p:cNvSpPr txBox="true"/>
          <p:nvPr/>
        </p:nvSpPr>
        <p:spPr>
          <a:xfrm rot="0">
            <a:off x="992238" y="1592466"/>
            <a:ext cx="7614523" cy="738188"/>
          </a:xfrm>
          <a:prstGeom prst="rect">
            <a:avLst/>
          </a:prstGeom>
        </p:spPr>
        <p:txBody>
          <a:bodyPr anchor="t" rtlCol="false" tIns="0" lIns="0" bIns="0" rIns="0">
            <a:spAutoFit/>
          </a:bodyPr>
          <a:lstStyle/>
          <a:p>
            <a:pPr algn="l">
              <a:lnSpc>
                <a:spcPts val="5812"/>
              </a:lnSpc>
            </a:pPr>
            <a:r>
              <a:rPr lang="en-US" sz="4875" b="true">
                <a:solidFill>
                  <a:srgbClr val="5678F0"/>
                </a:solidFill>
                <a:latin typeface="Inter Bold"/>
                <a:ea typeface="Inter Bold"/>
                <a:cs typeface="Inter Bold"/>
                <a:sym typeface="Inter Bold"/>
              </a:rPr>
              <a:t>Kết quả Đánh giá Mô hình</a:t>
            </a:r>
          </a:p>
        </p:txBody>
      </p:sp>
      <p:grpSp>
        <p:nvGrpSpPr>
          <p:cNvPr name="Group 10" id="10"/>
          <p:cNvGrpSpPr/>
          <p:nvPr/>
        </p:nvGrpSpPr>
        <p:grpSpPr>
          <a:xfrm rot="0">
            <a:off x="992238" y="2987726"/>
            <a:ext cx="8694534" cy="4124620"/>
            <a:chOff x="0" y="0"/>
            <a:chExt cx="11592712" cy="5499494"/>
          </a:xfrm>
        </p:grpSpPr>
        <p:sp>
          <p:nvSpPr>
            <p:cNvPr name="Freeform 11" id="11" descr="preencoded.png"/>
            <p:cNvSpPr/>
            <p:nvPr/>
          </p:nvSpPr>
          <p:spPr>
            <a:xfrm flipH="false" flipV="false" rot="0">
              <a:off x="0" y="0"/>
              <a:ext cx="11592687" cy="5499481"/>
            </a:xfrm>
            <a:custGeom>
              <a:avLst/>
              <a:gdLst/>
              <a:ahLst/>
              <a:cxnLst/>
              <a:rect r="r" b="b" t="t" l="l"/>
              <a:pathLst>
                <a:path h="5499481" w="11592687">
                  <a:moveTo>
                    <a:pt x="0" y="0"/>
                  </a:moveTo>
                  <a:lnTo>
                    <a:pt x="11592687" y="0"/>
                  </a:lnTo>
                  <a:lnTo>
                    <a:pt x="11592687" y="5499481"/>
                  </a:lnTo>
                  <a:lnTo>
                    <a:pt x="0" y="5499481"/>
                  </a:lnTo>
                  <a:lnTo>
                    <a:pt x="0" y="0"/>
                  </a:lnTo>
                  <a:close/>
                </a:path>
              </a:pathLst>
            </a:custGeom>
            <a:blipFill>
              <a:blip r:embed="rId2"/>
              <a:stretch>
                <a:fillRect l="-13" t="0" r="-14" b="0"/>
              </a:stretch>
            </a:blipFill>
          </p:spPr>
        </p:sp>
      </p:grpSp>
      <p:grpSp>
        <p:nvGrpSpPr>
          <p:cNvPr name="Group 12" id="12"/>
          <p:cNvGrpSpPr/>
          <p:nvPr/>
        </p:nvGrpSpPr>
        <p:grpSpPr>
          <a:xfrm rot="0">
            <a:off x="3060649" y="7112346"/>
            <a:ext cx="247945" cy="247945"/>
            <a:chOff x="0" y="0"/>
            <a:chExt cx="330594" cy="330594"/>
          </a:xfrm>
        </p:grpSpPr>
        <p:sp>
          <p:nvSpPr>
            <p:cNvPr name="Freeform 13" id="13"/>
            <p:cNvSpPr/>
            <p:nvPr/>
          </p:nvSpPr>
          <p:spPr>
            <a:xfrm flipH="false" flipV="false" rot="0">
              <a:off x="0" y="0"/>
              <a:ext cx="330581" cy="330581"/>
            </a:xfrm>
            <a:custGeom>
              <a:avLst/>
              <a:gdLst/>
              <a:ahLst/>
              <a:cxnLst/>
              <a:rect r="r" b="b" t="t" l="l"/>
              <a:pathLst>
                <a:path h="330581" w="330581">
                  <a:moveTo>
                    <a:pt x="0" y="30480"/>
                  </a:moveTo>
                  <a:cubicBezTo>
                    <a:pt x="0" y="13589"/>
                    <a:pt x="13589" y="0"/>
                    <a:pt x="30480" y="0"/>
                  </a:cubicBezTo>
                  <a:lnTo>
                    <a:pt x="300101" y="0"/>
                  </a:lnTo>
                  <a:cubicBezTo>
                    <a:pt x="316992" y="0"/>
                    <a:pt x="330581" y="13589"/>
                    <a:pt x="330581" y="30480"/>
                  </a:cubicBezTo>
                  <a:lnTo>
                    <a:pt x="330581" y="300101"/>
                  </a:lnTo>
                  <a:cubicBezTo>
                    <a:pt x="330581" y="316992"/>
                    <a:pt x="316992" y="330581"/>
                    <a:pt x="300101" y="330581"/>
                  </a:cubicBezTo>
                  <a:lnTo>
                    <a:pt x="30480" y="330581"/>
                  </a:lnTo>
                  <a:cubicBezTo>
                    <a:pt x="13589" y="330581"/>
                    <a:pt x="0" y="316992"/>
                    <a:pt x="0" y="300101"/>
                  </a:cubicBezTo>
                  <a:close/>
                </a:path>
              </a:pathLst>
            </a:custGeom>
            <a:solidFill>
              <a:srgbClr val="0B2D41"/>
            </a:solidFill>
          </p:spPr>
        </p:sp>
      </p:grpSp>
      <p:sp>
        <p:nvSpPr>
          <p:cNvPr name="TextBox 14" id="14"/>
          <p:cNvSpPr txBox="true"/>
          <p:nvPr/>
        </p:nvSpPr>
        <p:spPr>
          <a:xfrm rot="0">
            <a:off x="3384794" y="7140921"/>
            <a:ext cx="1815227" cy="258763"/>
          </a:xfrm>
          <a:prstGeom prst="rect">
            <a:avLst/>
          </a:prstGeom>
        </p:spPr>
        <p:txBody>
          <a:bodyPr anchor="t" rtlCol="false" tIns="0" lIns="0" bIns="0" rIns="0">
            <a:spAutoFit/>
          </a:bodyPr>
          <a:lstStyle/>
          <a:p>
            <a:pPr algn="l">
              <a:lnSpc>
                <a:spcPts val="1937"/>
              </a:lnSpc>
            </a:pPr>
            <a:r>
              <a:rPr lang="en-US" sz="1937">
                <a:solidFill>
                  <a:srgbClr val="303030"/>
                </a:solidFill>
                <a:latin typeface="Inter"/>
                <a:ea typeface="Inter"/>
                <a:cs typeface="Inter"/>
                <a:sym typeface="Inter"/>
              </a:rPr>
              <a:t>Standard Model</a:t>
            </a:r>
          </a:p>
        </p:txBody>
      </p:sp>
      <p:grpSp>
        <p:nvGrpSpPr>
          <p:cNvPr name="Group 15" id="15"/>
          <p:cNvGrpSpPr/>
          <p:nvPr/>
        </p:nvGrpSpPr>
        <p:grpSpPr>
          <a:xfrm rot="0">
            <a:off x="5434755" y="7112346"/>
            <a:ext cx="247945" cy="247945"/>
            <a:chOff x="0" y="0"/>
            <a:chExt cx="330594" cy="330594"/>
          </a:xfrm>
        </p:grpSpPr>
        <p:sp>
          <p:nvSpPr>
            <p:cNvPr name="Freeform 16" id="16"/>
            <p:cNvSpPr/>
            <p:nvPr/>
          </p:nvSpPr>
          <p:spPr>
            <a:xfrm flipH="false" flipV="false" rot="0">
              <a:off x="0" y="0"/>
              <a:ext cx="330581" cy="330581"/>
            </a:xfrm>
            <a:custGeom>
              <a:avLst/>
              <a:gdLst/>
              <a:ahLst/>
              <a:cxnLst/>
              <a:rect r="r" b="b" t="t" l="l"/>
              <a:pathLst>
                <a:path h="330581" w="330581">
                  <a:moveTo>
                    <a:pt x="0" y="30480"/>
                  </a:moveTo>
                  <a:cubicBezTo>
                    <a:pt x="0" y="13589"/>
                    <a:pt x="13589" y="0"/>
                    <a:pt x="30480" y="0"/>
                  </a:cubicBezTo>
                  <a:lnTo>
                    <a:pt x="300101" y="0"/>
                  </a:lnTo>
                  <a:cubicBezTo>
                    <a:pt x="316992" y="0"/>
                    <a:pt x="330581" y="13589"/>
                    <a:pt x="330581" y="30480"/>
                  </a:cubicBezTo>
                  <a:lnTo>
                    <a:pt x="330581" y="300101"/>
                  </a:lnTo>
                  <a:cubicBezTo>
                    <a:pt x="330581" y="316992"/>
                    <a:pt x="316992" y="330581"/>
                    <a:pt x="300101" y="330581"/>
                  </a:cubicBezTo>
                  <a:lnTo>
                    <a:pt x="30480" y="330581"/>
                  </a:lnTo>
                  <a:cubicBezTo>
                    <a:pt x="13589" y="330581"/>
                    <a:pt x="0" y="316992"/>
                    <a:pt x="0" y="300101"/>
                  </a:cubicBezTo>
                  <a:close/>
                </a:path>
              </a:pathLst>
            </a:custGeom>
            <a:solidFill>
              <a:srgbClr val="18618E"/>
            </a:solidFill>
          </p:spPr>
        </p:sp>
      </p:grpSp>
      <p:sp>
        <p:nvSpPr>
          <p:cNvPr name="TextBox 17" id="17"/>
          <p:cNvSpPr txBox="true"/>
          <p:nvPr/>
        </p:nvSpPr>
        <p:spPr>
          <a:xfrm rot="0">
            <a:off x="5758901" y="7140921"/>
            <a:ext cx="1935956" cy="258763"/>
          </a:xfrm>
          <a:prstGeom prst="rect">
            <a:avLst/>
          </a:prstGeom>
        </p:spPr>
        <p:txBody>
          <a:bodyPr anchor="t" rtlCol="false" tIns="0" lIns="0" bIns="0" rIns="0">
            <a:spAutoFit/>
          </a:bodyPr>
          <a:lstStyle/>
          <a:p>
            <a:pPr algn="l">
              <a:lnSpc>
                <a:spcPts val="1937"/>
              </a:lnSpc>
            </a:pPr>
            <a:r>
              <a:rPr lang="en-US" sz="1937">
                <a:solidFill>
                  <a:srgbClr val="303030"/>
                </a:solidFill>
                <a:latin typeface="Inter"/>
                <a:ea typeface="Inter"/>
                <a:cs typeface="Inter"/>
                <a:sym typeface="Inter"/>
              </a:rPr>
              <a:t>Advanced Model</a:t>
            </a:r>
          </a:p>
        </p:txBody>
      </p:sp>
      <p:grpSp>
        <p:nvGrpSpPr>
          <p:cNvPr name="Group 18" id="18"/>
          <p:cNvGrpSpPr/>
          <p:nvPr/>
        </p:nvGrpSpPr>
        <p:grpSpPr>
          <a:xfrm rot="0">
            <a:off x="10287152" y="2973438"/>
            <a:ext cx="3406378" cy="4004224"/>
            <a:chOff x="0" y="0"/>
            <a:chExt cx="4541838" cy="5338966"/>
          </a:xfrm>
        </p:grpSpPr>
        <p:sp>
          <p:nvSpPr>
            <p:cNvPr name="Freeform 19" id="19"/>
            <p:cNvSpPr/>
            <p:nvPr/>
          </p:nvSpPr>
          <p:spPr>
            <a:xfrm flipH="false" flipV="false" rot="0">
              <a:off x="19050" y="19050"/>
              <a:ext cx="4503674" cy="5300853"/>
            </a:xfrm>
            <a:custGeom>
              <a:avLst/>
              <a:gdLst/>
              <a:ahLst/>
              <a:cxnLst/>
              <a:rect r="r" b="b" t="t" l="l"/>
              <a:pathLst>
                <a:path h="5300853" w="4503674">
                  <a:moveTo>
                    <a:pt x="0" y="183134"/>
                  </a:moveTo>
                  <a:cubicBezTo>
                    <a:pt x="0" y="82042"/>
                    <a:pt x="81915" y="0"/>
                    <a:pt x="182880" y="0"/>
                  </a:cubicBezTo>
                  <a:lnTo>
                    <a:pt x="4320794" y="0"/>
                  </a:lnTo>
                  <a:cubicBezTo>
                    <a:pt x="4421759" y="0"/>
                    <a:pt x="4503674" y="82042"/>
                    <a:pt x="4503674" y="183134"/>
                  </a:cubicBezTo>
                  <a:lnTo>
                    <a:pt x="4503674" y="5117719"/>
                  </a:lnTo>
                  <a:cubicBezTo>
                    <a:pt x="4503674" y="5218811"/>
                    <a:pt x="4421759" y="5300853"/>
                    <a:pt x="4320794" y="5300853"/>
                  </a:cubicBezTo>
                  <a:lnTo>
                    <a:pt x="182880" y="5300853"/>
                  </a:lnTo>
                  <a:cubicBezTo>
                    <a:pt x="81915" y="5300853"/>
                    <a:pt x="0" y="5218811"/>
                    <a:pt x="0" y="5117719"/>
                  </a:cubicBezTo>
                  <a:close/>
                </a:path>
              </a:pathLst>
            </a:custGeom>
            <a:solidFill>
              <a:srgbClr val="F5F5F5"/>
            </a:solidFill>
          </p:spPr>
        </p:sp>
        <p:sp>
          <p:nvSpPr>
            <p:cNvPr name="Freeform 20" id="20"/>
            <p:cNvSpPr/>
            <p:nvPr/>
          </p:nvSpPr>
          <p:spPr>
            <a:xfrm flipH="false" flipV="false" rot="0">
              <a:off x="0" y="0"/>
              <a:ext cx="4541774" cy="5338953"/>
            </a:xfrm>
            <a:custGeom>
              <a:avLst/>
              <a:gdLst/>
              <a:ahLst/>
              <a:cxnLst/>
              <a:rect r="r" b="b" t="t" l="l"/>
              <a:pathLst>
                <a:path h="5338953" w="4541774">
                  <a:moveTo>
                    <a:pt x="0" y="202184"/>
                  </a:moveTo>
                  <a:cubicBezTo>
                    <a:pt x="0" y="90551"/>
                    <a:pt x="90424" y="0"/>
                    <a:pt x="201930" y="0"/>
                  </a:cubicBezTo>
                  <a:lnTo>
                    <a:pt x="4339844" y="0"/>
                  </a:lnTo>
                  <a:lnTo>
                    <a:pt x="4339844" y="19050"/>
                  </a:lnTo>
                  <a:lnTo>
                    <a:pt x="4339844" y="0"/>
                  </a:lnTo>
                  <a:cubicBezTo>
                    <a:pt x="4451350" y="0"/>
                    <a:pt x="4541774" y="90551"/>
                    <a:pt x="4541774" y="202184"/>
                  </a:cubicBezTo>
                  <a:lnTo>
                    <a:pt x="4522724" y="202184"/>
                  </a:lnTo>
                  <a:lnTo>
                    <a:pt x="4541774" y="202184"/>
                  </a:lnTo>
                  <a:lnTo>
                    <a:pt x="4541774" y="5136769"/>
                  </a:lnTo>
                  <a:lnTo>
                    <a:pt x="4522724" y="5136769"/>
                  </a:lnTo>
                  <a:lnTo>
                    <a:pt x="4541774" y="5136769"/>
                  </a:lnTo>
                  <a:cubicBezTo>
                    <a:pt x="4541774" y="5248402"/>
                    <a:pt x="4451350" y="5338953"/>
                    <a:pt x="4339844" y="5338953"/>
                  </a:cubicBezTo>
                  <a:lnTo>
                    <a:pt x="4339844" y="5319903"/>
                  </a:lnTo>
                  <a:lnTo>
                    <a:pt x="4339844" y="5338953"/>
                  </a:lnTo>
                  <a:lnTo>
                    <a:pt x="201930" y="5338953"/>
                  </a:lnTo>
                  <a:lnTo>
                    <a:pt x="201930" y="5319903"/>
                  </a:lnTo>
                  <a:lnTo>
                    <a:pt x="201930" y="5338953"/>
                  </a:lnTo>
                  <a:cubicBezTo>
                    <a:pt x="90424" y="5338953"/>
                    <a:pt x="0" y="5248402"/>
                    <a:pt x="0" y="5136769"/>
                  </a:cubicBezTo>
                  <a:lnTo>
                    <a:pt x="0" y="202184"/>
                  </a:lnTo>
                  <a:lnTo>
                    <a:pt x="19050" y="202184"/>
                  </a:lnTo>
                  <a:lnTo>
                    <a:pt x="0" y="202184"/>
                  </a:lnTo>
                  <a:moveTo>
                    <a:pt x="38100" y="202184"/>
                  </a:moveTo>
                  <a:lnTo>
                    <a:pt x="38100" y="5136769"/>
                  </a:lnTo>
                  <a:lnTo>
                    <a:pt x="19050" y="5136769"/>
                  </a:lnTo>
                  <a:lnTo>
                    <a:pt x="38100" y="5136769"/>
                  </a:lnTo>
                  <a:cubicBezTo>
                    <a:pt x="38100" y="5227447"/>
                    <a:pt x="111506" y="5300853"/>
                    <a:pt x="201930" y="5300853"/>
                  </a:cubicBezTo>
                  <a:lnTo>
                    <a:pt x="4339844" y="5300853"/>
                  </a:lnTo>
                  <a:cubicBezTo>
                    <a:pt x="4430268" y="5300853"/>
                    <a:pt x="4503674" y="5227447"/>
                    <a:pt x="4503674" y="5136769"/>
                  </a:cubicBezTo>
                  <a:lnTo>
                    <a:pt x="4503674" y="202184"/>
                  </a:lnTo>
                  <a:cubicBezTo>
                    <a:pt x="4503674" y="111506"/>
                    <a:pt x="4430268" y="38100"/>
                    <a:pt x="4339844" y="38100"/>
                  </a:cubicBezTo>
                  <a:lnTo>
                    <a:pt x="201930" y="38100"/>
                  </a:lnTo>
                  <a:lnTo>
                    <a:pt x="201930" y="19050"/>
                  </a:lnTo>
                  <a:lnTo>
                    <a:pt x="201930" y="38100"/>
                  </a:lnTo>
                  <a:cubicBezTo>
                    <a:pt x="111506" y="38100"/>
                    <a:pt x="38100" y="111506"/>
                    <a:pt x="38100" y="202184"/>
                  </a:cubicBezTo>
                  <a:close/>
                </a:path>
              </a:pathLst>
            </a:custGeom>
            <a:solidFill>
              <a:srgbClr val="5678F0"/>
            </a:solidFill>
          </p:spPr>
        </p:sp>
      </p:grpSp>
      <p:grpSp>
        <p:nvGrpSpPr>
          <p:cNvPr name="Group 21" id="21"/>
          <p:cNvGrpSpPr/>
          <p:nvPr/>
        </p:nvGrpSpPr>
        <p:grpSpPr>
          <a:xfrm rot="0">
            <a:off x="10272865" y="2987726"/>
            <a:ext cx="114300" cy="3975649"/>
            <a:chOff x="0" y="0"/>
            <a:chExt cx="152400" cy="5300866"/>
          </a:xfrm>
        </p:grpSpPr>
        <p:sp>
          <p:nvSpPr>
            <p:cNvPr name="Freeform 22" id="22"/>
            <p:cNvSpPr/>
            <p:nvPr/>
          </p:nvSpPr>
          <p:spPr>
            <a:xfrm flipH="false" flipV="false" rot="0">
              <a:off x="0" y="0"/>
              <a:ext cx="152400" cy="5300853"/>
            </a:xfrm>
            <a:custGeom>
              <a:avLst/>
              <a:gdLst/>
              <a:ahLst/>
              <a:cxnLst/>
              <a:rect r="r" b="b" t="t" l="l"/>
              <a:pathLst>
                <a:path h="5300853" w="152400">
                  <a:moveTo>
                    <a:pt x="0" y="76200"/>
                  </a:moveTo>
                  <a:cubicBezTo>
                    <a:pt x="0" y="34163"/>
                    <a:pt x="34163" y="0"/>
                    <a:pt x="76200" y="0"/>
                  </a:cubicBezTo>
                  <a:cubicBezTo>
                    <a:pt x="118237" y="0"/>
                    <a:pt x="152400" y="34163"/>
                    <a:pt x="152400" y="76200"/>
                  </a:cubicBezTo>
                  <a:lnTo>
                    <a:pt x="152400" y="5224653"/>
                  </a:lnTo>
                  <a:cubicBezTo>
                    <a:pt x="152400" y="5266690"/>
                    <a:pt x="118237" y="5300853"/>
                    <a:pt x="76200" y="5300853"/>
                  </a:cubicBezTo>
                  <a:cubicBezTo>
                    <a:pt x="34163" y="5300853"/>
                    <a:pt x="0" y="5266690"/>
                    <a:pt x="0" y="5224653"/>
                  </a:cubicBezTo>
                  <a:close/>
                </a:path>
              </a:pathLst>
            </a:custGeom>
            <a:solidFill>
              <a:srgbClr val="5678F0"/>
            </a:solidFill>
          </p:spPr>
        </p:sp>
      </p:grpSp>
      <p:sp>
        <p:nvSpPr>
          <p:cNvPr name="TextBox 23" id="23"/>
          <p:cNvSpPr txBox="true"/>
          <p:nvPr/>
        </p:nvSpPr>
        <p:spPr>
          <a:xfrm rot="0">
            <a:off x="10663685" y="3264246"/>
            <a:ext cx="2739028" cy="730250"/>
          </a:xfrm>
          <a:prstGeom prst="rect">
            <a:avLst/>
          </a:prstGeom>
        </p:spPr>
        <p:txBody>
          <a:bodyPr anchor="t" rtlCol="false" tIns="0" lIns="0" bIns="0" rIns="0">
            <a:spAutoFit/>
          </a:bodyPr>
          <a:lstStyle/>
          <a:p>
            <a:pPr algn="l">
              <a:lnSpc>
                <a:spcPts val="2875"/>
              </a:lnSpc>
            </a:pPr>
            <a:r>
              <a:rPr lang="en-US" sz="2437" b="true">
                <a:solidFill>
                  <a:srgbClr val="303030"/>
                </a:solidFill>
                <a:latin typeface="Inter Bold"/>
                <a:ea typeface="Inter Bold"/>
                <a:cs typeface="Inter Bold"/>
                <a:sym typeface="Inter Bold"/>
              </a:rPr>
              <a:t>Standard: 98.76% Accuracy</a:t>
            </a:r>
          </a:p>
        </p:txBody>
      </p:sp>
      <p:sp>
        <p:nvSpPr>
          <p:cNvPr name="TextBox 24" id="24"/>
          <p:cNvSpPr txBox="true"/>
          <p:nvPr/>
        </p:nvSpPr>
        <p:spPr>
          <a:xfrm rot="0">
            <a:off x="10663685" y="4218232"/>
            <a:ext cx="2739028" cy="16589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Hội tụ nhanh trên ảnh tĩnh. Điểm số cực cao nhưng </a:t>
            </a:r>
            <a:r>
              <a:rPr lang="en-US" sz="1937" b="true">
                <a:solidFill>
                  <a:srgbClr val="303030"/>
                </a:solidFill>
                <a:latin typeface="Inter Bold"/>
                <a:ea typeface="Inter Bold"/>
                <a:cs typeface="Inter Bold"/>
                <a:sym typeface="Inter Bold"/>
              </a:rPr>
              <a:t>không phát hiện được lỗi thời gian</a:t>
            </a:r>
            <a:r>
              <a:rPr lang="en-US" sz="1937">
                <a:solidFill>
                  <a:srgbClr val="303030"/>
                </a:solidFill>
                <a:latin typeface="Inter"/>
                <a:ea typeface="Inter"/>
                <a:cs typeface="Inter"/>
                <a:sym typeface="Inter"/>
              </a:rPr>
              <a:t> trong video liên tục.</a:t>
            </a:r>
          </a:p>
        </p:txBody>
      </p:sp>
      <p:grpSp>
        <p:nvGrpSpPr>
          <p:cNvPr name="Group 25" id="25"/>
          <p:cNvGrpSpPr/>
          <p:nvPr/>
        </p:nvGrpSpPr>
        <p:grpSpPr>
          <a:xfrm rot="0">
            <a:off x="13912901" y="2973438"/>
            <a:ext cx="3406531" cy="4004224"/>
            <a:chOff x="0" y="0"/>
            <a:chExt cx="4542041" cy="5338966"/>
          </a:xfrm>
        </p:grpSpPr>
        <p:sp>
          <p:nvSpPr>
            <p:cNvPr name="Freeform 26" id="26"/>
            <p:cNvSpPr/>
            <p:nvPr/>
          </p:nvSpPr>
          <p:spPr>
            <a:xfrm flipH="false" flipV="false" rot="0">
              <a:off x="19050" y="19050"/>
              <a:ext cx="4503928" cy="5300853"/>
            </a:xfrm>
            <a:custGeom>
              <a:avLst/>
              <a:gdLst/>
              <a:ahLst/>
              <a:cxnLst/>
              <a:rect r="r" b="b" t="t" l="l"/>
              <a:pathLst>
                <a:path h="5300853" w="4503928">
                  <a:moveTo>
                    <a:pt x="0" y="183134"/>
                  </a:moveTo>
                  <a:cubicBezTo>
                    <a:pt x="0" y="81915"/>
                    <a:pt x="81915" y="0"/>
                    <a:pt x="182880" y="0"/>
                  </a:cubicBezTo>
                  <a:lnTo>
                    <a:pt x="4321048" y="0"/>
                  </a:lnTo>
                  <a:cubicBezTo>
                    <a:pt x="4422013" y="0"/>
                    <a:pt x="4503928" y="81915"/>
                    <a:pt x="4503928" y="183134"/>
                  </a:cubicBezTo>
                  <a:lnTo>
                    <a:pt x="4503928" y="5117719"/>
                  </a:lnTo>
                  <a:cubicBezTo>
                    <a:pt x="4503928" y="5218811"/>
                    <a:pt x="4422013" y="5300853"/>
                    <a:pt x="4321048" y="5300853"/>
                  </a:cubicBezTo>
                  <a:lnTo>
                    <a:pt x="182880" y="5300853"/>
                  </a:lnTo>
                  <a:cubicBezTo>
                    <a:pt x="81915" y="5300853"/>
                    <a:pt x="0" y="5218938"/>
                    <a:pt x="0" y="5117719"/>
                  </a:cubicBezTo>
                  <a:close/>
                </a:path>
              </a:pathLst>
            </a:custGeom>
            <a:solidFill>
              <a:srgbClr val="F5F5F5"/>
            </a:solidFill>
          </p:spPr>
        </p:sp>
        <p:sp>
          <p:nvSpPr>
            <p:cNvPr name="Freeform 27" id="27"/>
            <p:cNvSpPr/>
            <p:nvPr/>
          </p:nvSpPr>
          <p:spPr>
            <a:xfrm flipH="false" flipV="false" rot="0">
              <a:off x="0" y="0"/>
              <a:ext cx="4542028" cy="5338953"/>
            </a:xfrm>
            <a:custGeom>
              <a:avLst/>
              <a:gdLst/>
              <a:ahLst/>
              <a:cxnLst/>
              <a:rect r="r" b="b" t="t" l="l"/>
              <a:pathLst>
                <a:path h="5338953" w="4542028">
                  <a:moveTo>
                    <a:pt x="0" y="202184"/>
                  </a:moveTo>
                  <a:cubicBezTo>
                    <a:pt x="0" y="90551"/>
                    <a:pt x="90424" y="0"/>
                    <a:pt x="201930" y="0"/>
                  </a:cubicBezTo>
                  <a:lnTo>
                    <a:pt x="4340098" y="0"/>
                  </a:lnTo>
                  <a:lnTo>
                    <a:pt x="4340098" y="19050"/>
                  </a:lnTo>
                  <a:lnTo>
                    <a:pt x="4340098" y="0"/>
                  </a:lnTo>
                  <a:cubicBezTo>
                    <a:pt x="4451604" y="0"/>
                    <a:pt x="4542028" y="90551"/>
                    <a:pt x="4542028" y="202184"/>
                  </a:cubicBezTo>
                  <a:lnTo>
                    <a:pt x="4522978" y="202184"/>
                  </a:lnTo>
                  <a:lnTo>
                    <a:pt x="4542028" y="202184"/>
                  </a:lnTo>
                  <a:lnTo>
                    <a:pt x="4542028" y="5136769"/>
                  </a:lnTo>
                  <a:lnTo>
                    <a:pt x="4522978" y="5136769"/>
                  </a:lnTo>
                  <a:lnTo>
                    <a:pt x="4542028" y="5136769"/>
                  </a:lnTo>
                  <a:cubicBezTo>
                    <a:pt x="4542028" y="5248402"/>
                    <a:pt x="4451604" y="5338953"/>
                    <a:pt x="4340098" y="5338953"/>
                  </a:cubicBezTo>
                  <a:lnTo>
                    <a:pt x="4340098" y="5319903"/>
                  </a:lnTo>
                  <a:lnTo>
                    <a:pt x="4340098" y="5338953"/>
                  </a:lnTo>
                  <a:lnTo>
                    <a:pt x="201930" y="5338953"/>
                  </a:lnTo>
                  <a:lnTo>
                    <a:pt x="201930" y="5319903"/>
                  </a:lnTo>
                  <a:lnTo>
                    <a:pt x="201930" y="5338953"/>
                  </a:lnTo>
                  <a:cubicBezTo>
                    <a:pt x="90424" y="5338953"/>
                    <a:pt x="0" y="5248402"/>
                    <a:pt x="0" y="5136769"/>
                  </a:cubicBezTo>
                  <a:lnTo>
                    <a:pt x="0" y="202184"/>
                  </a:lnTo>
                  <a:lnTo>
                    <a:pt x="19050" y="202184"/>
                  </a:lnTo>
                  <a:lnTo>
                    <a:pt x="0" y="202184"/>
                  </a:lnTo>
                  <a:moveTo>
                    <a:pt x="38100" y="202184"/>
                  </a:moveTo>
                  <a:lnTo>
                    <a:pt x="38100" y="5136769"/>
                  </a:lnTo>
                  <a:lnTo>
                    <a:pt x="19050" y="5136769"/>
                  </a:lnTo>
                  <a:lnTo>
                    <a:pt x="38100" y="5136769"/>
                  </a:lnTo>
                  <a:cubicBezTo>
                    <a:pt x="38100" y="5227447"/>
                    <a:pt x="111506" y="5300853"/>
                    <a:pt x="201930" y="5300853"/>
                  </a:cubicBezTo>
                  <a:lnTo>
                    <a:pt x="4340098" y="5300853"/>
                  </a:lnTo>
                  <a:cubicBezTo>
                    <a:pt x="4430522" y="5300853"/>
                    <a:pt x="4503928" y="5227447"/>
                    <a:pt x="4503928" y="5136769"/>
                  </a:cubicBezTo>
                  <a:lnTo>
                    <a:pt x="4503928" y="202184"/>
                  </a:lnTo>
                  <a:cubicBezTo>
                    <a:pt x="4503928" y="111506"/>
                    <a:pt x="4430522" y="38100"/>
                    <a:pt x="4340098" y="38100"/>
                  </a:cubicBezTo>
                  <a:lnTo>
                    <a:pt x="201930" y="38100"/>
                  </a:lnTo>
                  <a:lnTo>
                    <a:pt x="201930" y="19050"/>
                  </a:lnTo>
                  <a:lnTo>
                    <a:pt x="201930" y="38100"/>
                  </a:lnTo>
                  <a:cubicBezTo>
                    <a:pt x="111506" y="38100"/>
                    <a:pt x="38100" y="111506"/>
                    <a:pt x="38100" y="202184"/>
                  </a:cubicBezTo>
                  <a:close/>
                </a:path>
              </a:pathLst>
            </a:custGeom>
            <a:solidFill>
              <a:srgbClr val="948BE2"/>
            </a:solidFill>
          </p:spPr>
        </p:sp>
      </p:grpSp>
      <p:grpSp>
        <p:nvGrpSpPr>
          <p:cNvPr name="Group 28" id="28"/>
          <p:cNvGrpSpPr/>
          <p:nvPr/>
        </p:nvGrpSpPr>
        <p:grpSpPr>
          <a:xfrm rot="0">
            <a:off x="13898613" y="2987726"/>
            <a:ext cx="114300" cy="3975649"/>
            <a:chOff x="0" y="0"/>
            <a:chExt cx="152400" cy="5300866"/>
          </a:xfrm>
        </p:grpSpPr>
        <p:sp>
          <p:nvSpPr>
            <p:cNvPr name="Freeform 29" id="29"/>
            <p:cNvSpPr/>
            <p:nvPr/>
          </p:nvSpPr>
          <p:spPr>
            <a:xfrm flipH="false" flipV="false" rot="0">
              <a:off x="0" y="0"/>
              <a:ext cx="152400" cy="5300853"/>
            </a:xfrm>
            <a:custGeom>
              <a:avLst/>
              <a:gdLst/>
              <a:ahLst/>
              <a:cxnLst/>
              <a:rect r="r" b="b" t="t" l="l"/>
              <a:pathLst>
                <a:path h="5300853" w="152400">
                  <a:moveTo>
                    <a:pt x="0" y="76200"/>
                  </a:moveTo>
                  <a:cubicBezTo>
                    <a:pt x="0" y="34163"/>
                    <a:pt x="34163" y="0"/>
                    <a:pt x="76200" y="0"/>
                  </a:cubicBezTo>
                  <a:cubicBezTo>
                    <a:pt x="118237" y="0"/>
                    <a:pt x="152400" y="34163"/>
                    <a:pt x="152400" y="76200"/>
                  </a:cubicBezTo>
                  <a:lnTo>
                    <a:pt x="152400" y="5224653"/>
                  </a:lnTo>
                  <a:cubicBezTo>
                    <a:pt x="152400" y="5266690"/>
                    <a:pt x="118237" y="5300853"/>
                    <a:pt x="76200" y="5300853"/>
                  </a:cubicBezTo>
                  <a:cubicBezTo>
                    <a:pt x="34163" y="5300853"/>
                    <a:pt x="0" y="5266690"/>
                    <a:pt x="0" y="5224653"/>
                  </a:cubicBezTo>
                  <a:close/>
                </a:path>
              </a:pathLst>
            </a:custGeom>
            <a:solidFill>
              <a:srgbClr val="948BE2"/>
            </a:solidFill>
          </p:spPr>
        </p:sp>
      </p:grpSp>
      <p:sp>
        <p:nvSpPr>
          <p:cNvPr name="TextBox 30" id="30"/>
          <p:cNvSpPr txBox="true"/>
          <p:nvPr/>
        </p:nvSpPr>
        <p:spPr>
          <a:xfrm rot="0">
            <a:off x="14289434" y="3264246"/>
            <a:ext cx="2739180" cy="730250"/>
          </a:xfrm>
          <a:prstGeom prst="rect">
            <a:avLst/>
          </a:prstGeom>
        </p:spPr>
        <p:txBody>
          <a:bodyPr anchor="t" rtlCol="false" tIns="0" lIns="0" bIns="0" rIns="0">
            <a:spAutoFit/>
          </a:bodyPr>
          <a:lstStyle/>
          <a:p>
            <a:pPr algn="l">
              <a:lnSpc>
                <a:spcPts val="2875"/>
              </a:lnSpc>
            </a:pPr>
            <a:r>
              <a:rPr lang="en-US" sz="2437" b="true">
                <a:solidFill>
                  <a:srgbClr val="303030"/>
                </a:solidFill>
                <a:latin typeface="Inter Bold"/>
                <a:ea typeface="Inter Bold"/>
                <a:cs typeface="Inter Bold"/>
                <a:sym typeface="Inter Bold"/>
              </a:rPr>
              <a:t>Advanced: Giá Trị Thực Tiễn</a:t>
            </a:r>
          </a:p>
        </p:txBody>
      </p:sp>
      <p:sp>
        <p:nvSpPr>
          <p:cNvPr name="TextBox 31" id="31"/>
          <p:cNvSpPr txBox="true"/>
          <p:nvPr/>
        </p:nvSpPr>
        <p:spPr>
          <a:xfrm rot="0">
            <a:off x="14289434" y="4218232"/>
            <a:ext cx="2739180" cy="2659062"/>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Accuracy 91.56% trên video thực tế. </a:t>
            </a:r>
            <a:r>
              <a:rPr lang="en-US" sz="1937" b="true">
                <a:solidFill>
                  <a:srgbClr val="303030"/>
                </a:solidFill>
                <a:latin typeface="Inter Bold"/>
                <a:ea typeface="Inter Bold"/>
                <a:cs typeface="Inter Bold"/>
                <a:sym typeface="Inter Bold"/>
              </a:rPr>
              <a:t>Phát hiện nhấp nháy, giật môi</a:t>
            </a:r>
            <a:r>
              <a:rPr lang="en-US" sz="1937">
                <a:solidFill>
                  <a:srgbClr val="303030"/>
                </a:solidFill>
                <a:latin typeface="Inter"/>
                <a:ea typeface="Inter"/>
                <a:cs typeface="Inter"/>
                <a:sym typeface="Inter"/>
              </a:rPr>
              <a:t> qua Bi-LSTM — khả năng không thể thiếu khi xử lý Face2Face trong môi trường thực.</a:t>
            </a:r>
          </a:p>
        </p:txBody>
      </p:sp>
      <p:grpSp>
        <p:nvGrpSpPr>
          <p:cNvPr name="Group 32" id="32"/>
          <p:cNvGrpSpPr/>
          <p:nvPr/>
        </p:nvGrpSpPr>
        <p:grpSpPr>
          <a:xfrm rot="0">
            <a:off x="10301440" y="7242419"/>
            <a:ext cx="7003704" cy="1698727"/>
            <a:chOff x="0" y="0"/>
            <a:chExt cx="9338272" cy="2264969"/>
          </a:xfrm>
        </p:grpSpPr>
        <p:sp>
          <p:nvSpPr>
            <p:cNvPr name="Freeform 33" id="33"/>
            <p:cNvSpPr/>
            <p:nvPr/>
          </p:nvSpPr>
          <p:spPr>
            <a:xfrm flipH="false" flipV="false" rot="0">
              <a:off x="0" y="0"/>
              <a:ext cx="9338310" cy="2264918"/>
            </a:xfrm>
            <a:custGeom>
              <a:avLst/>
              <a:gdLst/>
              <a:ahLst/>
              <a:cxnLst/>
              <a:rect r="r" b="b" t="t" l="l"/>
              <a:pathLst>
                <a:path h="2264918" w="9338310">
                  <a:moveTo>
                    <a:pt x="0" y="297688"/>
                  </a:moveTo>
                  <a:cubicBezTo>
                    <a:pt x="0" y="133350"/>
                    <a:pt x="133350" y="0"/>
                    <a:pt x="297688" y="0"/>
                  </a:cubicBezTo>
                  <a:lnTo>
                    <a:pt x="9040622" y="0"/>
                  </a:lnTo>
                  <a:cubicBezTo>
                    <a:pt x="9204960" y="0"/>
                    <a:pt x="9338310" y="133350"/>
                    <a:pt x="9338310" y="297688"/>
                  </a:cubicBezTo>
                  <a:lnTo>
                    <a:pt x="9338310" y="1967230"/>
                  </a:lnTo>
                  <a:cubicBezTo>
                    <a:pt x="9338310" y="2131695"/>
                    <a:pt x="9204960" y="2264918"/>
                    <a:pt x="9040622" y="2264918"/>
                  </a:cubicBezTo>
                  <a:lnTo>
                    <a:pt x="297688" y="2264918"/>
                  </a:lnTo>
                  <a:cubicBezTo>
                    <a:pt x="133350" y="2264918"/>
                    <a:pt x="0" y="2131695"/>
                    <a:pt x="0" y="1967230"/>
                  </a:cubicBezTo>
                  <a:close/>
                </a:path>
              </a:pathLst>
            </a:custGeom>
            <a:solidFill>
              <a:srgbClr val="BEDFF4"/>
            </a:solidFill>
          </p:spPr>
        </p:sp>
      </p:grpSp>
      <p:grpSp>
        <p:nvGrpSpPr>
          <p:cNvPr name="Group 34" id="34"/>
          <p:cNvGrpSpPr/>
          <p:nvPr/>
        </p:nvGrpSpPr>
        <p:grpSpPr>
          <a:xfrm rot="0">
            <a:off x="10549385" y="7601988"/>
            <a:ext cx="310010" cy="247945"/>
            <a:chOff x="0" y="0"/>
            <a:chExt cx="413347" cy="330594"/>
          </a:xfrm>
        </p:grpSpPr>
        <p:sp>
          <p:nvSpPr>
            <p:cNvPr name="Freeform 35" id="35" descr="preencoded.png"/>
            <p:cNvSpPr/>
            <p:nvPr/>
          </p:nvSpPr>
          <p:spPr>
            <a:xfrm flipH="false" flipV="false" rot="0">
              <a:off x="0" y="0"/>
              <a:ext cx="413385" cy="330581"/>
            </a:xfrm>
            <a:custGeom>
              <a:avLst/>
              <a:gdLst/>
              <a:ahLst/>
              <a:cxnLst/>
              <a:rect r="r" b="b" t="t" l="l"/>
              <a:pathLst>
                <a:path h="330581" w="413385">
                  <a:moveTo>
                    <a:pt x="0" y="0"/>
                  </a:moveTo>
                  <a:lnTo>
                    <a:pt x="413385" y="0"/>
                  </a:lnTo>
                  <a:lnTo>
                    <a:pt x="413385" y="330581"/>
                  </a:lnTo>
                  <a:lnTo>
                    <a:pt x="0" y="330581"/>
                  </a:lnTo>
                  <a:lnTo>
                    <a:pt x="0" y="0"/>
                  </a:lnTo>
                  <a:close/>
                </a:path>
              </a:pathLst>
            </a:custGeom>
            <a:blipFill>
              <a:blip r:embed="rId3"/>
              <a:stretch>
                <a:fillRect l="-755" t="0" r="-749" b="-3"/>
              </a:stretch>
            </a:blipFill>
          </p:spPr>
        </p:sp>
      </p:grpSp>
      <p:sp>
        <p:nvSpPr>
          <p:cNvPr name="TextBox 36" id="36"/>
          <p:cNvSpPr txBox="true"/>
          <p:nvPr/>
        </p:nvSpPr>
        <p:spPr>
          <a:xfrm rot="0">
            <a:off x="11107341" y="7514187"/>
            <a:ext cx="5949848" cy="992188"/>
          </a:xfrm>
          <a:prstGeom prst="rect">
            <a:avLst/>
          </a:prstGeom>
        </p:spPr>
        <p:txBody>
          <a:bodyPr anchor="t" rtlCol="false" tIns="0" lIns="0" bIns="0" rIns="0">
            <a:spAutoFit/>
          </a:bodyPr>
          <a:lstStyle/>
          <a:p>
            <a:pPr algn="l">
              <a:lnSpc>
                <a:spcPts val="2687"/>
              </a:lnSpc>
            </a:pPr>
            <a:r>
              <a:rPr lang="en-US" sz="1937" b="true">
                <a:solidFill>
                  <a:srgbClr val="000000"/>
                </a:solidFill>
                <a:latin typeface="Inter Bold"/>
                <a:ea typeface="Inter Bold"/>
                <a:cs typeface="Inter Bold"/>
                <a:sym typeface="Inter Bold"/>
              </a:rPr>
              <a:t>Kết luận:</a:t>
            </a:r>
            <a:r>
              <a:rPr lang="en-US" sz="1937">
                <a:solidFill>
                  <a:srgbClr val="000000"/>
                </a:solidFill>
                <a:latin typeface="Inter"/>
                <a:ea typeface="Inter"/>
                <a:cs typeface="Inter"/>
                <a:sym typeface="Inter"/>
              </a:rPr>
              <a:t> Standard thắng về con số, Advanced thắng về giá trị thực tiễn cốt lõi khi phân tích video deepfake.</a:t>
            </a:r>
          </a:p>
        </p:txBody>
      </p:sp>
      <p:grpSp>
        <p:nvGrpSpPr>
          <p:cNvPr name="Group 37" id="37"/>
          <p:cNvGrpSpPr/>
          <p:nvPr/>
        </p:nvGrpSpPr>
        <p:grpSpPr>
          <a:xfrm rot="0">
            <a:off x="15989351" y="0"/>
            <a:ext cx="2212924" cy="2212924"/>
            <a:chOff x="0" y="0"/>
            <a:chExt cx="812800" cy="812800"/>
          </a:xfrm>
        </p:grpSpPr>
        <p:sp>
          <p:nvSpPr>
            <p:cNvPr name="Freeform 38" id="3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0" r="0" b="0"/>
              </a:stretch>
            </a:blip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377C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5F5F5"/>
            </a:solidFill>
          </p:spPr>
        </p:sp>
      </p:grpSp>
      <p:grpSp>
        <p:nvGrpSpPr>
          <p:cNvPr name="Group 6" id="6"/>
          <p:cNvGrpSpPr/>
          <p:nvPr/>
        </p:nvGrpSpPr>
        <p:grpSpPr>
          <a:xfrm rot="0">
            <a:off x="992238" y="917372"/>
            <a:ext cx="2343445" cy="269529"/>
            <a:chOff x="0" y="0"/>
            <a:chExt cx="3124594" cy="359372"/>
          </a:xfrm>
        </p:grpSpPr>
        <p:sp>
          <p:nvSpPr>
            <p:cNvPr name="Freeform 7" id="7"/>
            <p:cNvSpPr/>
            <p:nvPr/>
          </p:nvSpPr>
          <p:spPr>
            <a:xfrm flipH="false" flipV="false" rot="0">
              <a:off x="0" y="0"/>
              <a:ext cx="3124581" cy="359410"/>
            </a:xfrm>
            <a:custGeom>
              <a:avLst/>
              <a:gdLst/>
              <a:ahLst/>
              <a:cxnLst/>
              <a:rect r="r" b="b" t="t" l="l"/>
              <a:pathLst>
                <a:path h="359410" w="3124581">
                  <a:moveTo>
                    <a:pt x="0" y="166751"/>
                  </a:moveTo>
                  <a:cubicBezTo>
                    <a:pt x="0" y="74676"/>
                    <a:pt x="74676" y="0"/>
                    <a:pt x="166751" y="0"/>
                  </a:cubicBezTo>
                  <a:lnTo>
                    <a:pt x="2957830" y="0"/>
                  </a:lnTo>
                  <a:cubicBezTo>
                    <a:pt x="3049905" y="0"/>
                    <a:pt x="3124581" y="74676"/>
                    <a:pt x="3124581" y="166751"/>
                  </a:cubicBezTo>
                  <a:lnTo>
                    <a:pt x="3124581" y="192659"/>
                  </a:lnTo>
                  <a:cubicBezTo>
                    <a:pt x="3124581" y="284734"/>
                    <a:pt x="3049905" y="359410"/>
                    <a:pt x="2957830" y="359410"/>
                  </a:cubicBezTo>
                  <a:lnTo>
                    <a:pt x="166751" y="359410"/>
                  </a:lnTo>
                  <a:cubicBezTo>
                    <a:pt x="74676" y="359410"/>
                    <a:pt x="0" y="284734"/>
                    <a:pt x="0" y="192659"/>
                  </a:cubicBezTo>
                  <a:close/>
                </a:path>
              </a:pathLst>
            </a:custGeom>
            <a:solidFill>
              <a:srgbClr val="5678F0"/>
            </a:solidFill>
          </p:spPr>
        </p:sp>
      </p:grpSp>
      <p:sp>
        <p:nvSpPr>
          <p:cNvPr name="TextBox 8" id="8"/>
          <p:cNvSpPr txBox="true"/>
          <p:nvPr/>
        </p:nvSpPr>
        <p:spPr>
          <a:xfrm rot="0">
            <a:off x="1096413" y="969464"/>
            <a:ext cx="2057638" cy="155575"/>
          </a:xfrm>
          <a:prstGeom prst="rect">
            <a:avLst/>
          </a:prstGeom>
        </p:spPr>
        <p:txBody>
          <a:bodyPr anchor="t" rtlCol="false" tIns="0" lIns="0" bIns="0" rIns="0">
            <a:spAutoFit/>
          </a:bodyPr>
          <a:lstStyle/>
          <a:p>
            <a:pPr algn="l">
              <a:lnSpc>
                <a:spcPts val="1249"/>
              </a:lnSpc>
            </a:pPr>
            <a:r>
              <a:rPr lang="en-US" sz="1062">
                <a:solidFill>
                  <a:srgbClr val="FFFFFF"/>
                </a:solidFill>
                <a:latin typeface="Inter"/>
                <a:ea typeface="Inter"/>
                <a:cs typeface="Inter"/>
                <a:sym typeface="Inter"/>
              </a:rPr>
              <a:t>PHẦN 5: ỨNG DỤNG THỰC TIỄN</a:t>
            </a:r>
          </a:p>
        </p:txBody>
      </p:sp>
      <p:sp>
        <p:nvSpPr>
          <p:cNvPr name="TextBox 9" id="9"/>
          <p:cNvSpPr txBox="true"/>
          <p:nvPr/>
        </p:nvSpPr>
        <p:spPr>
          <a:xfrm rot="0">
            <a:off x="992238" y="1235421"/>
            <a:ext cx="5380077" cy="512762"/>
          </a:xfrm>
          <a:prstGeom prst="rect">
            <a:avLst/>
          </a:prstGeom>
        </p:spPr>
        <p:txBody>
          <a:bodyPr anchor="t" rtlCol="false" tIns="0" lIns="0" bIns="0" rIns="0">
            <a:spAutoFit/>
          </a:bodyPr>
          <a:lstStyle/>
          <a:p>
            <a:pPr algn="l">
              <a:lnSpc>
                <a:spcPts val="4062"/>
              </a:lnSpc>
            </a:pPr>
            <a:r>
              <a:rPr lang="en-US" sz="3374" b="true">
                <a:solidFill>
                  <a:srgbClr val="5678F0"/>
                </a:solidFill>
                <a:latin typeface="Inter Bold"/>
                <a:ea typeface="Inter Bold"/>
                <a:cs typeface="Inter Bold"/>
                <a:sym typeface="Inter Bold"/>
              </a:rPr>
              <a:t>Tối ưu hóa Triển khai Web</a:t>
            </a:r>
          </a:p>
        </p:txBody>
      </p:sp>
      <p:sp>
        <p:nvSpPr>
          <p:cNvPr name="TextBox 10" id="10"/>
          <p:cNvSpPr txBox="true"/>
          <p:nvPr/>
        </p:nvSpPr>
        <p:spPr>
          <a:xfrm rot="0">
            <a:off x="992238" y="1929108"/>
            <a:ext cx="8057674" cy="203200"/>
          </a:xfrm>
          <a:prstGeom prst="rect">
            <a:avLst/>
          </a:prstGeom>
        </p:spPr>
        <p:txBody>
          <a:bodyPr anchor="t" rtlCol="false" tIns="0" lIns="0" bIns="0" rIns="0">
            <a:spAutoFit/>
          </a:bodyPr>
          <a:lstStyle/>
          <a:p>
            <a:pPr algn="l">
              <a:lnSpc>
                <a:spcPts val="1624"/>
              </a:lnSpc>
            </a:pPr>
            <a:r>
              <a:rPr lang="en-US" sz="1312">
                <a:solidFill>
                  <a:srgbClr val="303030"/>
                </a:solidFill>
                <a:latin typeface="Inter"/>
                <a:ea typeface="Inter"/>
                <a:cs typeface="Inter"/>
                <a:sym typeface="Inter"/>
              </a:rPr>
              <a:t>Hai thách thức kỹ thuật lớn khi đưa mô hình AI lên môi trường web production và cách giải quyết triệt để.</a:t>
            </a:r>
          </a:p>
        </p:txBody>
      </p:sp>
      <p:grpSp>
        <p:nvGrpSpPr>
          <p:cNvPr name="Group 11" id="11"/>
          <p:cNvGrpSpPr/>
          <p:nvPr/>
        </p:nvGrpSpPr>
        <p:grpSpPr>
          <a:xfrm rot="0">
            <a:off x="3484807" y="2281828"/>
            <a:ext cx="11318377" cy="4880667"/>
            <a:chOff x="0" y="0"/>
            <a:chExt cx="15091169" cy="6507556"/>
          </a:xfrm>
        </p:grpSpPr>
        <p:sp>
          <p:nvSpPr>
            <p:cNvPr name="Freeform 12" id="12" descr="preencoded.png"/>
            <p:cNvSpPr/>
            <p:nvPr/>
          </p:nvSpPr>
          <p:spPr>
            <a:xfrm flipH="false" flipV="false" rot="0">
              <a:off x="0" y="0"/>
              <a:ext cx="15091156" cy="6507607"/>
            </a:xfrm>
            <a:custGeom>
              <a:avLst/>
              <a:gdLst/>
              <a:ahLst/>
              <a:cxnLst/>
              <a:rect r="r" b="b" t="t" l="l"/>
              <a:pathLst>
                <a:path h="6507607" w="15091156">
                  <a:moveTo>
                    <a:pt x="0" y="0"/>
                  </a:moveTo>
                  <a:lnTo>
                    <a:pt x="15091156" y="0"/>
                  </a:lnTo>
                  <a:lnTo>
                    <a:pt x="15091156" y="6507607"/>
                  </a:lnTo>
                  <a:lnTo>
                    <a:pt x="0" y="6507607"/>
                  </a:lnTo>
                  <a:lnTo>
                    <a:pt x="0" y="0"/>
                  </a:lnTo>
                  <a:close/>
                </a:path>
              </a:pathLst>
            </a:custGeom>
            <a:blipFill>
              <a:blip r:embed="rId2"/>
              <a:stretch>
                <a:fillRect l="-27" t="0" r="-27" b="0"/>
              </a:stretch>
            </a:blipFill>
          </p:spPr>
        </p:sp>
      </p:grpSp>
      <p:sp>
        <p:nvSpPr>
          <p:cNvPr name="TextBox 13" id="13"/>
          <p:cNvSpPr txBox="true"/>
          <p:nvPr/>
        </p:nvSpPr>
        <p:spPr>
          <a:xfrm rot="0">
            <a:off x="4246493" y="6243361"/>
            <a:ext cx="1007388" cy="298450"/>
          </a:xfrm>
          <a:prstGeom prst="rect">
            <a:avLst/>
          </a:prstGeom>
        </p:spPr>
        <p:txBody>
          <a:bodyPr anchor="t" rtlCol="false" tIns="0" lIns="0" bIns="0" rIns="0">
            <a:spAutoFit/>
          </a:bodyPr>
          <a:lstStyle/>
          <a:p>
            <a:pPr algn="l">
              <a:lnSpc>
                <a:spcPts val="2375"/>
              </a:lnSpc>
            </a:pPr>
            <a:r>
              <a:rPr lang="en-US" sz="2000" b="true">
                <a:solidFill>
                  <a:srgbClr val="000000"/>
                </a:solidFill>
                <a:latin typeface="Inter Bold"/>
                <a:ea typeface="Inter Bold"/>
                <a:cs typeface="Inter Bold"/>
                <a:sym typeface="Inter Bold"/>
              </a:rPr>
              <a:t>Kết luận</a:t>
            </a:r>
          </a:p>
        </p:txBody>
      </p:sp>
      <p:sp>
        <p:nvSpPr>
          <p:cNvPr name="TextBox 14" id="14"/>
          <p:cNvSpPr txBox="true"/>
          <p:nvPr/>
        </p:nvSpPr>
        <p:spPr>
          <a:xfrm rot="0">
            <a:off x="4246493" y="5113563"/>
            <a:ext cx="1178838" cy="298450"/>
          </a:xfrm>
          <a:prstGeom prst="rect">
            <a:avLst/>
          </a:prstGeom>
        </p:spPr>
        <p:txBody>
          <a:bodyPr anchor="t" rtlCol="false" tIns="0" lIns="0" bIns="0" rIns="0">
            <a:spAutoFit/>
          </a:bodyPr>
          <a:lstStyle/>
          <a:p>
            <a:pPr algn="l">
              <a:lnSpc>
                <a:spcPts val="2375"/>
              </a:lnSpc>
            </a:pPr>
            <a:r>
              <a:rPr lang="en-US" sz="2000" b="true">
                <a:solidFill>
                  <a:srgbClr val="000000"/>
                </a:solidFill>
                <a:latin typeface="Inter Bold"/>
                <a:ea typeface="Inter Bold"/>
                <a:cs typeface="Inter Bold"/>
                <a:sym typeface="Inter Bold"/>
              </a:rPr>
              <a:t>Inference</a:t>
            </a:r>
          </a:p>
        </p:txBody>
      </p:sp>
      <p:sp>
        <p:nvSpPr>
          <p:cNvPr name="TextBox 15" id="15"/>
          <p:cNvSpPr txBox="true"/>
          <p:nvPr/>
        </p:nvSpPr>
        <p:spPr>
          <a:xfrm rot="0">
            <a:off x="4246493" y="3995185"/>
            <a:ext cx="1471493" cy="298450"/>
          </a:xfrm>
          <a:prstGeom prst="rect">
            <a:avLst/>
          </a:prstGeom>
        </p:spPr>
        <p:txBody>
          <a:bodyPr anchor="t" rtlCol="false" tIns="0" lIns="0" bIns="0" rIns="0">
            <a:spAutoFit/>
          </a:bodyPr>
          <a:lstStyle/>
          <a:p>
            <a:pPr algn="l">
              <a:lnSpc>
                <a:spcPts val="2375"/>
              </a:lnSpc>
            </a:pPr>
            <a:r>
              <a:rPr lang="en-US" sz="2000" b="true">
                <a:solidFill>
                  <a:srgbClr val="000000"/>
                </a:solidFill>
                <a:latin typeface="Inter Bold"/>
                <a:ea typeface="Inter Bold"/>
                <a:cs typeface="Inter Bold"/>
                <a:sym typeface="Inter Bold"/>
              </a:rPr>
              <a:t>Trích khung</a:t>
            </a:r>
          </a:p>
        </p:txBody>
      </p:sp>
      <p:sp>
        <p:nvSpPr>
          <p:cNvPr name="TextBox 16" id="16"/>
          <p:cNvSpPr txBox="true"/>
          <p:nvPr/>
        </p:nvSpPr>
        <p:spPr>
          <a:xfrm rot="0">
            <a:off x="4246493" y="2865387"/>
            <a:ext cx="1118592" cy="298450"/>
          </a:xfrm>
          <a:prstGeom prst="rect">
            <a:avLst/>
          </a:prstGeom>
        </p:spPr>
        <p:txBody>
          <a:bodyPr anchor="t" rtlCol="false" tIns="0" lIns="0" bIns="0" rIns="0">
            <a:spAutoFit/>
          </a:bodyPr>
          <a:lstStyle/>
          <a:p>
            <a:pPr algn="l">
              <a:lnSpc>
                <a:spcPts val="2375"/>
              </a:lnSpc>
            </a:pPr>
            <a:r>
              <a:rPr lang="en-US" sz="2000" b="true">
                <a:solidFill>
                  <a:srgbClr val="000000"/>
                </a:solidFill>
                <a:latin typeface="Inter Bold"/>
                <a:ea typeface="Inter Bold"/>
                <a:cs typeface="Inter Bold"/>
                <a:sym typeface="Inter Bold"/>
              </a:rPr>
              <a:t>Tải video</a:t>
            </a:r>
          </a:p>
        </p:txBody>
      </p:sp>
      <p:grpSp>
        <p:nvGrpSpPr>
          <p:cNvPr name="Group 17" id="17"/>
          <p:cNvGrpSpPr/>
          <p:nvPr/>
        </p:nvGrpSpPr>
        <p:grpSpPr>
          <a:xfrm rot="0">
            <a:off x="982713" y="7426223"/>
            <a:ext cx="7959033" cy="1415358"/>
            <a:chOff x="0" y="0"/>
            <a:chExt cx="10612044" cy="1887144"/>
          </a:xfrm>
        </p:grpSpPr>
        <p:sp>
          <p:nvSpPr>
            <p:cNvPr name="Freeform 18" id="18"/>
            <p:cNvSpPr/>
            <p:nvPr/>
          </p:nvSpPr>
          <p:spPr>
            <a:xfrm flipH="false" flipV="false" rot="0">
              <a:off x="12700" y="12700"/>
              <a:ext cx="10586720" cy="1861693"/>
            </a:xfrm>
            <a:custGeom>
              <a:avLst/>
              <a:gdLst/>
              <a:ahLst/>
              <a:cxnLst/>
              <a:rect r="r" b="b" t="t" l="l"/>
              <a:pathLst>
                <a:path h="1861693" w="10586720">
                  <a:moveTo>
                    <a:pt x="0" y="121920"/>
                  </a:moveTo>
                  <a:cubicBezTo>
                    <a:pt x="0" y="54610"/>
                    <a:pt x="55245" y="0"/>
                    <a:pt x="123317" y="0"/>
                  </a:cubicBezTo>
                  <a:lnTo>
                    <a:pt x="10463403" y="0"/>
                  </a:lnTo>
                  <a:cubicBezTo>
                    <a:pt x="10531475" y="0"/>
                    <a:pt x="10586720" y="54610"/>
                    <a:pt x="10586720" y="121920"/>
                  </a:cubicBezTo>
                  <a:lnTo>
                    <a:pt x="10586720" y="1739773"/>
                  </a:lnTo>
                  <a:cubicBezTo>
                    <a:pt x="10586720" y="1807083"/>
                    <a:pt x="10531475" y="1861693"/>
                    <a:pt x="10463403" y="1861693"/>
                  </a:cubicBezTo>
                  <a:lnTo>
                    <a:pt x="123317" y="1861693"/>
                  </a:lnTo>
                  <a:cubicBezTo>
                    <a:pt x="55245" y="1861693"/>
                    <a:pt x="0" y="1807083"/>
                    <a:pt x="0" y="1739773"/>
                  </a:cubicBezTo>
                  <a:close/>
                </a:path>
              </a:pathLst>
            </a:custGeom>
            <a:solidFill>
              <a:srgbClr val="F5F5F5"/>
            </a:solidFill>
          </p:spPr>
        </p:sp>
        <p:sp>
          <p:nvSpPr>
            <p:cNvPr name="Freeform 19" id="19"/>
            <p:cNvSpPr/>
            <p:nvPr/>
          </p:nvSpPr>
          <p:spPr>
            <a:xfrm flipH="false" flipV="false" rot="0">
              <a:off x="0" y="0"/>
              <a:ext cx="10612120" cy="1887093"/>
            </a:xfrm>
            <a:custGeom>
              <a:avLst/>
              <a:gdLst/>
              <a:ahLst/>
              <a:cxnLst/>
              <a:rect r="r" b="b" t="t" l="l"/>
              <a:pathLst>
                <a:path h="1887093" w="10612120">
                  <a:moveTo>
                    <a:pt x="0" y="134620"/>
                  </a:moveTo>
                  <a:cubicBezTo>
                    <a:pt x="0" y="60198"/>
                    <a:pt x="60960" y="0"/>
                    <a:pt x="136017" y="0"/>
                  </a:cubicBezTo>
                  <a:lnTo>
                    <a:pt x="10476103" y="0"/>
                  </a:lnTo>
                  <a:lnTo>
                    <a:pt x="10476103" y="12700"/>
                  </a:lnTo>
                  <a:lnTo>
                    <a:pt x="10476103" y="0"/>
                  </a:lnTo>
                  <a:cubicBezTo>
                    <a:pt x="10551033" y="0"/>
                    <a:pt x="10612120" y="60198"/>
                    <a:pt x="10612120" y="134620"/>
                  </a:cubicBezTo>
                  <a:lnTo>
                    <a:pt x="10599420" y="134620"/>
                  </a:lnTo>
                  <a:lnTo>
                    <a:pt x="10612120" y="134620"/>
                  </a:lnTo>
                  <a:lnTo>
                    <a:pt x="10612120" y="1752473"/>
                  </a:lnTo>
                  <a:lnTo>
                    <a:pt x="10599420" y="1752473"/>
                  </a:lnTo>
                  <a:lnTo>
                    <a:pt x="10612120" y="1752473"/>
                  </a:lnTo>
                  <a:cubicBezTo>
                    <a:pt x="10612120" y="1826895"/>
                    <a:pt x="10551160" y="1887093"/>
                    <a:pt x="10476103" y="1887093"/>
                  </a:cubicBezTo>
                  <a:lnTo>
                    <a:pt x="10476103" y="1874393"/>
                  </a:lnTo>
                  <a:lnTo>
                    <a:pt x="10476103" y="1887093"/>
                  </a:lnTo>
                  <a:lnTo>
                    <a:pt x="136017" y="1887093"/>
                  </a:lnTo>
                  <a:lnTo>
                    <a:pt x="136017" y="1874393"/>
                  </a:lnTo>
                  <a:lnTo>
                    <a:pt x="136017" y="1887093"/>
                  </a:lnTo>
                  <a:cubicBezTo>
                    <a:pt x="60960" y="1887093"/>
                    <a:pt x="0" y="1827022"/>
                    <a:pt x="0" y="1752473"/>
                  </a:cubicBezTo>
                  <a:lnTo>
                    <a:pt x="0" y="134620"/>
                  </a:lnTo>
                  <a:lnTo>
                    <a:pt x="12700" y="134620"/>
                  </a:lnTo>
                  <a:lnTo>
                    <a:pt x="0" y="134620"/>
                  </a:lnTo>
                  <a:moveTo>
                    <a:pt x="25400" y="134620"/>
                  </a:moveTo>
                  <a:lnTo>
                    <a:pt x="25400" y="1752473"/>
                  </a:lnTo>
                  <a:lnTo>
                    <a:pt x="12700" y="1752473"/>
                  </a:lnTo>
                  <a:lnTo>
                    <a:pt x="25400" y="1752473"/>
                  </a:lnTo>
                  <a:cubicBezTo>
                    <a:pt x="25400" y="1812671"/>
                    <a:pt x="74803" y="1861693"/>
                    <a:pt x="136017" y="1861693"/>
                  </a:cubicBezTo>
                  <a:lnTo>
                    <a:pt x="10476103" y="1861693"/>
                  </a:lnTo>
                  <a:cubicBezTo>
                    <a:pt x="10537317" y="1861693"/>
                    <a:pt x="10586720" y="1812671"/>
                    <a:pt x="10586720" y="1752473"/>
                  </a:cubicBezTo>
                  <a:lnTo>
                    <a:pt x="10586720" y="134620"/>
                  </a:lnTo>
                  <a:cubicBezTo>
                    <a:pt x="10586720" y="74422"/>
                    <a:pt x="10537317" y="25400"/>
                    <a:pt x="10476103" y="25400"/>
                  </a:cubicBezTo>
                  <a:lnTo>
                    <a:pt x="136017" y="25400"/>
                  </a:lnTo>
                  <a:lnTo>
                    <a:pt x="136017" y="12700"/>
                  </a:lnTo>
                  <a:lnTo>
                    <a:pt x="136017" y="25400"/>
                  </a:lnTo>
                  <a:cubicBezTo>
                    <a:pt x="74803" y="25400"/>
                    <a:pt x="25400" y="74422"/>
                    <a:pt x="25400" y="134620"/>
                  </a:cubicBezTo>
                  <a:close/>
                </a:path>
              </a:pathLst>
            </a:custGeom>
            <a:solidFill>
              <a:srgbClr val="5678F0"/>
            </a:solidFill>
          </p:spPr>
        </p:sp>
      </p:grpSp>
      <p:grpSp>
        <p:nvGrpSpPr>
          <p:cNvPr name="Group 20" id="20"/>
          <p:cNvGrpSpPr/>
          <p:nvPr/>
        </p:nvGrpSpPr>
        <p:grpSpPr>
          <a:xfrm rot="0">
            <a:off x="973188" y="7435748"/>
            <a:ext cx="76200" cy="1396308"/>
            <a:chOff x="0" y="0"/>
            <a:chExt cx="101600" cy="1861744"/>
          </a:xfrm>
        </p:grpSpPr>
        <p:sp>
          <p:nvSpPr>
            <p:cNvPr name="Freeform 21" id="21"/>
            <p:cNvSpPr/>
            <p:nvPr/>
          </p:nvSpPr>
          <p:spPr>
            <a:xfrm flipH="false" flipV="false" rot="0">
              <a:off x="0" y="0"/>
              <a:ext cx="101600" cy="1861693"/>
            </a:xfrm>
            <a:custGeom>
              <a:avLst/>
              <a:gdLst/>
              <a:ahLst/>
              <a:cxnLst/>
              <a:rect r="r" b="b" t="t" l="l"/>
              <a:pathLst>
                <a:path h="1861693" w="101600">
                  <a:moveTo>
                    <a:pt x="0" y="50800"/>
                  </a:moveTo>
                  <a:cubicBezTo>
                    <a:pt x="0" y="22733"/>
                    <a:pt x="22733" y="0"/>
                    <a:pt x="50800" y="0"/>
                  </a:cubicBezTo>
                  <a:cubicBezTo>
                    <a:pt x="78867" y="0"/>
                    <a:pt x="101600" y="22733"/>
                    <a:pt x="101600" y="50800"/>
                  </a:cubicBezTo>
                  <a:lnTo>
                    <a:pt x="101600" y="1810893"/>
                  </a:lnTo>
                  <a:cubicBezTo>
                    <a:pt x="101600" y="1838960"/>
                    <a:pt x="78867" y="1861693"/>
                    <a:pt x="50800" y="1861693"/>
                  </a:cubicBezTo>
                  <a:cubicBezTo>
                    <a:pt x="22733" y="1861693"/>
                    <a:pt x="0" y="1838960"/>
                    <a:pt x="0" y="1810893"/>
                  </a:cubicBezTo>
                  <a:close/>
                </a:path>
              </a:pathLst>
            </a:custGeom>
            <a:solidFill>
              <a:srgbClr val="5678F0"/>
            </a:solidFill>
          </p:spPr>
        </p:sp>
      </p:grpSp>
      <p:sp>
        <p:nvSpPr>
          <p:cNvPr name="TextBox 22" id="22"/>
          <p:cNvSpPr txBox="true"/>
          <p:nvPr/>
        </p:nvSpPr>
        <p:spPr>
          <a:xfrm rot="0">
            <a:off x="1241974" y="7637859"/>
            <a:ext cx="3562112" cy="241300"/>
          </a:xfrm>
          <a:prstGeom prst="rect">
            <a:avLst/>
          </a:prstGeom>
        </p:spPr>
        <p:txBody>
          <a:bodyPr anchor="t" rtlCol="false" tIns="0" lIns="0" bIns="0" rIns="0">
            <a:spAutoFit/>
          </a:bodyPr>
          <a:lstStyle/>
          <a:p>
            <a:pPr algn="l">
              <a:lnSpc>
                <a:spcPts val="1999"/>
              </a:lnSpc>
            </a:pPr>
            <a:r>
              <a:rPr lang="en-US" sz="1687" b="true">
                <a:solidFill>
                  <a:srgbClr val="000000"/>
                </a:solidFill>
                <a:latin typeface="Inter Bold"/>
                <a:ea typeface="Inter Bold"/>
                <a:cs typeface="Inter Bold"/>
                <a:sym typeface="Inter Bold"/>
              </a:rPr>
              <a:t>🚨</a:t>
            </a:r>
            <a:r>
              <a:rPr lang="en-US" sz="1687" b="true">
                <a:solidFill>
                  <a:srgbClr val="303030"/>
                </a:solidFill>
                <a:latin typeface="Inter Bold"/>
                <a:ea typeface="Inter Bold"/>
                <a:cs typeface="Inter Bold"/>
                <a:sym typeface="Inter Bold"/>
              </a:rPr>
              <a:t> Vấn đề: Out-of-Memory (OOM)</a:t>
            </a:r>
          </a:p>
        </p:txBody>
      </p:sp>
      <p:sp>
        <p:nvSpPr>
          <p:cNvPr name="TextBox 23" id="23"/>
          <p:cNvSpPr txBox="true"/>
          <p:nvPr/>
        </p:nvSpPr>
        <p:spPr>
          <a:xfrm rot="0">
            <a:off x="1241974" y="8010230"/>
            <a:ext cx="7497661" cy="403225"/>
          </a:xfrm>
          <a:prstGeom prst="rect">
            <a:avLst/>
          </a:prstGeom>
        </p:spPr>
        <p:txBody>
          <a:bodyPr anchor="t" rtlCol="false" tIns="0" lIns="0" bIns="0" rIns="0">
            <a:spAutoFit/>
          </a:bodyPr>
          <a:lstStyle/>
          <a:p>
            <a:pPr algn="l">
              <a:lnSpc>
                <a:spcPts val="1624"/>
              </a:lnSpc>
            </a:pPr>
            <a:r>
              <a:rPr lang="en-US" sz="1312">
                <a:solidFill>
                  <a:srgbClr val="303030"/>
                </a:solidFill>
                <a:latin typeface="Inter"/>
                <a:ea typeface="Inter"/>
                <a:cs typeface="Inter"/>
                <a:sym typeface="Inter"/>
              </a:rPr>
              <a:t>Mỗi request Flask tải lại mô hình → tràn RAM/VRAM. Giải pháp: </a:t>
            </a:r>
            <a:r>
              <a:rPr lang="en-US" sz="1312" b="true">
                <a:solidFill>
                  <a:srgbClr val="303030"/>
                </a:solidFill>
                <a:latin typeface="Inter Bold"/>
                <a:ea typeface="Inter Bold"/>
                <a:cs typeface="Inter Bold"/>
                <a:sym typeface="Inter Bold"/>
              </a:rPr>
              <a:t>Design Pattern Singleton</a:t>
            </a:r>
            <a:r>
              <a:rPr lang="en-US" sz="1312">
                <a:solidFill>
                  <a:srgbClr val="303030"/>
                </a:solidFill>
                <a:latin typeface="Inter"/>
                <a:ea typeface="Inter"/>
                <a:cs typeface="Inter"/>
                <a:sym typeface="Inter"/>
              </a:rPr>
              <a:t> — mô hình chỉ được khởi tạo </a:t>
            </a:r>
            <a:r>
              <a:rPr lang="en-US" sz="1312" b="true">
                <a:solidFill>
                  <a:srgbClr val="303030"/>
                </a:solidFill>
                <a:latin typeface="Inter Bold"/>
                <a:ea typeface="Inter Bold"/>
                <a:cs typeface="Inter Bold"/>
                <a:sym typeface="Inter Bold"/>
              </a:rPr>
              <a:t>một lần duy nhất</a:t>
            </a:r>
            <a:r>
              <a:rPr lang="en-US" sz="1312">
                <a:solidFill>
                  <a:srgbClr val="303030"/>
                </a:solidFill>
                <a:latin typeface="Inter"/>
                <a:ea typeface="Inter"/>
                <a:cs typeface="Inter"/>
                <a:sym typeface="Inter"/>
              </a:rPr>
              <a:t> khi server khởi động, tái sử dụng cho mọi request.</a:t>
            </a:r>
          </a:p>
        </p:txBody>
      </p:sp>
      <p:grpSp>
        <p:nvGrpSpPr>
          <p:cNvPr name="Group 24" id="24"/>
          <p:cNvGrpSpPr/>
          <p:nvPr/>
        </p:nvGrpSpPr>
        <p:grpSpPr>
          <a:xfrm rot="0">
            <a:off x="9355779" y="7426223"/>
            <a:ext cx="7959033" cy="1816151"/>
            <a:chOff x="0" y="0"/>
            <a:chExt cx="10612044" cy="2421534"/>
          </a:xfrm>
        </p:grpSpPr>
        <p:sp>
          <p:nvSpPr>
            <p:cNvPr name="Freeform 25" id="25"/>
            <p:cNvSpPr/>
            <p:nvPr/>
          </p:nvSpPr>
          <p:spPr>
            <a:xfrm flipH="false" flipV="false" rot="0">
              <a:off x="12700" y="12700"/>
              <a:ext cx="10586720" cy="2396109"/>
            </a:xfrm>
            <a:custGeom>
              <a:avLst/>
              <a:gdLst/>
              <a:ahLst/>
              <a:cxnLst/>
              <a:rect r="r" b="b" t="t" l="l"/>
              <a:pathLst>
                <a:path h="2396109" w="10586720">
                  <a:moveTo>
                    <a:pt x="0" y="121920"/>
                  </a:moveTo>
                  <a:cubicBezTo>
                    <a:pt x="0" y="54610"/>
                    <a:pt x="54991" y="0"/>
                    <a:pt x="122936" y="0"/>
                  </a:cubicBezTo>
                  <a:lnTo>
                    <a:pt x="10463784" y="0"/>
                  </a:lnTo>
                  <a:cubicBezTo>
                    <a:pt x="10531728" y="0"/>
                    <a:pt x="10586720" y="54610"/>
                    <a:pt x="10586720" y="121920"/>
                  </a:cubicBezTo>
                  <a:lnTo>
                    <a:pt x="10586720" y="2274189"/>
                  </a:lnTo>
                  <a:cubicBezTo>
                    <a:pt x="10586720" y="2341499"/>
                    <a:pt x="10531728" y="2396109"/>
                    <a:pt x="10463784" y="2396109"/>
                  </a:cubicBezTo>
                  <a:lnTo>
                    <a:pt x="122936" y="2396109"/>
                  </a:lnTo>
                  <a:cubicBezTo>
                    <a:pt x="54991" y="2396109"/>
                    <a:pt x="0" y="2341499"/>
                    <a:pt x="0" y="2274189"/>
                  </a:cubicBezTo>
                  <a:close/>
                </a:path>
              </a:pathLst>
            </a:custGeom>
            <a:solidFill>
              <a:srgbClr val="F5F5F5"/>
            </a:solidFill>
          </p:spPr>
        </p:sp>
        <p:sp>
          <p:nvSpPr>
            <p:cNvPr name="Freeform 26" id="26"/>
            <p:cNvSpPr/>
            <p:nvPr/>
          </p:nvSpPr>
          <p:spPr>
            <a:xfrm flipH="false" flipV="false" rot="0">
              <a:off x="0" y="0"/>
              <a:ext cx="10612120" cy="2421509"/>
            </a:xfrm>
            <a:custGeom>
              <a:avLst/>
              <a:gdLst/>
              <a:ahLst/>
              <a:cxnLst/>
              <a:rect r="r" b="b" t="t" l="l"/>
              <a:pathLst>
                <a:path h="2421509" w="10612120">
                  <a:moveTo>
                    <a:pt x="0" y="134620"/>
                  </a:moveTo>
                  <a:cubicBezTo>
                    <a:pt x="0" y="60198"/>
                    <a:pt x="60833" y="0"/>
                    <a:pt x="135636" y="0"/>
                  </a:cubicBezTo>
                  <a:lnTo>
                    <a:pt x="10476484" y="0"/>
                  </a:lnTo>
                  <a:lnTo>
                    <a:pt x="10476484" y="12700"/>
                  </a:lnTo>
                  <a:lnTo>
                    <a:pt x="10476484" y="0"/>
                  </a:lnTo>
                  <a:cubicBezTo>
                    <a:pt x="10551287" y="0"/>
                    <a:pt x="10612120" y="60198"/>
                    <a:pt x="10612120" y="134620"/>
                  </a:cubicBezTo>
                  <a:lnTo>
                    <a:pt x="10599420" y="134620"/>
                  </a:lnTo>
                  <a:lnTo>
                    <a:pt x="10612120" y="134620"/>
                  </a:lnTo>
                  <a:lnTo>
                    <a:pt x="10612120" y="2286889"/>
                  </a:lnTo>
                  <a:lnTo>
                    <a:pt x="10599420" y="2286889"/>
                  </a:lnTo>
                  <a:lnTo>
                    <a:pt x="10612120" y="2286889"/>
                  </a:lnTo>
                  <a:cubicBezTo>
                    <a:pt x="10612120" y="2361311"/>
                    <a:pt x="10551287" y="2421509"/>
                    <a:pt x="10476484" y="2421509"/>
                  </a:cubicBezTo>
                  <a:lnTo>
                    <a:pt x="10476484" y="2408809"/>
                  </a:lnTo>
                  <a:lnTo>
                    <a:pt x="10476484" y="2421509"/>
                  </a:lnTo>
                  <a:lnTo>
                    <a:pt x="135636" y="2421509"/>
                  </a:lnTo>
                  <a:lnTo>
                    <a:pt x="135636" y="2408809"/>
                  </a:lnTo>
                  <a:lnTo>
                    <a:pt x="135636" y="2421509"/>
                  </a:lnTo>
                  <a:cubicBezTo>
                    <a:pt x="60833" y="2421509"/>
                    <a:pt x="0" y="2361311"/>
                    <a:pt x="0" y="2286889"/>
                  </a:cubicBezTo>
                  <a:lnTo>
                    <a:pt x="0" y="134620"/>
                  </a:lnTo>
                  <a:lnTo>
                    <a:pt x="12700" y="134620"/>
                  </a:lnTo>
                  <a:lnTo>
                    <a:pt x="0" y="134620"/>
                  </a:lnTo>
                  <a:moveTo>
                    <a:pt x="25400" y="134620"/>
                  </a:moveTo>
                  <a:lnTo>
                    <a:pt x="25400" y="2286889"/>
                  </a:lnTo>
                  <a:lnTo>
                    <a:pt x="12700" y="2286889"/>
                  </a:lnTo>
                  <a:lnTo>
                    <a:pt x="25400" y="2286889"/>
                  </a:lnTo>
                  <a:cubicBezTo>
                    <a:pt x="25400" y="2347087"/>
                    <a:pt x="74676" y="2396109"/>
                    <a:pt x="135636" y="2396109"/>
                  </a:cubicBezTo>
                  <a:lnTo>
                    <a:pt x="10476484" y="2396109"/>
                  </a:lnTo>
                  <a:cubicBezTo>
                    <a:pt x="10537444" y="2396109"/>
                    <a:pt x="10586720" y="2347087"/>
                    <a:pt x="10586720" y="2286889"/>
                  </a:cubicBezTo>
                  <a:lnTo>
                    <a:pt x="10586720" y="134620"/>
                  </a:lnTo>
                  <a:cubicBezTo>
                    <a:pt x="10586720" y="74422"/>
                    <a:pt x="10537444" y="25400"/>
                    <a:pt x="10476484" y="25400"/>
                  </a:cubicBezTo>
                  <a:lnTo>
                    <a:pt x="135636" y="25400"/>
                  </a:lnTo>
                  <a:lnTo>
                    <a:pt x="135636" y="12700"/>
                  </a:lnTo>
                  <a:lnTo>
                    <a:pt x="135636" y="25400"/>
                  </a:lnTo>
                  <a:cubicBezTo>
                    <a:pt x="74676" y="25400"/>
                    <a:pt x="25400" y="74422"/>
                    <a:pt x="25400" y="134620"/>
                  </a:cubicBezTo>
                  <a:close/>
                </a:path>
              </a:pathLst>
            </a:custGeom>
            <a:solidFill>
              <a:srgbClr val="948BE2"/>
            </a:solidFill>
          </p:spPr>
        </p:sp>
      </p:grpSp>
      <p:grpSp>
        <p:nvGrpSpPr>
          <p:cNvPr name="Group 27" id="27"/>
          <p:cNvGrpSpPr/>
          <p:nvPr/>
        </p:nvGrpSpPr>
        <p:grpSpPr>
          <a:xfrm rot="0">
            <a:off x="9346254" y="7435748"/>
            <a:ext cx="76200" cy="1797101"/>
            <a:chOff x="0" y="0"/>
            <a:chExt cx="101600" cy="2396134"/>
          </a:xfrm>
        </p:grpSpPr>
        <p:sp>
          <p:nvSpPr>
            <p:cNvPr name="Freeform 28" id="28"/>
            <p:cNvSpPr/>
            <p:nvPr/>
          </p:nvSpPr>
          <p:spPr>
            <a:xfrm flipH="false" flipV="false" rot="0">
              <a:off x="0" y="0"/>
              <a:ext cx="101600" cy="2396109"/>
            </a:xfrm>
            <a:custGeom>
              <a:avLst/>
              <a:gdLst/>
              <a:ahLst/>
              <a:cxnLst/>
              <a:rect r="r" b="b" t="t" l="l"/>
              <a:pathLst>
                <a:path h="2396109" w="101600">
                  <a:moveTo>
                    <a:pt x="0" y="50800"/>
                  </a:moveTo>
                  <a:cubicBezTo>
                    <a:pt x="0" y="22733"/>
                    <a:pt x="22733" y="0"/>
                    <a:pt x="50800" y="0"/>
                  </a:cubicBezTo>
                  <a:cubicBezTo>
                    <a:pt x="78867" y="0"/>
                    <a:pt x="101600" y="22733"/>
                    <a:pt x="101600" y="50800"/>
                  </a:cubicBezTo>
                  <a:lnTo>
                    <a:pt x="101600" y="2345309"/>
                  </a:lnTo>
                  <a:cubicBezTo>
                    <a:pt x="101600" y="2373376"/>
                    <a:pt x="78867" y="2396109"/>
                    <a:pt x="50800" y="2396109"/>
                  </a:cubicBezTo>
                  <a:cubicBezTo>
                    <a:pt x="22733" y="2396109"/>
                    <a:pt x="0" y="2373376"/>
                    <a:pt x="0" y="2345309"/>
                  </a:cubicBezTo>
                  <a:close/>
                </a:path>
              </a:pathLst>
            </a:custGeom>
            <a:solidFill>
              <a:srgbClr val="948BE2"/>
            </a:solidFill>
          </p:spPr>
        </p:sp>
      </p:grpSp>
      <p:sp>
        <p:nvSpPr>
          <p:cNvPr name="TextBox 29" id="29"/>
          <p:cNvSpPr txBox="true"/>
          <p:nvPr/>
        </p:nvSpPr>
        <p:spPr>
          <a:xfrm rot="0">
            <a:off x="9615040" y="7637859"/>
            <a:ext cx="2927271" cy="241300"/>
          </a:xfrm>
          <a:prstGeom prst="rect">
            <a:avLst/>
          </a:prstGeom>
        </p:spPr>
        <p:txBody>
          <a:bodyPr anchor="t" rtlCol="false" tIns="0" lIns="0" bIns="0" rIns="0">
            <a:spAutoFit/>
          </a:bodyPr>
          <a:lstStyle/>
          <a:p>
            <a:pPr algn="l">
              <a:lnSpc>
                <a:spcPts val="1999"/>
              </a:lnSpc>
            </a:pPr>
            <a:r>
              <a:rPr lang="en-US" sz="1687" b="true">
                <a:solidFill>
                  <a:srgbClr val="000000"/>
                </a:solidFill>
                <a:latin typeface="Inter Bold"/>
                <a:ea typeface="Inter Bold"/>
                <a:cs typeface="Inter Bold"/>
                <a:sym typeface="Inter Bold"/>
              </a:rPr>
              <a:t>⚖️</a:t>
            </a:r>
            <a:r>
              <a:rPr lang="en-US" sz="1687" b="true">
                <a:solidFill>
                  <a:srgbClr val="303030"/>
                </a:solidFill>
                <a:latin typeface="Inter Bold"/>
                <a:ea typeface="Inter Bold"/>
                <a:cs typeface="Inter Bold"/>
                <a:sym typeface="Inter Bold"/>
              </a:rPr>
              <a:t> Hybrid Verdict Algorithm</a:t>
            </a:r>
          </a:p>
        </p:txBody>
      </p:sp>
      <p:sp>
        <p:nvSpPr>
          <p:cNvPr name="TextBox 30" id="30"/>
          <p:cNvSpPr txBox="true"/>
          <p:nvPr/>
        </p:nvSpPr>
        <p:spPr>
          <a:xfrm rot="0">
            <a:off x="9615040" y="8010230"/>
            <a:ext cx="4426387" cy="203200"/>
          </a:xfrm>
          <a:prstGeom prst="rect">
            <a:avLst/>
          </a:prstGeom>
        </p:spPr>
        <p:txBody>
          <a:bodyPr anchor="t" rtlCol="false" tIns="0" lIns="0" bIns="0" rIns="0">
            <a:spAutoFit/>
          </a:bodyPr>
          <a:lstStyle/>
          <a:p>
            <a:pPr algn="l">
              <a:lnSpc>
                <a:spcPts val="1624"/>
              </a:lnSpc>
            </a:pPr>
            <a:r>
              <a:rPr lang="en-US" sz="1312">
                <a:solidFill>
                  <a:srgbClr val="303030"/>
                </a:solidFill>
                <a:latin typeface="Inter"/>
                <a:ea typeface="Inter"/>
                <a:cs typeface="Inter"/>
                <a:sym typeface="Inter"/>
              </a:rPr>
              <a:t>Đánh giá toàn bộ video qua tỷ lệ segment bị phát hiện lỗi:</a:t>
            </a:r>
          </a:p>
        </p:txBody>
      </p:sp>
      <p:sp>
        <p:nvSpPr>
          <p:cNvPr name="TextBox 31" id="31"/>
          <p:cNvSpPr txBox="true"/>
          <p:nvPr/>
        </p:nvSpPr>
        <p:spPr>
          <a:xfrm rot="0">
            <a:off x="9615040" y="8326193"/>
            <a:ext cx="7497661" cy="603250"/>
          </a:xfrm>
          <a:prstGeom prst="rect">
            <a:avLst/>
          </a:prstGeom>
        </p:spPr>
        <p:txBody>
          <a:bodyPr anchor="t" rtlCol="false" tIns="0" lIns="0" bIns="0" rIns="0">
            <a:spAutoFit/>
          </a:bodyPr>
          <a:lstStyle/>
          <a:p>
            <a:pPr algn="l" marL="197941" indent="-98971" lvl="1">
              <a:lnSpc>
                <a:spcPts val="1624"/>
              </a:lnSpc>
              <a:buFont typeface="Arial"/>
              <a:buChar char="•"/>
            </a:pPr>
            <a:r>
              <a:rPr lang="en-US" b="true" sz="1312">
                <a:solidFill>
                  <a:srgbClr val="303030"/>
                </a:solidFill>
                <a:latin typeface="Inter Bold"/>
                <a:ea typeface="Inter Bold"/>
                <a:cs typeface="Inter Bold"/>
                <a:sym typeface="Inter Bold"/>
              </a:rPr>
              <a:t>Tỷ lệ lỗi &gt; 50%</a:t>
            </a:r>
            <a:r>
              <a:rPr lang="en-US" sz="1312">
                <a:solidFill>
                  <a:srgbClr val="303030"/>
                </a:solidFill>
                <a:latin typeface="Inter"/>
                <a:ea typeface="Inter"/>
                <a:cs typeface="Inter"/>
                <a:sym typeface="Inter"/>
              </a:rPr>
              <a:t> → Kết luận: </a:t>
            </a:r>
            <a:r>
              <a:rPr lang="en-US" b="true" sz="1312">
                <a:solidFill>
                  <a:srgbClr val="303030"/>
                </a:solidFill>
                <a:latin typeface="Inter Bold"/>
                <a:ea typeface="Inter Bold"/>
                <a:cs typeface="Inter Bold"/>
                <a:sym typeface="Inter Bold"/>
              </a:rPr>
              <a:t>FAKE</a:t>
            </a:r>
          </a:p>
          <a:p>
            <a:pPr algn="l" marL="197941" indent="-98971" lvl="1">
              <a:lnSpc>
                <a:spcPts val="1624"/>
              </a:lnSpc>
              <a:buFont typeface="Arial"/>
              <a:buChar char="•"/>
            </a:pPr>
            <a:r>
              <a:rPr lang="en-US" b="true" sz="1312">
                <a:solidFill>
                  <a:srgbClr val="303030"/>
                </a:solidFill>
                <a:latin typeface="Inter Bold"/>
                <a:ea typeface="Inter Bold"/>
                <a:cs typeface="Inter Bold"/>
                <a:sym typeface="Inter Bold"/>
              </a:rPr>
              <a:t>Tỷ lệ lỗi &lt; 20%</a:t>
            </a:r>
            <a:r>
              <a:rPr lang="en-US" sz="1312">
                <a:solidFill>
                  <a:srgbClr val="303030"/>
                </a:solidFill>
                <a:latin typeface="Inter"/>
                <a:ea typeface="Inter"/>
                <a:cs typeface="Inter"/>
                <a:sym typeface="Inter"/>
              </a:rPr>
              <a:t> → Kết luận: </a:t>
            </a:r>
            <a:r>
              <a:rPr lang="en-US" b="true" sz="1312">
                <a:solidFill>
                  <a:srgbClr val="303030"/>
                </a:solidFill>
                <a:latin typeface="Inter Bold"/>
                <a:ea typeface="Inter Bold"/>
                <a:cs typeface="Inter Bold"/>
                <a:sym typeface="Inter Bold"/>
              </a:rPr>
              <a:t>REAL</a:t>
            </a:r>
          </a:p>
          <a:p>
            <a:pPr algn="l" marL="197941" indent="-98971" lvl="1">
              <a:lnSpc>
                <a:spcPts val="1624"/>
              </a:lnSpc>
              <a:buFont typeface="Arial"/>
              <a:buChar char="•"/>
            </a:pPr>
            <a:r>
              <a:rPr lang="en-US" b="true" sz="1312">
                <a:solidFill>
                  <a:srgbClr val="303030"/>
                </a:solidFill>
                <a:latin typeface="Inter Bold"/>
                <a:ea typeface="Inter Bold"/>
                <a:cs typeface="Inter Bold"/>
                <a:sym typeface="Inter Bold"/>
              </a:rPr>
              <a:t>20% – 50%</a:t>
            </a:r>
            <a:r>
              <a:rPr lang="en-US" sz="1312">
                <a:solidFill>
                  <a:srgbClr val="303030"/>
                </a:solidFill>
                <a:latin typeface="Inter"/>
                <a:ea typeface="Inter"/>
                <a:cs typeface="Inter"/>
                <a:sym typeface="Inter"/>
              </a:rPr>
              <a:t> → Vùng không chắc chắn (cần xem xét thêm)</a:t>
            </a:r>
          </a:p>
        </p:txBody>
      </p:sp>
      <p:grpSp>
        <p:nvGrpSpPr>
          <p:cNvPr name="Group 32" id="32"/>
          <p:cNvGrpSpPr/>
          <p:nvPr/>
        </p:nvGrpSpPr>
        <p:grpSpPr>
          <a:xfrm rot="0">
            <a:off x="15989351" y="0"/>
            <a:ext cx="2212924" cy="2212924"/>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0" r="0" b="0"/>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377C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5F5F5"/>
            </a:solidFill>
          </p:spPr>
        </p:sp>
      </p:grpSp>
      <p:grpSp>
        <p:nvGrpSpPr>
          <p:cNvPr name="Group 6" id="6"/>
          <p:cNvGrpSpPr/>
          <p:nvPr/>
        </p:nvGrpSpPr>
        <p:grpSpPr>
          <a:xfrm rot="0">
            <a:off x="992238" y="1763916"/>
            <a:ext cx="3348190" cy="426691"/>
            <a:chOff x="0" y="0"/>
            <a:chExt cx="4464253" cy="568922"/>
          </a:xfrm>
        </p:grpSpPr>
        <p:sp>
          <p:nvSpPr>
            <p:cNvPr name="Freeform 7" id="7"/>
            <p:cNvSpPr/>
            <p:nvPr/>
          </p:nvSpPr>
          <p:spPr>
            <a:xfrm flipH="false" flipV="false" rot="0">
              <a:off x="0" y="0"/>
              <a:ext cx="4464177" cy="568833"/>
            </a:xfrm>
            <a:custGeom>
              <a:avLst/>
              <a:gdLst/>
              <a:ahLst/>
              <a:cxnLst/>
              <a:rect r="r" b="b" t="t" l="l"/>
              <a:pathLst>
                <a:path h="568833" w="4464177">
                  <a:moveTo>
                    <a:pt x="0" y="238125"/>
                  </a:moveTo>
                  <a:cubicBezTo>
                    <a:pt x="0" y="106680"/>
                    <a:pt x="106680" y="0"/>
                    <a:pt x="238125" y="0"/>
                  </a:cubicBezTo>
                  <a:lnTo>
                    <a:pt x="4226052" y="0"/>
                  </a:lnTo>
                  <a:cubicBezTo>
                    <a:pt x="4357624" y="0"/>
                    <a:pt x="4464177" y="106680"/>
                    <a:pt x="4464177" y="238125"/>
                  </a:cubicBezTo>
                  <a:lnTo>
                    <a:pt x="4464177" y="330708"/>
                  </a:lnTo>
                  <a:cubicBezTo>
                    <a:pt x="4464177" y="462280"/>
                    <a:pt x="4357497" y="568833"/>
                    <a:pt x="4226052" y="568833"/>
                  </a:cubicBezTo>
                  <a:lnTo>
                    <a:pt x="238125" y="568833"/>
                  </a:lnTo>
                  <a:cubicBezTo>
                    <a:pt x="106680" y="568960"/>
                    <a:pt x="0" y="462280"/>
                    <a:pt x="0" y="330708"/>
                  </a:cubicBezTo>
                  <a:close/>
                </a:path>
              </a:pathLst>
            </a:custGeom>
            <a:solidFill>
              <a:srgbClr val="5678F0"/>
            </a:solidFill>
          </p:spPr>
        </p:sp>
      </p:grpSp>
      <p:sp>
        <p:nvSpPr>
          <p:cNvPr name="TextBox 8" id="8"/>
          <p:cNvSpPr txBox="true"/>
          <p:nvPr/>
        </p:nvSpPr>
        <p:spPr>
          <a:xfrm rot="0">
            <a:off x="1141066" y="1809750"/>
            <a:ext cx="3050534" cy="265113"/>
          </a:xfrm>
          <a:prstGeom prst="rect">
            <a:avLst/>
          </a:prstGeom>
        </p:spPr>
        <p:txBody>
          <a:bodyPr anchor="t" rtlCol="false" tIns="0" lIns="0" bIns="0" rIns="0">
            <a:spAutoFit/>
          </a:bodyPr>
          <a:lstStyle/>
          <a:p>
            <a:pPr algn="l">
              <a:lnSpc>
                <a:spcPts val="2187"/>
              </a:lnSpc>
            </a:pPr>
            <a:r>
              <a:rPr lang="en-US" sz="1562">
                <a:solidFill>
                  <a:srgbClr val="FFFFFF"/>
                </a:solidFill>
                <a:latin typeface="Inter"/>
                <a:ea typeface="Inter"/>
                <a:cs typeface="Inter"/>
                <a:sym typeface="Inter"/>
              </a:rPr>
              <a:t>PHẦN 5: ỨNG DỤNG THỰC TIỄN</a:t>
            </a:r>
          </a:p>
        </p:txBody>
      </p:sp>
      <p:sp>
        <p:nvSpPr>
          <p:cNvPr name="TextBox 9" id="9"/>
          <p:cNvSpPr txBox="true"/>
          <p:nvPr/>
        </p:nvSpPr>
        <p:spPr>
          <a:xfrm rot="0">
            <a:off x="992238" y="2289724"/>
            <a:ext cx="10248305" cy="738188"/>
          </a:xfrm>
          <a:prstGeom prst="rect">
            <a:avLst/>
          </a:prstGeom>
        </p:spPr>
        <p:txBody>
          <a:bodyPr anchor="t" rtlCol="false" tIns="0" lIns="0" bIns="0" rIns="0">
            <a:spAutoFit/>
          </a:bodyPr>
          <a:lstStyle/>
          <a:p>
            <a:pPr algn="l">
              <a:lnSpc>
                <a:spcPts val="5812"/>
              </a:lnSpc>
            </a:pPr>
            <a:r>
              <a:rPr lang="en-US" sz="4875" b="true">
                <a:solidFill>
                  <a:srgbClr val="5678F0"/>
                </a:solidFill>
                <a:latin typeface="Inter Bold"/>
                <a:ea typeface="Inter Bold"/>
                <a:cs typeface="Inter Bold"/>
                <a:sym typeface="Inter Bold"/>
              </a:rPr>
              <a:t>XAI (Grad-CAM) &amp; Chatbot Gemini</a:t>
            </a:r>
          </a:p>
        </p:txBody>
      </p:sp>
      <p:sp>
        <p:nvSpPr>
          <p:cNvPr name="TextBox 10" id="10"/>
          <p:cNvSpPr txBox="true"/>
          <p:nvPr/>
        </p:nvSpPr>
        <p:spPr>
          <a:xfrm rot="0">
            <a:off x="992238" y="3367830"/>
            <a:ext cx="16303523"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Giải quyết hai bài toán cốt lõi của AI ứng dụng: </a:t>
            </a:r>
            <a:r>
              <a:rPr lang="en-US" sz="1937" b="true">
                <a:solidFill>
                  <a:srgbClr val="303030"/>
                </a:solidFill>
                <a:latin typeface="Inter Bold"/>
                <a:ea typeface="Inter Bold"/>
                <a:cs typeface="Inter Bold"/>
                <a:sym typeface="Inter Bold"/>
              </a:rPr>
              <a:t>tính minh bạch</a:t>
            </a:r>
            <a:r>
              <a:rPr lang="en-US" sz="1937">
                <a:solidFill>
                  <a:srgbClr val="303030"/>
                </a:solidFill>
                <a:latin typeface="Inter"/>
                <a:ea typeface="Inter"/>
                <a:cs typeface="Inter"/>
                <a:sym typeface="Inter"/>
              </a:rPr>
              <a:t> của mô hình và </a:t>
            </a:r>
            <a:r>
              <a:rPr lang="en-US" sz="1937" b="true">
                <a:solidFill>
                  <a:srgbClr val="303030"/>
                </a:solidFill>
                <a:latin typeface="Inter Bold"/>
                <a:ea typeface="Inter Bold"/>
                <a:cs typeface="Inter Bold"/>
                <a:sym typeface="Inter Bold"/>
              </a:rPr>
              <a:t>độ tin cậy</a:t>
            </a:r>
            <a:r>
              <a:rPr lang="en-US" sz="1937">
                <a:solidFill>
                  <a:srgbClr val="303030"/>
                </a:solidFill>
                <a:latin typeface="Inter"/>
                <a:ea typeface="Inter"/>
                <a:cs typeface="Inter"/>
                <a:sym typeface="Inter"/>
              </a:rPr>
              <a:t> của chatbot tư vấn.</a:t>
            </a:r>
          </a:p>
        </p:txBody>
      </p:sp>
      <p:grpSp>
        <p:nvGrpSpPr>
          <p:cNvPr name="Group 11" id="11"/>
          <p:cNvGrpSpPr/>
          <p:nvPr/>
        </p:nvGrpSpPr>
        <p:grpSpPr>
          <a:xfrm rot="0">
            <a:off x="977951" y="4296966"/>
            <a:ext cx="7877766" cy="3613995"/>
            <a:chOff x="0" y="0"/>
            <a:chExt cx="10503687" cy="4818659"/>
          </a:xfrm>
        </p:grpSpPr>
        <p:sp>
          <p:nvSpPr>
            <p:cNvPr name="Freeform 12" id="12"/>
            <p:cNvSpPr/>
            <p:nvPr/>
          </p:nvSpPr>
          <p:spPr>
            <a:xfrm flipH="false" flipV="false" rot="0">
              <a:off x="19050" y="19050"/>
              <a:ext cx="10465562" cy="4780534"/>
            </a:xfrm>
            <a:custGeom>
              <a:avLst/>
              <a:gdLst/>
              <a:ahLst/>
              <a:cxnLst/>
              <a:rect r="r" b="b" t="t" l="l"/>
              <a:pathLst>
                <a:path h="4780534" w="10465562">
                  <a:moveTo>
                    <a:pt x="0" y="182880"/>
                  </a:moveTo>
                  <a:cubicBezTo>
                    <a:pt x="0" y="81915"/>
                    <a:pt x="82169" y="0"/>
                    <a:pt x="183642" y="0"/>
                  </a:cubicBezTo>
                  <a:lnTo>
                    <a:pt x="10281920" y="0"/>
                  </a:lnTo>
                  <a:cubicBezTo>
                    <a:pt x="10383393" y="0"/>
                    <a:pt x="10465562" y="81915"/>
                    <a:pt x="10465562" y="182880"/>
                  </a:cubicBezTo>
                  <a:lnTo>
                    <a:pt x="10465562" y="4597654"/>
                  </a:lnTo>
                  <a:cubicBezTo>
                    <a:pt x="10465562" y="4698619"/>
                    <a:pt x="10383393" y="4780534"/>
                    <a:pt x="10281920" y="4780534"/>
                  </a:cubicBezTo>
                  <a:lnTo>
                    <a:pt x="183642" y="4780534"/>
                  </a:lnTo>
                  <a:cubicBezTo>
                    <a:pt x="82169" y="4780534"/>
                    <a:pt x="0" y="4698619"/>
                    <a:pt x="0" y="4597654"/>
                  </a:cubicBezTo>
                  <a:close/>
                </a:path>
              </a:pathLst>
            </a:custGeom>
            <a:solidFill>
              <a:srgbClr val="F5F5F5"/>
            </a:solidFill>
          </p:spPr>
        </p:sp>
        <p:sp>
          <p:nvSpPr>
            <p:cNvPr name="Freeform 13" id="13"/>
            <p:cNvSpPr/>
            <p:nvPr/>
          </p:nvSpPr>
          <p:spPr>
            <a:xfrm flipH="false" flipV="false" rot="0">
              <a:off x="0" y="0"/>
              <a:ext cx="10503662" cy="4818634"/>
            </a:xfrm>
            <a:custGeom>
              <a:avLst/>
              <a:gdLst/>
              <a:ahLst/>
              <a:cxnLst/>
              <a:rect r="r" b="b" t="t" l="l"/>
              <a:pathLst>
                <a:path h="4818634" w="10503662">
                  <a:moveTo>
                    <a:pt x="0" y="201930"/>
                  </a:moveTo>
                  <a:cubicBezTo>
                    <a:pt x="0" y="90297"/>
                    <a:pt x="90805" y="0"/>
                    <a:pt x="202692" y="0"/>
                  </a:cubicBezTo>
                  <a:lnTo>
                    <a:pt x="10300970" y="0"/>
                  </a:lnTo>
                  <a:lnTo>
                    <a:pt x="10300970" y="19050"/>
                  </a:lnTo>
                  <a:lnTo>
                    <a:pt x="10300970" y="0"/>
                  </a:lnTo>
                  <a:cubicBezTo>
                    <a:pt x="10412857" y="0"/>
                    <a:pt x="10503662" y="90297"/>
                    <a:pt x="10503662" y="201930"/>
                  </a:cubicBezTo>
                  <a:lnTo>
                    <a:pt x="10484612" y="201930"/>
                  </a:lnTo>
                  <a:lnTo>
                    <a:pt x="10503662" y="201930"/>
                  </a:lnTo>
                  <a:lnTo>
                    <a:pt x="10503662" y="4616704"/>
                  </a:lnTo>
                  <a:lnTo>
                    <a:pt x="10484612" y="4616704"/>
                  </a:lnTo>
                  <a:lnTo>
                    <a:pt x="10503662" y="4616704"/>
                  </a:lnTo>
                  <a:cubicBezTo>
                    <a:pt x="10503662" y="4728337"/>
                    <a:pt x="10412857" y="4818634"/>
                    <a:pt x="10300970" y="4818634"/>
                  </a:cubicBezTo>
                  <a:lnTo>
                    <a:pt x="10300970" y="4799584"/>
                  </a:lnTo>
                  <a:lnTo>
                    <a:pt x="10300970" y="4818634"/>
                  </a:lnTo>
                  <a:lnTo>
                    <a:pt x="202692" y="4818634"/>
                  </a:lnTo>
                  <a:lnTo>
                    <a:pt x="202692" y="4799584"/>
                  </a:lnTo>
                  <a:lnTo>
                    <a:pt x="202692" y="4818634"/>
                  </a:lnTo>
                  <a:cubicBezTo>
                    <a:pt x="90805" y="4818634"/>
                    <a:pt x="0" y="4728337"/>
                    <a:pt x="0" y="4616704"/>
                  </a:cubicBezTo>
                  <a:lnTo>
                    <a:pt x="0" y="201930"/>
                  </a:lnTo>
                  <a:lnTo>
                    <a:pt x="19050" y="201930"/>
                  </a:lnTo>
                  <a:lnTo>
                    <a:pt x="0" y="201930"/>
                  </a:lnTo>
                  <a:moveTo>
                    <a:pt x="38100" y="201930"/>
                  </a:moveTo>
                  <a:lnTo>
                    <a:pt x="38100" y="4616704"/>
                  </a:lnTo>
                  <a:lnTo>
                    <a:pt x="19050" y="4616704"/>
                  </a:lnTo>
                  <a:lnTo>
                    <a:pt x="38100" y="4616704"/>
                  </a:lnTo>
                  <a:cubicBezTo>
                    <a:pt x="38100" y="4707128"/>
                    <a:pt x="111760" y="4780534"/>
                    <a:pt x="202692" y="4780534"/>
                  </a:cubicBezTo>
                  <a:lnTo>
                    <a:pt x="10300970" y="4780534"/>
                  </a:lnTo>
                  <a:cubicBezTo>
                    <a:pt x="10391901" y="4780534"/>
                    <a:pt x="10465562" y="4707128"/>
                    <a:pt x="10465562" y="4616704"/>
                  </a:cubicBezTo>
                  <a:lnTo>
                    <a:pt x="10465562" y="201930"/>
                  </a:lnTo>
                  <a:cubicBezTo>
                    <a:pt x="10465562" y="111506"/>
                    <a:pt x="10391901" y="38100"/>
                    <a:pt x="10300970" y="38100"/>
                  </a:cubicBezTo>
                  <a:lnTo>
                    <a:pt x="202692" y="38100"/>
                  </a:lnTo>
                  <a:lnTo>
                    <a:pt x="202692" y="19050"/>
                  </a:lnTo>
                  <a:lnTo>
                    <a:pt x="202692" y="38100"/>
                  </a:lnTo>
                  <a:cubicBezTo>
                    <a:pt x="111760" y="38100"/>
                    <a:pt x="38100" y="111506"/>
                    <a:pt x="38100" y="201930"/>
                  </a:cubicBezTo>
                  <a:close/>
                </a:path>
              </a:pathLst>
            </a:custGeom>
            <a:solidFill>
              <a:srgbClr val="5678F0"/>
            </a:solidFill>
          </p:spPr>
        </p:sp>
      </p:grpSp>
      <p:grpSp>
        <p:nvGrpSpPr>
          <p:cNvPr name="Group 14" id="14"/>
          <p:cNvGrpSpPr/>
          <p:nvPr/>
        </p:nvGrpSpPr>
        <p:grpSpPr>
          <a:xfrm rot="0">
            <a:off x="963663" y="4311253"/>
            <a:ext cx="114300" cy="3585420"/>
            <a:chOff x="0" y="0"/>
            <a:chExt cx="152400" cy="4780559"/>
          </a:xfrm>
        </p:grpSpPr>
        <p:sp>
          <p:nvSpPr>
            <p:cNvPr name="Freeform 15" id="15"/>
            <p:cNvSpPr/>
            <p:nvPr/>
          </p:nvSpPr>
          <p:spPr>
            <a:xfrm flipH="false" flipV="false" rot="0">
              <a:off x="0" y="0"/>
              <a:ext cx="152400" cy="4780534"/>
            </a:xfrm>
            <a:custGeom>
              <a:avLst/>
              <a:gdLst/>
              <a:ahLst/>
              <a:cxnLst/>
              <a:rect r="r" b="b" t="t" l="l"/>
              <a:pathLst>
                <a:path h="4780534" w="152400">
                  <a:moveTo>
                    <a:pt x="0" y="76200"/>
                  </a:moveTo>
                  <a:cubicBezTo>
                    <a:pt x="0" y="34163"/>
                    <a:pt x="34163" y="0"/>
                    <a:pt x="76200" y="0"/>
                  </a:cubicBezTo>
                  <a:cubicBezTo>
                    <a:pt x="118237" y="0"/>
                    <a:pt x="152400" y="34163"/>
                    <a:pt x="152400" y="76200"/>
                  </a:cubicBezTo>
                  <a:lnTo>
                    <a:pt x="152400" y="4704334"/>
                  </a:lnTo>
                  <a:cubicBezTo>
                    <a:pt x="152400" y="4746371"/>
                    <a:pt x="118237" y="4780534"/>
                    <a:pt x="76200" y="4780534"/>
                  </a:cubicBezTo>
                  <a:cubicBezTo>
                    <a:pt x="34163" y="4780534"/>
                    <a:pt x="0" y="4746371"/>
                    <a:pt x="0" y="4704334"/>
                  </a:cubicBezTo>
                  <a:close/>
                </a:path>
              </a:pathLst>
            </a:custGeom>
            <a:solidFill>
              <a:srgbClr val="5678F0"/>
            </a:solidFill>
          </p:spPr>
        </p:sp>
      </p:grpSp>
      <p:sp>
        <p:nvSpPr>
          <p:cNvPr name="TextBox 16" id="16"/>
          <p:cNvSpPr txBox="true"/>
          <p:nvPr/>
        </p:nvSpPr>
        <p:spPr>
          <a:xfrm rot="0">
            <a:off x="1354484" y="4587773"/>
            <a:ext cx="5976700" cy="368300"/>
          </a:xfrm>
          <a:prstGeom prst="rect">
            <a:avLst/>
          </a:prstGeom>
        </p:spPr>
        <p:txBody>
          <a:bodyPr anchor="t" rtlCol="false" tIns="0" lIns="0" bIns="0" rIns="0">
            <a:spAutoFit/>
          </a:bodyPr>
          <a:lstStyle/>
          <a:p>
            <a:pPr algn="l">
              <a:lnSpc>
                <a:spcPts val="2875"/>
              </a:lnSpc>
            </a:pPr>
            <a:r>
              <a:rPr lang="en-US" sz="2437" b="true">
                <a:solidFill>
                  <a:srgbClr val="000000"/>
                </a:solidFill>
                <a:latin typeface="Inter Bold"/>
                <a:ea typeface="Inter Bold"/>
                <a:cs typeface="Inter Bold"/>
                <a:sym typeface="Inter Bold"/>
              </a:rPr>
              <a:t>🔍</a:t>
            </a:r>
            <a:r>
              <a:rPr lang="en-US" sz="2437" b="true">
                <a:solidFill>
                  <a:srgbClr val="303030"/>
                </a:solidFill>
                <a:latin typeface="Inter Bold"/>
                <a:ea typeface="Inter Bold"/>
                <a:cs typeface="Inter Bold"/>
                <a:sym typeface="Inter Bold"/>
              </a:rPr>
              <a:t> Grad-CAM — Bóc Trần "Hộp Đen" AI</a:t>
            </a:r>
          </a:p>
        </p:txBody>
      </p:sp>
      <p:sp>
        <p:nvSpPr>
          <p:cNvPr name="TextBox 17" id="17"/>
          <p:cNvSpPr txBox="true"/>
          <p:nvPr/>
        </p:nvSpPr>
        <p:spPr>
          <a:xfrm rot="0">
            <a:off x="1354484" y="5188744"/>
            <a:ext cx="7210425" cy="1325562"/>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Thuật toán </a:t>
            </a:r>
            <a:r>
              <a:rPr lang="en-US" sz="1937" b="true">
                <a:solidFill>
                  <a:srgbClr val="303030"/>
                </a:solidFill>
                <a:latin typeface="Inter Bold"/>
                <a:ea typeface="Inter Bold"/>
                <a:cs typeface="Inter Bold"/>
                <a:sym typeface="Inter Bold"/>
              </a:rPr>
              <a:t>Gradient-weighted Class Activation Mapping</a:t>
            </a:r>
            <a:r>
              <a:rPr lang="en-US" sz="1937">
                <a:solidFill>
                  <a:srgbClr val="303030"/>
                </a:solidFill>
                <a:latin typeface="Inter"/>
                <a:ea typeface="Inter"/>
                <a:cs typeface="Inter"/>
                <a:sym typeface="Inter"/>
              </a:rPr>
              <a:t> trích xuất gradient từ lớp conv_head để tạo </a:t>
            </a:r>
            <a:r>
              <a:rPr lang="en-US" sz="1937" b="true">
                <a:solidFill>
                  <a:srgbClr val="303030"/>
                </a:solidFill>
                <a:latin typeface="Inter Bold"/>
                <a:ea typeface="Inter Bold"/>
                <a:cs typeface="Inter Bold"/>
                <a:sym typeface="Inter Bold"/>
              </a:rPr>
              <a:t>heatmap nhiệt</a:t>
            </a:r>
            <a:r>
              <a:rPr lang="en-US" sz="1937">
                <a:solidFill>
                  <a:srgbClr val="303030"/>
                </a:solidFill>
                <a:latin typeface="Inter"/>
                <a:ea typeface="Inter"/>
                <a:cs typeface="Inter"/>
                <a:sym typeface="Inter"/>
              </a:rPr>
              <a:t>, trực quan hóa vùng ảnh mà mô hình "chú ý" khi đưa ra phán quyết FAKE.</a:t>
            </a:r>
          </a:p>
        </p:txBody>
      </p:sp>
      <p:sp>
        <p:nvSpPr>
          <p:cNvPr name="TextBox 18" id="18"/>
          <p:cNvSpPr txBox="true"/>
          <p:nvPr/>
        </p:nvSpPr>
        <p:spPr>
          <a:xfrm rot="0">
            <a:off x="1354484" y="6800850"/>
            <a:ext cx="7210425" cy="658812"/>
          </a:xfrm>
          <a:prstGeom prst="rect">
            <a:avLst/>
          </a:prstGeom>
        </p:spPr>
        <p:txBody>
          <a:bodyPr anchor="t" rtlCol="false" tIns="0" lIns="0" bIns="0" rIns="0">
            <a:spAutoFit/>
          </a:bodyPr>
          <a:lstStyle/>
          <a:p>
            <a:pPr algn="l" marL="292199" indent="-146100" lvl="1">
              <a:lnSpc>
                <a:spcPts val="2687"/>
              </a:lnSpc>
              <a:buFont typeface="Arial"/>
              <a:buChar char="•"/>
            </a:pPr>
            <a:r>
              <a:rPr lang="en-US" sz="1937">
                <a:solidFill>
                  <a:srgbClr val="303030"/>
                </a:solidFill>
                <a:latin typeface="Inter"/>
                <a:ea typeface="Inter"/>
                <a:cs typeface="Inter"/>
                <a:sym typeface="Inter"/>
              </a:rPr>
              <a:t>Người dùng thấy </a:t>
            </a:r>
            <a:r>
              <a:rPr lang="en-US" b="true" sz="1937">
                <a:solidFill>
                  <a:srgbClr val="303030"/>
                </a:solidFill>
                <a:latin typeface="Inter Bold"/>
                <a:ea typeface="Inter Bold"/>
                <a:cs typeface="Inter Bold"/>
                <a:sym typeface="Inter Bold"/>
              </a:rPr>
              <a:t>vùng nghi vờ được tô màu</a:t>
            </a:r>
            <a:r>
              <a:rPr lang="en-US" sz="1937">
                <a:solidFill>
                  <a:srgbClr val="303030"/>
                </a:solidFill>
                <a:latin typeface="Inter"/>
                <a:ea typeface="Inter"/>
                <a:cs typeface="Inter"/>
                <a:sym typeface="Inter"/>
              </a:rPr>
              <a:t> trực tiếp</a:t>
            </a:r>
          </a:p>
          <a:p>
            <a:pPr algn="l" marL="292199" indent="-146100" lvl="1">
              <a:lnSpc>
                <a:spcPts val="2687"/>
              </a:lnSpc>
              <a:buFont typeface="Arial"/>
              <a:buChar char="•"/>
            </a:pPr>
            <a:r>
              <a:rPr lang="en-US" sz="1937">
                <a:solidFill>
                  <a:srgbClr val="303030"/>
                </a:solidFill>
                <a:latin typeface="Inter"/>
                <a:ea typeface="Inter"/>
                <a:cs typeface="Inter"/>
                <a:sym typeface="Inter"/>
              </a:rPr>
              <a:t>Tăng độ tin tưởng và khả năng kiểm chứng kết quả</a:t>
            </a:r>
          </a:p>
        </p:txBody>
      </p:sp>
      <p:grpSp>
        <p:nvGrpSpPr>
          <p:cNvPr name="Group 19" id="19"/>
          <p:cNvGrpSpPr/>
          <p:nvPr/>
        </p:nvGrpSpPr>
        <p:grpSpPr>
          <a:xfrm rot="0">
            <a:off x="9441809" y="4296966"/>
            <a:ext cx="7877766" cy="3961209"/>
            <a:chOff x="0" y="0"/>
            <a:chExt cx="10503687" cy="5281612"/>
          </a:xfrm>
        </p:grpSpPr>
        <p:sp>
          <p:nvSpPr>
            <p:cNvPr name="Freeform 20" id="20"/>
            <p:cNvSpPr/>
            <p:nvPr/>
          </p:nvSpPr>
          <p:spPr>
            <a:xfrm flipH="false" flipV="false" rot="0">
              <a:off x="19050" y="19050"/>
              <a:ext cx="10465562" cy="5243449"/>
            </a:xfrm>
            <a:custGeom>
              <a:avLst/>
              <a:gdLst/>
              <a:ahLst/>
              <a:cxnLst/>
              <a:rect r="r" b="b" t="t" l="l"/>
              <a:pathLst>
                <a:path h="5243449" w="10465562">
                  <a:moveTo>
                    <a:pt x="0" y="182880"/>
                  </a:moveTo>
                  <a:cubicBezTo>
                    <a:pt x="0" y="81915"/>
                    <a:pt x="82169" y="0"/>
                    <a:pt x="183515" y="0"/>
                  </a:cubicBezTo>
                  <a:lnTo>
                    <a:pt x="10282047" y="0"/>
                  </a:lnTo>
                  <a:cubicBezTo>
                    <a:pt x="10383393" y="0"/>
                    <a:pt x="10465562" y="81915"/>
                    <a:pt x="10465562" y="182880"/>
                  </a:cubicBezTo>
                  <a:lnTo>
                    <a:pt x="10465562" y="5060569"/>
                  </a:lnTo>
                  <a:cubicBezTo>
                    <a:pt x="10465562" y="5161534"/>
                    <a:pt x="10383393" y="5243449"/>
                    <a:pt x="10282047" y="5243449"/>
                  </a:cubicBezTo>
                  <a:lnTo>
                    <a:pt x="183515" y="5243449"/>
                  </a:lnTo>
                  <a:cubicBezTo>
                    <a:pt x="82169" y="5243449"/>
                    <a:pt x="0" y="5161534"/>
                    <a:pt x="0" y="5060569"/>
                  </a:cubicBezTo>
                  <a:close/>
                </a:path>
              </a:pathLst>
            </a:custGeom>
            <a:solidFill>
              <a:srgbClr val="F5F5F5"/>
            </a:solidFill>
          </p:spPr>
        </p:sp>
        <p:sp>
          <p:nvSpPr>
            <p:cNvPr name="Freeform 21" id="21"/>
            <p:cNvSpPr/>
            <p:nvPr/>
          </p:nvSpPr>
          <p:spPr>
            <a:xfrm flipH="false" flipV="false" rot="0">
              <a:off x="0" y="0"/>
              <a:ext cx="10503662" cy="5281549"/>
            </a:xfrm>
            <a:custGeom>
              <a:avLst/>
              <a:gdLst/>
              <a:ahLst/>
              <a:cxnLst/>
              <a:rect r="r" b="b" t="t" l="l"/>
              <a:pathLst>
                <a:path h="5281549" w="10503662">
                  <a:moveTo>
                    <a:pt x="0" y="201930"/>
                  </a:moveTo>
                  <a:cubicBezTo>
                    <a:pt x="0" y="90297"/>
                    <a:pt x="90805" y="0"/>
                    <a:pt x="202565" y="0"/>
                  </a:cubicBezTo>
                  <a:lnTo>
                    <a:pt x="10301097" y="0"/>
                  </a:lnTo>
                  <a:lnTo>
                    <a:pt x="10301097" y="19050"/>
                  </a:lnTo>
                  <a:lnTo>
                    <a:pt x="10301097" y="0"/>
                  </a:lnTo>
                  <a:cubicBezTo>
                    <a:pt x="10412984" y="0"/>
                    <a:pt x="10503662" y="90297"/>
                    <a:pt x="10503662" y="201930"/>
                  </a:cubicBezTo>
                  <a:lnTo>
                    <a:pt x="10484612" y="201930"/>
                  </a:lnTo>
                  <a:lnTo>
                    <a:pt x="10503662" y="201930"/>
                  </a:lnTo>
                  <a:lnTo>
                    <a:pt x="10503662" y="5079619"/>
                  </a:lnTo>
                  <a:lnTo>
                    <a:pt x="10484612" y="5079619"/>
                  </a:lnTo>
                  <a:lnTo>
                    <a:pt x="10503662" y="5079619"/>
                  </a:lnTo>
                  <a:cubicBezTo>
                    <a:pt x="10503662" y="5191252"/>
                    <a:pt x="10412857" y="5281549"/>
                    <a:pt x="10301097" y="5281549"/>
                  </a:cubicBezTo>
                  <a:lnTo>
                    <a:pt x="10301097" y="5262499"/>
                  </a:lnTo>
                  <a:lnTo>
                    <a:pt x="10301097" y="5281549"/>
                  </a:lnTo>
                  <a:lnTo>
                    <a:pt x="202565" y="5281549"/>
                  </a:lnTo>
                  <a:lnTo>
                    <a:pt x="202565" y="5262499"/>
                  </a:lnTo>
                  <a:lnTo>
                    <a:pt x="202565" y="5281549"/>
                  </a:lnTo>
                  <a:cubicBezTo>
                    <a:pt x="90805" y="5281676"/>
                    <a:pt x="0" y="5191252"/>
                    <a:pt x="0" y="5079619"/>
                  </a:cubicBezTo>
                  <a:lnTo>
                    <a:pt x="0" y="201930"/>
                  </a:lnTo>
                  <a:lnTo>
                    <a:pt x="19050" y="201930"/>
                  </a:lnTo>
                  <a:lnTo>
                    <a:pt x="0" y="201930"/>
                  </a:lnTo>
                  <a:moveTo>
                    <a:pt x="38100" y="201930"/>
                  </a:moveTo>
                  <a:lnTo>
                    <a:pt x="38100" y="5079619"/>
                  </a:lnTo>
                  <a:lnTo>
                    <a:pt x="19050" y="5079619"/>
                  </a:lnTo>
                  <a:lnTo>
                    <a:pt x="38100" y="5079619"/>
                  </a:lnTo>
                  <a:cubicBezTo>
                    <a:pt x="38100" y="5170043"/>
                    <a:pt x="111633" y="5243449"/>
                    <a:pt x="202565" y="5243449"/>
                  </a:cubicBezTo>
                  <a:lnTo>
                    <a:pt x="10301097" y="5243449"/>
                  </a:lnTo>
                  <a:cubicBezTo>
                    <a:pt x="10392028" y="5243449"/>
                    <a:pt x="10465562" y="5170043"/>
                    <a:pt x="10465562" y="5079619"/>
                  </a:cubicBezTo>
                  <a:lnTo>
                    <a:pt x="10465562" y="201930"/>
                  </a:lnTo>
                  <a:cubicBezTo>
                    <a:pt x="10465562" y="111506"/>
                    <a:pt x="10392028" y="38100"/>
                    <a:pt x="10301097" y="38100"/>
                  </a:cubicBezTo>
                  <a:lnTo>
                    <a:pt x="202565" y="38100"/>
                  </a:lnTo>
                  <a:lnTo>
                    <a:pt x="202565" y="19050"/>
                  </a:lnTo>
                  <a:lnTo>
                    <a:pt x="202565" y="38100"/>
                  </a:lnTo>
                  <a:cubicBezTo>
                    <a:pt x="111633" y="38100"/>
                    <a:pt x="38100" y="111506"/>
                    <a:pt x="38100" y="201930"/>
                  </a:cubicBezTo>
                  <a:close/>
                </a:path>
              </a:pathLst>
            </a:custGeom>
            <a:solidFill>
              <a:srgbClr val="948BE2"/>
            </a:solidFill>
          </p:spPr>
        </p:sp>
      </p:grpSp>
      <p:grpSp>
        <p:nvGrpSpPr>
          <p:cNvPr name="Group 22" id="22"/>
          <p:cNvGrpSpPr/>
          <p:nvPr/>
        </p:nvGrpSpPr>
        <p:grpSpPr>
          <a:xfrm rot="0">
            <a:off x="9427521" y="4311253"/>
            <a:ext cx="114300" cy="3932634"/>
            <a:chOff x="0" y="0"/>
            <a:chExt cx="152400" cy="5243512"/>
          </a:xfrm>
        </p:grpSpPr>
        <p:sp>
          <p:nvSpPr>
            <p:cNvPr name="Freeform 23" id="23"/>
            <p:cNvSpPr/>
            <p:nvPr/>
          </p:nvSpPr>
          <p:spPr>
            <a:xfrm flipH="false" flipV="false" rot="0">
              <a:off x="0" y="0"/>
              <a:ext cx="152400" cy="5243576"/>
            </a:xfrm>
            <a:custGeom>
              <a:avLst/>
              <a:gdLst/>
              <a:ahLst/>
              <a:cxnLst/>
              <a:rect r="r" b="b" t="t" l="l"/>
              <a:pathLst>
                <a:path h="5243576" w="152400">
                  <a:moveTo>
                    <a:pt x="0" y="76200"/>
                  </a:moveTo>
                  <a:cubicBezTo>
                    <a:pt x="0" y="34163"/>
                    <a:pt x="34163" y="0"/>
                    <a:pt x="76200" y="0"/>
                  </a:cubicBezTo>
                  <a:cubicBezTo>
                    <a:pt x="118237" y="0"/>
                    <a:pt x="152400" y="34163"/>
                    <a:pt x="152400" y="76200"/>
                  </a:cubicBezTo>
                  <a:lnTo>
                    <a:pt x="152400" y="5167376"/>
                  </a:lnTo>
                  <a:cubicBezTo>
                    <a:pt x="152400" y="5209413"/>
                    <a:pt x="118237" y="5243576"/>
                    <a:pt x="76200" y="5243576"/>
                  </a:cubicBezTo>
                  <a:cubicBezTo>
                    <a:pt x="34163" y="5243576"/>
                    <a:pt x="0" y="5209413"/>
                    <a:pt x="0" y="5167376"/>
                  </a:cubicBezTo>
                  <a:close/>
                </a:path>
              </a:pathLst>
            </a:custGeom>
            <a:solidFill>
              <a:srgbClr val="948BE2"/>
            </a:solidFill>
          </p:spPr>
        </p:sp>
      </p:grpSp>
      <p:sp>
        <p:nvSpPr>
          <p:cNvPr name="TextBox 24" id="24"/>
          <p:cNvSpPr txBox="true"/>
          <p:nvPr/>
        </p:nvSpPr>
        <p:spPr>
          <a:xfrm rot="0">
            <a:off x="9818341" y="4587773"/>
            <a:ext cx="3835003" cy="368300"/>
          </a:xfrm>
          <a:prstGeom prst="rect">
            <a:avLst/>
          </a:prstGeom>
        </p:spPr>
        <p:txBody>
          <a:bodyPr anchor="t" rtlCol="false" tIns="0" lIns="0" bIns="0" rIns="0">
            <a:spAutoFit/>
          </a:bodyPr>
          <a:lstStyle/>
          <a:p>
            <a:pPr algn="l">
              <a:lnSpc>
                <a:spcPts val="2875"/>
              </a:lnSpc>
            </a:pPr>
            <a:r>
              <a:rPr lang="en-US" sz="2437" b="true">
                <a:solidFill>
                  <a:srgbClr val="000000"/>
                </a:solidFill>
                <a:latin typeface="Inter Bold"/>
                <a:ea typeface="Inter Bold"/>
                <a:cs typeface="Inter Bold"/>
                <a:sym typeface="Inter Bold"/>
              </a:rPr>
              <a:t>🤖</a:t>
            </a:r>
            <a:r>
              <a:rPr lang="en-US" sz="2437" b="true">
                <a:solidFill>
                  <a:srgbClr val="303030"/>
                </a:solidFill>
                <a:latin typeface="Inter Bold"/>
                <a:ea typeface="Inter Bold"/>
                <a:cs typeface="Inter Bold"/>
                <a:sym typeface="Inter Bold"/>
              </a:rPr>
              <a:t> Chatbot Gemini + RAG</a:t>
            </a:r>
          </a:p>
        </p:txBody>
      </p:sp>
      <p:sp>
        <p:nvSpPr>
          <p:cNvPr name="TextBox 25" id="25"/>
          <p:cNvSpPr txBox="true"/>
          <p:nvPr/>
        </p:nvSpPr>
        <p:spPr>
          <a:xfrm rot="0">
            <a:off x="9818341" y="5188744"/>
            <a:ext cx="7210425" cy="99218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Tích hợp </a:t>
            </a:r>
            <a:r>
              <a:rPr lang="en-US" sz="1937" b="true">
                <a:solidFill>
                  <a:srgbClr val="303030"/>
                </a:solidFill>
                <a:latin typeface="Inter Bold"/>
                <a:ea typeface="Inter Bold"/>
                <a:cs typeface="Inter Bold"/>
                <a:sym typeface="Inter Bold"/>
              </a:rPr>
              <a:t>Retrieval-Augmented Generation (RAG)</a:t>
            </a:r>
            <a:r>
              <a:rPr lang="en-US" sz="1937">
                <a:solidFill>
                  <a:srgbClr val="303030"/>
                </a:solidFill>
                <a:latin typeface="Inter"/>
                <a:ea typeface="Inter"/>
                <a:cs typeface="Inter"/>
                <a:sym typeface="Inter"/>
              </a:rPr>
              <a:t> kết hợp Gemini API để loại bỏ hiện tượng </a:t>
            </a:r>
            <a:r>
              <a:rPr lang="en-US" sz="1937" b="true">
                <a:solidFill>
                  <a:srgbClr val="303030"/>
                </a:solidFill>
                <a:latin typeface="Inter Bold"/>
                <a:ea typeface="Inter Bold"/>
                <a:cs typeface="Inter Bold"/>
                <a:sym typeface="Inter Bold"/>
              </a:rPr>
              <a:t>"ảo giác" (hallucination)</a:t>
            </a:r>
            <a:r>
              <a:rPr lang="en-US" sz="1937">
                <a:solidFill>
                  <a:srgbClr val="303030"/>
                </a:solidFill>
                <a:latin typeface="Inter"/>
                <a:ea typeface="Inter"/>
                <a:cs typeface="Inter"/>
                <a:sym typeface="Inter"/>
              </a:rPr>
              <a:t> trong tư vấn deepfake.</a:t>
            </a:r>
          </a:p>
        </p:txBody>
      </p:sp>
      <p:sp>
        <p:nvSpPr>
          <p:cNvPr name="TextBox 26" id="26"/>
          <p:cNvSpPr txBox="true"/>
          <p:nvPr/>
        </p:nvSpPr>
        <p:spPr>
          <a:xfrm rot="0">
            <a:off x="9818341" y="6453635"/>
            <a:ext cx="7210425" cy="992188"/>
          </a:xfrm>
          <a:prstGeom prst="rect">
            <a:avLst/>
          </a:prstGeom>
        </p:spPr>
        <p:txBody>
          <a:bodyPr anchor="t" rtlCol="false" tIns="0" lIns="0" bIns="0" rIns="0">
            <a:spAutoFit/>
          </a:bodyPr>
          <a:lstStyle/>
          <a:p>
            <a:pPr algn="l" marL="292199" indent="-146100" lvl="1">
              <a:lnSpc>
                <a:spcPts val="2687"/>
              </a:lnSpc>
              <a:buFont typeface="Arial"/>
              <a:buChar char="•"/>
            </a:pPr>
            <a:r>
              <a:rPr lang="en-US" sz="1937">
                <a:solidFill>
                  <a:srgbClr val="303030"/>
                </a:solidFill>
                <a:latin typeface="Inter"/>
                <a:ea typeface="Inter"/>
                <a:cs typeface="Inter"/>
                <a:sym typeface="Inter"/>
              </a:rPr>
              <a:t>Câu trả lời được </a:t>
            </a:r>
            <a:r>
              <a:rPr lang="en-US" b="true" sz="1937">
                <a:solidFill>
                  <a:srgbClr val="303030"/>
                </a:solidFill>
                <a:latin typeface="Inter Bold"/>
                <a:ea typeface="Inter Bold"/>
                <a:cs typeface="Inter Bold"/>
                <a:sym typeface="Inter Bold"/>
              </a:rPr>
              <a:t>neo vào tài liệu kiến thức</a:t>
            </a:r>
            <a:r>
              <a:rPr lang="en-US" sz="1937">
                <a:solidFill>
                  <a:srgbClr val="303030"/>
                </a:solidFill>
                <a:latin typeface="Inter"/>
                <a:ea typeface="Inter"/>
                <a:cs typeface="Inter"/>
                <a:sym typeface="Inter"/>
              </a:rPr>
              <a:t> đã được kiểm duyệt</a:t>
            </a:r>
          </a:p>
          <a:p>
            <a:pPr algn="l" marL="292199" indent="-146100" lvl="1">
              <a:lnSpc>
                <a:spcPts val="2687"/>
              </a:lnSpc>
              <a:buFont typeface="Arial"/>
              <a:buChar char="•"/>
            </a:pPr>
            <a:r>
              <a:rPr lang="en-US" sz="1937">
                <a:solidFill>
                  <a:srgbClr val="303030"/>
                </a:solidFill>
                <a:latin typeface="Inter"/>
                <a:ea typeface="Inter"/>
                <a:cs typeface="Inter"/>
                <a:sym typeface="Inter"/>
              </a:rPr>
              <a:t>Giải thích kết quả phát hiện và tư vấn phòng tránh deepfake</a:t>
            </a:r>
          </a:p>
        </p:txBody>
      </p:sp>
      <p:grpSp>
        <p:nvGrpSpPr>
          <p:cNvPr name="Group 27" id="27"/>
          <p:cNvGrpSpPr/>
          <p:nvPr/>
        </p:nvGrpSpPr>
        <p:grpSpPr>
          <a:xfrm rot="0">
            <a:off x="15989351" y="0"/>
            <a:ext cx="2212924" cy="2212924"/>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0" t="0" r="0" b="0"/>
              </a:stretch>
            </a:blip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377C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5F5F5"/>
            </a:solidFill>
          </p:spPr>
        </p:sp>
      </p:grpSp>
      <p:grpSp>
        <p:nvGrpSpPr>
          <p:cNvPr name="Group 6" id="6"/>
          <p:cNvGrpSpPr/>
          <p:nvPr/>
        </p:nvGrpSpPr>
        <p:grpSpPr>
          <a:xfrm rot="0">
            <a:off x="992238" y="845496"/>
            <a:ext cx="3777405" cy="426691"/>
            <a:chOff x="0" y="0"/>
            <a:chExt cx="5036541" cy="568922"/>
          </a:xfrm>
        </p:grpSpPr>
        <p:sp>
          <p:nvSpPr>
            <p:cNvPr name="Freeform 7" id="7"/>
            <p:cNvSpPr/>
            <p:nvPr/>
          </p:nvSpPr>
          <p:spPr>
            <a:xfrm flipH="false" flipV="false" rot="0">
              <a:off x="0" y="0"/>
              <a:ext cx="5036439" cy="568833"/>
            </a:xfrm>
            <a:custGeom>
              <a:avLst/>
              <a:gdLst/>
              <a:ahLst/>
              <a:cxnLst/>
              <a:rect r="r" b="b" t="t" l="l"/>
              <a:pathLst>
                <a:path h="568833" w="5036439">
                  <a:moveTo>
                    <a:pt x="0" y="238125"/>
                  </a:moveTo>
                  <a:cubicBezTo>
                    <a:pt x="0" y="106680"/>
                    <a:pt x="106680" y="0"/>
                    <a:pt x="238125" y="0"/>
                  </a:cubicBezTo>
                  <a:lnTo>
                    <a:pt x="4798314" y="0"/>
                  </a:lnTo>
                  <a:cubicBezTo>
                    <a:pt x="4929886" y="0"/>
                    <a:pt x="5036439" y="106680"/>
                    <a:pt x="5036439" y="238125"/>
                  </a:cubicBezTo>
                  <a:lnTo>
                    <a:pt x="5036439" y="330708"/>
                  </a:lnTo>
                  <a:cubicBezTo>
                    <a:pt x="5036439" y="462280"/>
                    <a:pt x="4929759" y="568833"/>
                    <a:pt x="4798314" y="568833"/>
                  </a:cubicBezTo>
                  <a:lnTo>
                    <a:pt x="238125" y="568833"/>
                  </a:lnTo>
                  <a:cubicBezTo>
                    <a:pt x="106680" y="568960"/>
                    <a:pt x="0" y="462280"/>
                    <a:pt x="0" y="330708"/>
                  </a:cubicBezTo>
                  <a:close/>
                </a:path>
              </a:pathLst>
            </a:custGeom>
            <a:solidFill>
              <a:srgbClr val="5678F0"/>
            </a:solidFill>
          </p:spPr>
        </p:sp>
      </p:grpSp>
      <p:sp>
        <p:nvSpPr>
          <p:cNvPr name="TextBox 8" id="8"/>
          <p:cNvSpPr txBox="true"/>
          <p:nvPr/>
        </p:nvSpPr>
        <p:spPr>
          <a:xfrm rot="0">
            <a:off x="1141066" y="891330"/>
            <a:ext cx="3479749" cy="265113"/>
          </a:xfrm>
          <a:prstGeom prst="rect">
            <a:avLst/>
          </a:prstGeom>
        </p:spPr>
        <p:txBody>
          <a:bodyPr anchor="t" rtlCol="false" tIns="0" lIns="0" bIns="0" rIns="0">
            <a:spAutoFit/>
          </a:bodyPr>
          <a:lstStyle/>
          <a:p>
            <a:pPr algn="l">
              <a:lnSpc>
                <a:spcPts val="2187"/>
              </a:lnSpc>
            </a:pPr>
            <a:r>
              <a:rPr lang="en-US" sz="1562">
                <a:solidFill>
                  <a:srgbClr val="FFFFFF"/>
                </a:solidFill>
                <a:latin typeface="Inter"/>
                <a:ea typeface="Inter"/>
                <a:cs typeface="Inter"/>
                <a:sym typeface="Inter"/>
              </a:rPr>
              <a:t>PHẦN 6: THỰC CHỨNG &amp; TỔNG KẾT</a:t>
            </a:r>
          </a:p>
        </p:txBody>
      </p:sp>
      <p:sp>
        <p:nvSpPr>
          <p:cNvPr name="TextBox 9" id="9"/>
          <p:cNvSpPr txBox="true"/>
          <p:nvPr/>
        </p:nvSpPr>
        <p:spPr>
          <a:xfrm rot="0">
            <a:off x="992238" y="1371305"/>
            <a:ext cx="9382125" cy="738188"/>
          </a:xfrm>
          <a:prstGeom prst="rect">
            <a:avLst/>
          </a:prstGeom>
        </p:spPr>
        <p:txBody>
          <a:bodyPr anchor="t" rtlCol="false" tIns="0" lIns="0" bIns="0" rIns="0">
            <a:spAutoFit/>
          </a:bodyPr>
          <a:lstStyle/>
          <a:p>
            <a:pPr algn="l">
              <a:lnSpc>
                <a:spcPts val="5812"/>
              </a:lnSpc>
            </a:pPr>
            <a:r>
              <a:rPr lang="en-US" sz="4875" b="true">
                <a:solidFill>
                  <a:srgbClr val="5678F0"/>
                </a:solidFill>
                <a:latin typeface="Inter Bold"/>
                <a:ea typeface="Inter Bold"/>
                <a:cs typeface="Inter Bold"/>
                <a:sym typeface="Inter Bold"/>
              </a:rPr>
              <a:t>Kịch bản Kiểm thử (Test Cases)</a:t>
            </a:r>
          </a:p>
        </p:txBody>
      </p:sp>
      <p:sp>
        <p:nvSpPr>
          <p:cNvPr name="TextBox 10" id="10"/>
          <p:cNvSpPr txBox="true"/>
          <p:nvPr/>
        </p:nvSpPr>
        <p:spPr>
          <a:xfrm rot="0">
            <a:off x="992238" y="2449411"/>
            <a:ext cx="16303523"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Hệ thống được kiểm thử toàn diện bao gồm các </a:t>
            </a:r>
            <a:r>
              <a:rPr lang="en-US" sz="1937" b="true">
                <a:solidFill>
                  <a:srgbClr val="303030"/>
                </a:solidFill>
                <a:latin typeface="Inter Bold"/>
                <a:ea typeface="Inter Bold"/>
                <a:cs typeface="Inter Bold"/>
                <a:sym typeface="Inter Bold"/>
              </a:rPr>
              <a:t>edge case</a:t>
            </a:r>
            <a:r>
              <a:rPr lang="en-US" sz="1937">
                <a:solidFill>
                  <a:srgbClr val="303030"/>
                </a:solidFill>
                <a:latin typeface="Inter"/>
                <a:ea typeface="Inter"/>
                <a:cs typeface="Inter"/>
                <a:sym typeface="Inter"/>
              </a:rPr>
              <a:t> thực tế, đảm bảo tính ổn định và xử lý ngoại lệ đúng đắn.</a:t>
            </a:r>
          </a:p>
        </p:txBody>
      </p:sp>
      <p:grpSp>
        <p:nvGrpSpPr>
          <p:cNvPr name="Group 11" id="11"/>
          <p:cNvGrpSpPr/>
          <p:nvPr/>
        </p:nvGrpSpPr>
        <p:grpSpPr>
          <a:xfrm rot="0">
            <a:off x="987476" y="3109017"/>
            <a:ext cx="16313048" cy="4706541"/>
            <a:chOff x="0" y="0"/>
            <a:chExt cx="21750731" cy="6275388"/>
          </a:xfrm>
        </p:grpSpPr>
        <p:sp>
          <p:nvSpPr>
            <p:cNvPr name="Freeform 12" id="12"/>
            <p:cNvSpPr/>
            <p:nvPr/>
          </p:nvSpPr>
          <p:spPr>
            <a:xfrm flipH="false" flipV="false" rot="0">
              <a:off x="0" y="0"/>
              <a:ext cx="21750781" cy="6275324"/>
            </a:xfrm>
            <a:custGeom>
              <a:avLst/>
              <a:gdLst/>
              <a:ahLst/>
              <a:cxnLst/>
              <a:rect r="r" b="b" t="t" l="l"/>
              <a:pathLst>
                <a:path h="6275324" w="21750781">
                  <a:moveTo>
                    <a:pt x="0" y="304038"/>
                  </a:moveTo>
                  <a:cubicBezTo>
                    <a:pt x="0" y="136144"/>
                    <a:pt x="136398" y="0"/>
                    <a:pt x="304546" y="0"/>
                  </a:cubicBezTo>
                  <a:lnTo>
                    <a:pt x="21446235" y="0"/>
                  </a:lnTo>
                  <a:lnTo>
                    <a:pt x="21446235" y="6350"/>
                  </a:lnTo>
                  <a:lnTo>
                    <a:pt x="21446235" y="0"/>
                  </a:lnTo>
                  <a:cubicBezTo>
                    <a:pt x="21614383" y="0"/>
                    <a:pt x="21750781" y="136144"/>
                    <a:pt x="21750781" y="304038"/>
                  </a:cubicBezTo>
                  <a:lnTo>
                    <a:pt x="21744431" y="304038"/>
                  </a:lnTo>
                  <a:lnTo>
                    <a:pt x="21750781" y="304038"/>
                  </a:lnTo>
                  <a:lnTo>
                    <a:pt x="21750781" y="5971286"/>
                  </a:lnTo>
                  <a:lnTo>
                    <a:pt x="21744431" y="5971286"/>
                  </a:lnTo>
                  <a:lnTo>
                    <a:pt x="21750781" y="5971286"/>
                  </a:lnTo>
                  <a:cubicBezTo>
                    <a:pt x="21750781" y="6139180"/>
                    <a:pt x="21614383" y="6275324"/>
                    <a:pt x="21446235" y="6275324"/>
                  </a:cubicBezTo>
                  <a:lnTo>
                    <a:pt x="21446235" y="6268974"/>
                  </a:lnTo>
                  <a:lnTo>
                    <a:pt x="21446235" y="6275324"/>
                  </a:lnTo>
                  <a:lnTo>
                    <a:pt x="304546" y="6275324"/>
                  </a:lnTo>
                  <a:lnTo>
                    <a:pt x="304546" y="6268974"/>
                  </a:lnTo>
                  <a:lnTo>
                    <a:pt x="304546" y="6275324"/>
                  </a:lnTo>
                  <a:cubicBezTo>
                    <a:pt x="136398" y="6275451"/>
                    <a:pt x="0" y="6139307"/>
                    <a:pt x="0" y="5971286"/>
                  </a:cubicBezTo>
                  <a:lnTo>
                    <a:pt x="0" y="304038"/>
                  </a:lnTo>
                  <a:lnTo>
                    <a:pt x="6350" y="304038"/>
                  </a:lnTo>
                  <a:lnTo>
                    <a:pt x="0" y="304038"/>
                  </a:lnTo>
                  <a:moveTo>
                    <a:pt x="12700" y="304038"/>
                  </a:moveTo>
                  <a:lnTo>
                    <a:pt x="12700" y="5971286"/>
                  </a:lnTo>
                  <a:lnTo>
                    <a:pt x="6350" y="5971286"/>
                  </a:lnTo>
                  <a:lnTo>
                    <a:pt x="12700" y="5971286"/>
                  </a:lnTo>
                  <a:cubicBezTo>
                    <a:pt x="12700" y="6132195"/>
                    <a:pt x="143383" y="6262624"/>
                    <a:pt x="304546" y="6262624"/>
                  </a:cubicBezTo>
                  <a:lnTo>
                    <a:pt x="21446235" y="6262624"/>
                  </a:lnTo>
                  <a:cubicBezTo>
                    <a:pt x="21607399" y="6262624"/>
                    <a:pt x="21738081" y="6132195"/>
                    <a:pt x="21738081" y="5971286"/>
                  </a:cubicBezTo>
                  <a:lnTo>
                    <a:pt x="21738081" y="304038"/>
                  </a:lnTo>
                  <a:cubicBezTo>
                    <a:pt x="21738081" y="143129"/>
                    <a:pt x="21607399" y="12700"/>
                    <a:pt x="21446235" y="12700"/>
                  </a:cubicBezTo>
                  <a:lnTo>
                    <a:pt x="304546" y="12700"/>
                  </a:lnTo>
                  <a:lnTo>
                    <a:pt x="304546" y="6350"/>
                  </a:lnTo>
                  <a:lnTo>
                    <a:pt x="304546" y="12700"/>
                  </a:lnTo>
                  <a:cubicBezTo>
                    <a:pt x="143383" y="12700"/>
                    <a:pt x="12700" y="143129"/>
                    <a:pt x="12700" y="304038"/>
                  </a:cubicBezTo>
                  <a:close/>
                </a:path>
              </a:pathLst>
            </a:custGeom>
            <a:solidFill>
              <a:srgbClr val="000000">
                <a:alpha val="392"/>
              </a:srgbClr>
            </a:solidFill>
          </p:spPr>
        </p:sp>
      </p:grpSp>
      <p:grpSp>
        <p:nvGrpSpPr>
          <p:cNvPr name="Group 13" id="13"/>
          <p:cNvGrpSpPr/>
          <p:nvPr/>
        </p:nvGrpSpPr>
        <p:grpSpPr>
          <a:xfrm rot="0">
            <a:off x="1001763" y="3123305"/>
            <a:ext cx="16284473" cy="663921"/>
            <a:chOff x="0" y="0"/>
            <a:chExt cx="21712631" cy="885228"/>
          </a:xfrm>
        </p:grpSpPr>
        <p:sp>
          <p:nvSpPr>
            <p:cNvPr name="Freeform 14" id="14"/>
            <p:cNvSpPr/>
            <p:nvPr/>
          </p:nvSpPr>
          <p:spPr>
            <a:xfrm flipH="false" flipV="false" rot="0">
              <a:off x="0" y="0"/>
              <a:ext cx="21712682" cy="885190"/>
            </a:xfrm>
            <a:custGeom>
              <a:avLst/>
              <a:gdLst/>
              <a:ahLst/>
              <a:cxnLst/>
              <a:rect r="r" b="b" t="t" l="l"/>
              <a:pathLst>
                <a:path h="885190" w="21712682">
                  <a:moveTo>
                    <a:pt x="0" y="0"/>
                  </a:moveTo>
                  <a:lnTo>
                    <a:pt x="21712682" y="0"/>
                  </a:lnTo>
                  <a:lnTo>
                    <a:pt x="21712682" y="885190"/>
                  </a:lnTo>
                  <a:lnTo>
                    <a:pt x="0" y="885190"/>
                  </a:lnTo>
                  <a:close/>
                </a:path>
              </a:pathLst>
            </a:custGeom>
            <a:solidFill>
              <a:srgbClr val="FFFFFF">
                <a:alpha val="0"/>
              </a:srgbClr>
            </a:solidFill>
          </p:spPr>
        </p:sp>
      </p:grpSp>
      <p:sp>
        <p:nvSpPr>
          <p:cNvPr name="TextBox 15" id="15"/>
          <p:cNvSpPr txBox="true"/>
          <p:nvPr/>
        </p:nvSpPr>
        <p:spPr>
          <a:xfrm rot="0">
            <a:off x="1249861" y="3243558"/>
            <a:ext cx="1453458" cy="325438"/>
          </a:xfrm>
          <a:prstGeom prst="rect">
            <a:avLst/>
          </a:prstGeom>
        </p:spPr>
        <p:txBody>
          <a:bodyPr anchor="t" rtlCol="false" tIns="0" lIns="0" bIns="0" rIns="0">
            <a:spAutoFit/>
          </a:bodyPr>
          <a:lstStyle/>
          <a:p>
            <a:pPr algn="l">
              <a:lnSpc>
                <a:spcPts val="2687"/>
              </a:lnSpc>
            </a:pPr>
            <a:r>
              <a:rPr lang="en-US" sz="1937" b="true">
                <a:solidFill>
                  <a:srgbClr val="303030"/>
                </a:solidFill>
                <a:latin typeface="Inter Bold"/>
                <a:ea typeface="Inter Bold"/>
                <a:cs typeface="Inter Bold"/>
                <a:sym typeface="Inter Bold"/>
              </a:rPr>
              <a:t>Mã TC</a:t>
            </a:r>
          </a:p>
        </p:txBody>
      </p:sp>
      <p:sp>
        <p:nvSpPr>
          <p:cNvPr name="TextBox 16" id="16"/>
          <p:cNvSpPr txBox="true"/>
          <p:nvPr/>
        </p:nvSpPr>
        <p:spPr>
          <a:xfrm rot="0">
            <a:off x="3208734" y="3243558"/>
            <a:ext cx="4054231" cy="325438"/>
          </a:xfrm>
          <a:prstGeom prst="rect">
            <a:avLst/>
          </a:prstGeom>
        </p:spPr>
        <p:txBody>
          <a:bodyPr anchor="t" rtlCol="false" tIns="0" lIns="0" bIns="0" rIns="0">
            <a:spAutoFit/>
          </a:bodyPr>
          <a:lstStyle/>
          <a:p>
            <a:pPr algn="l">
              <a:lnSpc>
                <a:spcPts val="2687"/>
              </a:lnSpc>
            </a:pPr>
            <a:r>
              <a:rPr lang="en-US" sz="1937" b="true">
                <a:solidFill>
                  <a:srgbClr val="303030"/>
                </a:solidFill>
                <a:latin typeface="Inter Bold"/>
                <a:ea typeface="Inter Bold"/>
                <a:cs typeface="Inter Bold"/>
                <a:sym typeface="Inter Bold"/>
              </a:rPr>
              <a:t>Kịch bản</a:t>
            </a:r>
          </a:p>
        </p:txBody>
      </p:sp>
      <p:sp>
        <p:nvSpPr>
          <p:cNvPr name="TextBox 17" id="17"/>
          <p:cNvSpPr txBox="true"/>
          <p:nvPr/>
        </p:nvSpPr>
        <p:spPr>
          <a:xfrm rot="0">
            <a:off x="7768380" y="3243558"/>
            <a:ext cx="4379862" cy="325438"/>
          </a:xfrm>
          <a:prstGeom prst="rect">
            <a:avLst/>
          </a:prstGeom>
        </p:spPr>
        <p:txBody>
          <a:bodyPr anchor="t" rtlCol="false" tIns="0" lIns="0" bIns="0" rIns="0">
            <a:spAutoFit/>
          </a:bodyPr>
          <a:lstStyle/>
          <a:p>
            <a:pPr algn="l">
              <a:lnSpc>
                <a:spcPts val="2687"/>
              </a:lnSpc>
            </a:pPr>
            <a:r>
              <a:rPr lang="en-US" sz="1937" b="true">
                <a:solidFill>
                  <a:srgbClr val="303030"/>
                </a:solidFill>
                <a:latin typeface="Inter Bold"/>
                <a:ea typeface="Inter Bold"/>
                <a:cs typeface="Inter Bold"/>
                <a:sym typeface="Inter Bold"/>
              </a:rPr>
              <a:t>Đầu vào</a:t>
            </a:r>
          </a:p>
        </p:txBody>
      </p:sp>
      <p:sp>
        <p:nvSpPr>
          <p:cNvPr name="TextBox 18" id="18"/>
          <p:cNvSpPr txBox="true"/>
          <p:nvPr/>
        </p:nvSpPr>
        <p:spPr>
          <a:xfrm rot="0">
            <a:off x="12653667" y="3243558"/>
            <a:ext cx="4384624" cy="325438"/>
          </a:xfrm>
          <a:prstGeom prst="rect">
            <a:avLst/>
          </a:prstGeom>
        </p:spPr>
        <p:txBody>
          <a:bodyPr anchor="t" rtlCol="false" tIns="0" lIns="0" bIns="0" rIns="0">
            <a:spAutoFit/>
          </a:bodyPr>
          <a:lstStyle/>
          <a:p>
            <a:pPr algn="l">
              <a:lnSpc>
                <a:spcPts val="2687"/>
              </a:lnSpc>
            </a:pPr>
            <a:r>
              <a:rPr lang="en-US" sz="1937" b="true">
                <a:solidFill>
                  <a:srgbClr val="303030"/>
                </a:solidFill>
                <a:latin typeface="Inter Bold"/>
                <a:ea typeface="Inter Bold"/>
                <a:cs typeface="Inter Bold"/>
                <a:sym typeface="Inter Bold"/>
              </a:rPr>
              <a:t>Kết quả Mong đợi</a:t>
            </a:r>
          </a:p>
        </p:txBody>
      </p:sp>
      <p:grpSp>
        <p:nvGrpSpPr>
          <p:cNvPr name="Group 19" id="19"/>
          <p:cNvGrpSpPr/>
          <p:nvPr/>
        </p:nvGrpSpPr>
        <p:grpSpPr>
          <a:xfrm rot="0">
            <a:off x="1001763" y="3787226"/>
            <a:ext cx="16284473" cy="1011136"/>
            <a:chOff x="0" y="0"/>
            <a:chExt cx="21712631" cy="1348181"/>
          </a:xfrm>
        </p:grpSpPr>
        <p:sp>
          <p:nvSpPr>
            <p:cNvPr name="Freeform 20" id="20"/>
            <p:cNvSpPr/>
            <p:nvPr/>
          </p:nvSpPr>
          <p:spPr>
            <a:xfrm flipH="false" flipV="false" rot="0">
              <a:off x="0" y="0"/>
              <a:ext cx="21712682" cy="1348232"/>
            </a:xfrm>
            <a:custGeom>
              <a:avLst/>
              <a:gdLst/>
              <a:ahLst/>
              <a:cxnLst/>
              <a:rect r="r" b="b" t="t" l="l"/>
              <a:pathLst>
                <a:path h="1348232" w="21712682">
                  <a:moveTo>
                    <a:pt x="0" y="0"/>
                  </a:moveTo>
                  <a:lnTo>
                    <a:pt x="21712682" y="0"/>
                  </a:lnTo>
                  <a:lnTo>
                    <a:pt x="21712682" y="1348232"/>
                  </a:lnTo>
                  <a:lnTo>
                    <a:pt x="0" y="1348232"/>
                  </a:lnTo>
                  <a:close/>
                </a:path>
              </a:pathLst>
            </a:custGeom>
            <a:solidFill>
              <a:srgbClr val="000000">
                <a:alpha val="0"/>
              </a:srgbClr>
            </a:solidFill>
          </p:spPr>
        </p:sp>
      </p:grpSp>
      <p:sp>
        <p:nvSpPr>
          <p:cNvPr name="TextBox 21" id="21"/>
          <p:cNvSpPr txBox="true"/>
          <p:nvPr/>
        </p:nvSpPr>
        <p:spPr>
          <a:xfrm rot="0">
            <a:off x="1249861" y="3907479"/>
            <a:ext cx="1453458"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TC_01</a:t>
            </a:r>
          </a:p>
        </p:txBody>
      </p:sp>
      <p:sp>
        <p:nvSpPr>
          <p:cNvPr name="TextBox 22" id="22"/>
          <p:cNvSpPr txBox="true"/>
          <p:nvPr/>
        </p:nvSpPr>
        <p:spPr>
          <a:xfrm rot="0">
            <a:off x="3208734" y="3907479"/>
            <a:ext cx="4054231"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Tải tệp không chứa khuôn mặt</a:t>
            </a:r>
          </a:p>
        </p:txBody>
      </p:sp>
      <p:sp>
        <p:nvSpPr>
          <p:cNvPr name="TextBox 23" id="23"/>
          <p:cNvSpPr txBox="true"/>
          <p:nvPr/>
        </p:nvSpPr>
        <p:spPr>
          <a:xfrm rot="0">
            <a:off x="7768380" y="3907479"/>
            <a:ext cx="4379862"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Video cảnh vật, không có người</a:t>
            </a:r>
          </a:p>
        </p:txBody>
      </p:sp>
      <p:sp>
        <p:nvSpPr>
          <p:cNvPr name="TextBox 24" id="24"/>
          <p:cNvSpPr txBox="true"/>
          <p:nvPr/>
        </p:nvSpPr>
        <p:spPr>
          <a:xfrm rot="0">
            <a:off x="12653667" y="3907479"/>
            <a:ext cx="4384624" cy="658812"/>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Thông báo lỗi: "Không phát hiện khuôn mặt"</a:t>
            </a:r>
          </a:p>
        </p:txBody>
      </p:sp>
      <p:grpSp>
        <p:nvGrpSpPr>
          <p:cNvPr name="Group 25" id="25"/>
          <p:cNvGrpSpPr/>
          <p:nvPr/>
        </p:nvGrpSpPr>
        <p:grpSpPr>
          <a:xfrm rot="0">
            <a:off x="1001763" y="4798371"/>
            <a:ext cx="16284473" cy="663921"/>
            <a:chOff x="0" y="0"/>
            <a:chExt cx="21712631" cy="885228"/>
          </a:xfrm>
        </p:grpSpPr>
        <p:sp>
          <p:nvSpPr>
            <p:cNvPr name="Freeform 26" id="26"/>
            <p:cNvSpPr/>
            <p:nvPr/>
          </p:nvSpPr>
          <p:spPr>
            <a:xfrm flipH="false" flipV="false" rot="0">
              <a:off x="0" y="0"/>
              <a:ext cx="21712682" cy="885190"/>
            </a:xfrm>
            <a:custGeom>
              <a:avLst/>
              <a:gdLst/>
              <a:ahLst/>
              <a:cxnLst/>
              <a:rect r="r" b="b" t="t" l="l"/>
              <a:pathLst>
                <a:path h="885190" w="21712682">
                  <a:moveTo>
                    <a:pt x="0" y="0"/>
                  </a:moveTo>
                  <a:lnTo>
                    <a:pt x="21712682" y="0"/>
                  </a:lnTo>
                  <a:lnTo>
                    <a:pt x="21712682" y="885190"/>
                  </a:lnTo>
                  <a:lnTo>
                    <a:pt x="0" y="885190"/>
                  </a:lnTo>
                  <a:close/>
                </a:path>
              </a:pathLst>
            </a:custGeom>
            <a:solidFill>
              <a:srgbClr val="FFFFFF">
                <a:alpha val="0"/>
              </a:srgbClr>
            </a:solidFill>
          </p:spPr>
        </p:sp>
      </p:grpSp>
      <p:sp>
        <p:nvSpPr>
          <p:cNvPr name="TextBox 27" id="27"/>
          <p:cNvSpPr txBox="true"/>
          <p:nvPr/>
        </p:nvSpPr>
        <p:spPr>
          <a:xfrm rot="0">
            <a:off x="1249861" y="4918624"/>
            <a:ext cx="1453458"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TC_02</a:t>
            </a:r>
          </a:p>
        </p:txBody>
      </p:sp>
      <p:sp>
        <p:nvSpPr>
          <p:cNvPr name="TextBox 28" id="28"/>
          <p:cNvSpPr txBox="true"/>
          <p:nvPr/>
        </p:nvSpPr>
        <p:spPr>
          <a:xfrm rot="0">
            <a:off x="3208734" y="4918624"/>
            <a:ext cx="4054231"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Tải video REAL hợp lệ</a:t>
            </a:r>
          </a:p>
        </p:txBody>
      </p:sp>
      <p:sp>
        <p:nvSpPr>
          <p:cNvPr name="TextBox 29" id="29"/>
          <p:cNvSpPr txBox="true"/>
          <p:nvPr/>
        </p:nvSpPr>
        <p:spPr>
          <a:xfrm rot="0">
            <a:off x="7768380" y="4918624"/>
            <a:ext cx="4379862"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Video gốc không chỉnh sửa</a:t>
            </a:r>
          </a:p>
        </p:txBody>
      </p:sp>
      <p:sp>
        <p:nvSpPr>
          <p:cNvPr name="TextBox 30" id="30"/>
          <p:cNvSpPr txBox="true"/>
          <p:nvPr/>
        </p:nvSpPr>
        <p:spPr>
          <a:xfrm rot="0">
            <a:off x="12653667" y="4918624"/>
            <a:ext cx="4384624"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Kết quả: REAL + Heatmap Grad-CAM</a:t>
            </a:r>
          </a:p>
        </p:txBody>
      </p:sp>
      <p:grpSp>
        <p:nvGrpSpPr>
          <p:cNvPr name="Group 31" id="31"/>
          <p:cNvGrpSpPr/>
          <p:nvPr/>
        </p:nvGrpSpPr>
        <p:grpSpPr>
          <a:xfrm rot="0">
            <a:off x="1001763" y="5462292"/>
            <a:ext cx="16284473" cy="663921"/>
            <a:chOff x="0" y="0"/>
            <a:chExt cx="21712631" cy="885228"/>
          </a:xfrm>
        </p:grpSpPr>
        <p:sp>
          <p:nvSpPr>
            <p:cNvPr name="Freeform 32" id="32"/>
            <p:cNvSpPr/>
            <p:nvPr/>
          </p:nvSpPr>
          <p:spPr>
            <a:xfrm flipH="false" flipV="false" rot="0">
              <a:off x="0" y="0"/>
              <a:ext cx="21712682" cy="885190"/>
            </a:xfrm>
            <a:custGeom>
              <a:avLst/>
              <a:gdLst/>
              <a:ahLst/>
              <a:cxnLst/>
              <a:rect r="r" b="b" t="t" l="l"/>
              <a:pathLst>
                <a:path h="885190" w="21712682">
                  <a:moveTo>
                    <a:pt x="0" y="0"/>
                  </a:moveTo>
                  <a:lnTo>
                    <a:pt x="21712682" y="0"/>
                  </a:lnTo>
                  <a:lnTo>
                    <a:pt x="21712682" y="885190"/>
                  </a:lnTo>
                  <a:lnTo>
                    <a:pt x="0" y="885190"/>
                  </a:lnTo>
                  <a:close/>
                </a:path>
              </a:pathLst>
            </a:custGeom>
            <a:solidFill>
              <a:srgbClr val="000000">
                <a:alpha val="0"/>
              </a:srgbClr>
            </a:solidFill>
          </p:spPr>
        </p:sp>
      </p:grpSp>
      <p:sp>
        <p:nvSpPr>
          <p:cNvPr name="TextBox 33" id="33"/>
          <p:cNvSpPr txBox="true"/>
          <p:nvPr/>
        </p:nvSpPr>
        <p:spPr>
          <a:xfrm rot="0">
            <a:off x="1249861" y="5582545"/>
            <a:ext cx="1453458"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TC_03</a:t>
            </a:r>
          </a:p>
        </p:txBody>
      </p:sp>
      <p:sp>
        <p:nvSpPr>
          <p:cNvPr name="TextBox 34" id="34"/>
          <p:cNvSpPr txBox="true"/>
          <p:nvPr/>
        </p:nvSpPr>
        <p:spPr>
          <a:xfrm rot="0">
            <a:off x="3208734" y="5582545"/>
            <a:ext cx="4054231"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Vượt quá dung lượng cho phép</a:t>
            </a:r>
          </a:p>
        </p:txBody>
      </p:sp>
      <p:sp>
        <p:nvSpPr>
          <p:cNvPr name="TextBox 35" id="35"/>
          <p:cNvSpPr txBox="true"/>
          <p:nvPr/>
        </p:nvSpPr>
        <p:spPr>
          <a:xfrm rot="0">
            <a:off x="7768380" y="5582545"/>
            <a:ext cx="4379862"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Tệp &gt; giới hạn MB</a:t>
            </a:r>
          </a:p>
        </p:txBody>
      </p:sp>
      <p:sp>
        <p:nvSpPr>
          <p:cNvPr name="TextBox 36" id="36"/>
          <p:cNvSpPr txBox="true"/>
          <p:nvPr/>
        </p:nvSpPr>
        <p:spPr>
          <a:xfrm rot="0">
            <a:off x="12653667" y="5582545"/>
            <a:ext cx="4384624"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Thông báo lỗi: "File quá lớn"</a:t>
            </a:r>
          </a:p>
        </p:txBody>
      </p:sp>
      <p:grpSp>
        <p:nvGrpSpPr>
          <p:cNvPr name="Group 37" id="37"/>
          <p:cNvGrpSpPr/>
          <p:nvPr/>
        </p:nvGrpSpPr>
        <p:grpSpPr>
          <a:xfrm rot="0">
            <a:off x="1001763" y="6126213"/>
            <a:ext cx="16284473" cy="663921"/>
            <a:chOff x="0" y="0"/>
            <a:chExt cx="21712631" cy="885228"/>
          </a:xfrm>
        </p:grpSpPr>
        <p:sp>
          <p:nvSpPr>
            <p:cNvPr name="Freeform 38" id="38"/>
            <p:cNvSpPr/>
            <p:nvPr/>
          </p:nvSpPr>
          <p:spPr>
            <a:xfrm flipH="false" flipV="false" rot="0">
              <a:off x="0" y="0"/>
              <a:ext cx="21712682" cy="885190"/>
            </a:xfrm>
            <a:custGeom>
              <a:avLst/>
              <a:gdLst/>
              <a:ahLst/>
              <a:cxnLst/>
              <a:rect r="r" b="b" t="t" l="l"/>
              <a:pathLst>
                <a:path h="885190" w="21712682">
                  <a:moveTo>
                    <a:pt x="0" y="0"/>
                  </a:moveTo>
                  <a:lnTo>
                    <a:pt x="21712682" y="0"/>
                  </a:lnTo>
                  <a:lnTo>
                    <a:pt x="21712682" y="885190"/>
                  </a:lnTo>
                  <a:lnTo>
                    <a:pt x="0" y="885190"/>
                  </a:lnTo>
                  <a:close/>
                </a:path>
              </a:pathLst>
            </a:custGeom>
            <a:solidFill>
              <a:srgbClr val="FFFFFF">
                <a:alpha val="0"/>
              </a:srgbClr>
            </a:solidFill>
          </p:spPr>
        </p:sp>
      </p:grpSp>
      <p:sp>
        <p:nvSpPr>
          <p:cNvPr name="TextBox 39" id="39"/>
          <p:cNvSpPr txBox="true"/>
          <p:nvPr/>
        </p:nvSpPr>
        <p:spPr>
          <a:xfrm rot="0">
            <a:off x="1249861" y="6246466"/>
            <a:ext cx="1453458"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TC_04</a:t>
            </a:r>
          </a:p>
        </p:txBody>
      </p:sp>
      <p:sp>
        <p:nvSpPr>
          <p:cNvPr name="TextBox 40" id="40"/>
          <p:cNvSpPr txBox="true"/>
          <p:nvPr/>
        </p:nvSpPr>
        <p:spPr>
          <a:xfrm rot="0">
            <a:off x="3208734" y="6246466"/>
            <a:ext cx="4054231"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Tải video FAKE (Face2Face)</a:t>
            </a:r>
          </a:p>
        </p:txBody>
      </p:sp>
      <p:sp>
        <p:nvSpPr>
          <p:cNvPr name="TextBox 41" id="41"/>
          <p:cNvSpPr txBox="true"/>
          <p:nvPr/>
        </p:nvSpPr>
        <p:spPr>
          <a:xfrm rot="0">
            <a:off x="7768380" y="6246466"/>
            <a:ext cx="4379862"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Video deepfake đã được xác nhận</a:t>
            </a:r>
          </a:p>
        </p:txBody>
      </p:sp>
      <p:sp>
        <p:nvSpPr>
          <p:cNvPr name="TextBox 42" id="42"/>
          <p:cNvSpPr txBox="true"/>
          <p:nvPr/>
        </p:nvSpPr>
        <p:spPr>
          <a:xfrm rot="0">
            <a:off x="12653667" y="6246466"/>
            <a:ext cx="4384624"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Kết quả: FAKE + Highlight vùng lỗi</a:t>
            </a:r>
          </a:p>
        </p:txBody>
      </p:sp>
      <p:grpSp>
        <p:nvGrpSpPr>
          <p:cNvPr name="Group 43" id="43"/>
          <p:cNvGrpSpPr/>
          <p:nvPr/>
        </p:nvGrpSpPr>
        <p:grpSpPr>
          <a:xfrm rot="0">
            <a:off x="1001763" y="6790134"/>
            <a:ext cx="16284473" cy="1011136"/>
            <a:chOff x="0" y="0"/>
            <a:chExt cx="21712631" cy="1348181"/>
          </a:xfrm>
        </p:grpSpPr>
        <p:sp>
          <p:nvSpPr>
            <p:cNvPr name="Freeform 44" id="44"/>
            <p:cNvSpPr/>
            <p:nvPr/>
          </p:nvSpPr>
          <p:spPr>
            <a:xfrm flipH="false" flipV="false" rot="0">
              <a:off x="0" y="0"/>
              <a:ext cx="21712682" cy="1348232"/>
            </a:xfrm>
            <a:custGeom>
              <a:avLst/>
              <a:gdLst/>
              <a:ahLst/>
              <a:cxnLst/>
              <a:rect r="r" b="b" t="t" l="l"/>
              <a:pathLst>
                <a:path h="1348232" w="21712682">
                  <a:moveTo>
                    <a:pt x="0" y="0"/>
                  </a:moveTo>
                  <a:lnTo>
                    <a:pt x="21712682" y="0"/>
                  </a:lnTo>
                  <a:lnTo>
                    <a:pt x="21712682" y="1348232"/>
                  </a:lnTo>
                  <a:lnTo>
                    <a:pt x="0" y="1348232"/>
                  </a:lnTo>
                  <a:close/>
                </a:path>
              </a:pathLst>
            </a:custGeom>
            <a:solidFill>
              <a:srgbClr val="000000">
                <a:alpha val="0"/>
              </a:srgbClr>
            </a:solidFill>
          </p:spPr>
        </p:sp>
      </p:grpSp>
      <p:sp>
        <p:nvSpPr>
          <p:cNvPr name="TextBox 45" id="45"/>
          <p:cNvSpPr txBox="true"/>
          <p:nvPr/>
        </p:nvSpPr>
        <p:spPr>
          <a:xfrm rot="0">
            <a:off x="1249861" y="6910388"/>
            <a:ext cx="1453458"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TC_05</a:t>
            </a:r>
          </a:p>
        </p:txBody>
      </p:sp>
      <p:sp>
        <p:nvSpPr>
          <p:cNvPr name="TextBox 46" id="46"/>
          <p:cNvSpPr txBox="true"/>
          <p:nvPr/>
        </p:nvSpPr>
        <p:spPr>
          <a:xfrm rot="0">
            <a:off x="3208734" y="6910388"/>
            <a:ext cx="4054231"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Định dạng tệp không hỗ trợ</a:t>
            </a:r>
          </a:p>
        </p:txBody>
      </p:sp>
      <p:sp>
        <p:nvSpPr>
          <p:cNvPr name="TextBox 47" id="47"/>
          <p:cNvSpPr txBox="true"/>
          <p:nvPr/>
        </p:nvSpPr>
        <p:spPr>
          <a:xfrm rot="0">
            <a:off x="7768380" y="6910388"/>
            <a:ext cx="4379862"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Tệp .gif hoặc .bmp</a:t>
            </a:r>
          </a:p>
        </p:txBody>
      </p:sp>
      <p:sp>
        <p:nvSpPr>
          <p:cNvPr name="TextBox 48" id="48"/>
          <p:cNvSpPr txBox="true"/>
          <p:nvPr/>
        </p:nvSpPr>
        <p:spPr>
          <a:xfrm rot="0">
            <a:off x="12653667" y="6910387"/>
            <a:ext cx="4384624" cy="658812"/>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Thông báo lỗi: "Định dạng không hợp lệ"</a:t>
            </a:r>
          </a:p>
        </p:txBody>
      </p:sp>
      <p:grpSp>
        <p:nvGrpSpPr>
          <p:cNvPr name="Group 49" id="49"/>
          <p:cNvGrpSpPr/>
          <p:nvPr/>
        </p:nvGrpSpPr>
        <p:grpSpPr>
          <a:xfrm rot="0">
            <a:off x="992238" y="8089849"/>
            <a:ext cx="16303523" cy="1351512"/>
            <a:chOff x="0" y="0"/>
            <a:chExt cx="21738031" cy="1802016"/>
          </a:xfrm>
        </p:grpSpPr>
        <p:sp>
          <p:nvSpPr>
            <p:cNvPr name="Freeform 50" id="50"/>
            <p:cNvSpPr/>
            <p:nvPr/>
          </p:nvSpPr>
          <p:spPr>
            <a:xfrm flipH="false" flipV="false" rot="0">
              <a:off x="0" y="0"/>
              <a:ext cx="21737955" cy="1802003"/>
            </a:xfrm>
            <a:custGeom>
              <a:avLst/>
              <a:gdLst/>
              <a:ahLst/>
              <a:cxnLst/>
              <a:rect r="r" b="b" t="t" l="l"/>
              <a:pathLst>
                <a:path h="1802003" w="21737955">
                  <a:moveTo>
                    <a:pt x="0" y="297688"/>
                  </a:moveTo>
                  <a:cubicBezTo>
                    <a:pt x="0" y="133350"/>
                    <a:pt x="133350" y="0"/>
                    <a:pt x="297688" y="0"/>
                  </a:cubicBezTo>
                  <a:lnTo>
                    <a:pt x="21440267" y="0"/>
                  </a:lnTo>
                  <a:cubicBezTo>
                    <a:pt x="21604731" y="0"/>
                    <a:pt x="21737955" y="133350"/>
                    <a:pt x="21737955" y="297688"/>
                  </a:cubicBezTo>
                  <a:lnTo>
                    <a:pt x="21737955" y="1504315"/>
                  </a:lnTo>
                  <a:cubicBezTo>
                    <a:pt x="21737955" y="1668780"/>
                    <a:pt x="21604605" y="1802003"/>
                    <a:pt x="21440267" y="1802003"/>
                  </a:cubicBezTo>
                  <a:lnTo>
                    <a:pt x="297688" y="1802003"/>
                  </a:lnTo>
                  <a:cubicBezTo>
                    <a:pt x="133350" y="1802003"/>
                    <a:pt x="0" y="1668780"/>
                    <a:pt x="0" y="1504315"/>
                  </a:cubicBezTo>
                  <a:close/>
                </a:path>
              </a:pathLst>
            </a:custGeom>
            <a:solidFill>
              <a:srgbClr val="BEDFF4"/>
            </a:solidFill>
          </p:spPr>
        </p:sp>
      </p:grpSp>
      <p:grpSp>
        <p:nvGrpSpPr>
          <p:cNvPr name="Group 51" id="51"/>
          <p:cNvGrpSpPr/>
          <p:nvPr/>
        </p:nvGrpSpPr>
        <p:grpSpPr>
          <a:xfrm rot="0">
            <a:off x="1240184" y="8449418"/>
            <a:ext cx="310010" cy="247945"/>
            <a:chOff x="0" y="0"/>
            <a:chExt cx="413347" cy="330594"/>
          </a:xfrm>
        </p:grpSpPr>
        <p:sp>
          <p:nvSpPr>
            <p:cNvPr name="Freeform 52" id="52" descr="preencoded.png"/>
            <p:cNvSpPr/>
            <p:nvPr/>
          </p:nvSpPr>
          <p:spPr>
            <a:xfrm flipH="false" flipV="false" rot="0">
              <a:off x="0" y="0"/>
              <a:ext cx="413385" cy="330581"/>
            </a:xfrm>
            <a:custGeom>
              <a:avLst/>
              <a:gdLst/>
              <a:ahLst/>
              <a:cxnLst/>
              <a:rect r="r" b="b" t="t" l="l"/>
              <a:pathLst>
                <a:path h="330581" w="413385">
                  <a:moveTo>
                    <a:pt x="0" y="0"/>
                  </a:moveTo>
                  <a:lnTo>
                    <a:pt x="413385" y="0"/>
                  </a:lnTo>
                  <a:lnTo>
                    <a:pt x="413385" y="330581"/>
                  </a:lnTo>
                  <a:lnTo>
                    <a:pt x="0" y="330581"/>
                  </a:lnTo>
                  <a:lnTo>
                    <a:pt x="0" y="0"/>
                  </a:lnTo>
                  <a:close/>
                </a:path>
              </a:pathLst>
            </a:custGeom>
            <a:blipFill>
              <a:blip r:embed="rId2"/>
              <a:stretch>
                <a:fillRect l="-755" t="0" r="-749" b="-3"/>
              </a:stretch>
            </a:blipFill>
          </p:spPr>
        </p:sp>
      </p:grpSp>
      <p:sp>
        <p:nvSpPr>
          <p:cNvPr name="TextBox 53" id="53"/>
          <p:cNvSpPr txBox="true"/>
          <p:nvPr/>
        </p:nvSpPr>
        <p:spPr>
          <a:xfrm rot="0">
            <a:off x="1798139" y="8361607"/>
            <a:ext cx="15249677" cy="658812"/>
          </a:xfrm>
          <a:prstGeom prst="rect">
            <a:avLst/>
          </a:prstGeom>
        </p:spPr>
        <p:txBody>
          <a:bodyPr anchor="t" rtlCol="false" tIns="0" lIns="0" bIns="0" rIns="0">
            <a:spAutoFit/>
          </a:bodyPr>
          <a:lstStyle/>
          <a:p>
            <a:pPr algn="l">
              <a:lnSpc>
                <a:spcPts val="2687"/>
              </a:lnSpc>
            </a:pPr>
            <a:r>
              <a:rPr lang="en-US" sz="1937" b="true">
                <a:solidFill>
                  <a:srgbClr val="000000"/>
                </a:solidFill>
                <a:latin typeface="Inter Bold"/>
                <a:ea typeface="Inter Bold"/>
                <a:cs typeface="Inter Bold"/>
                <a:sym typeface="Inter Bold"/>
              </a:rPr>
              <a:t>Kết luận kiểm thử:</a:t>
            </a:r>
            <a:r>
              <a:rPr lang="en-US" sz="1937">
                <a:solidFill>
                  <a:srgbClr val="000000"/>
                </a:solidFill>
                <a:latin typeface="Inter"/>
                <a:ea typeface="Inter"/>
                <a:cs typeface="Inter"/>
                <a:sym typeface="Inter"/>
              </a:rPr>
              <a:t> Hệ thống xử lý đúng 100% các kịch bản edge case — xác nhận tính hoàn thiện của phần mềm trước khi triển khai thực tế.</a:t>
            </a:r>
          </a:p>
        </p:txBody>
      </p:sp>
      <p:grpSp>
        <p:nvGrpSpPr>
          <p:cNvPr name="Group 54" id="54"/>
          <p:cNvGrpSpPr/>
          <p:nvPr/>
        </p:nvGrpSpPr>
        <p:grpSpPr>
          <a:xfrm rot="0">
            <a:off x="15989351" y="0"/>
            <a:ext cx="2212924" cy="2212924"/>
            <a:chOff x="0" y="0"/>
            <a:chExt cx="812800" cy="812800"/>
          </a:xfrm>
        </p:grpSpPr>
        <p:sp>
          <p:nvSpPr>
            <p:cNvPr name="Freeform 55" id="5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0" r="0" b="0"/>
              </a:stretch>
            </a:blip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377C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5F5F5"/>
            </a:solidFill>
          </p:spPr>
        </p:sp>
      </p:grpSp>
      <p:grpSp>
        <p:nvGrpSpPr>
          <p:cNvPr name="Group 6" id="6"/>
          <p:cNvGrpSpPr/>
          <p:nvPr/>
        </p:nvGrpSpPr>
        <p:grpSpPr>
          <a:xfrm rot="0">
            <a:off x="992238" y="2598391"/>
            <a:ext cx="2516686" cy="426691"/>
            <a:chOff x="0" y="0"/>
            <a:chExt cx="3355581" cy="568922"/>
          </a:xfrm>
        </p:grpSpPr>
        <p:sp>
          <p:nvSpPr>
            <p:cNvPr name="Freeform 7" id="7"/>
            <p:cNvSpPr/>
            <p:nvPr/>
          </p:nvSpPr>
          <p:spPr>
            <a:xfrm flipH="false" flipV="false" rot="0">
              <a:off x="0" y="0"/>
              <a:ext cx="3355594" cy="568833"/>
            </a:xfrm>
            <a:custGeom>
              <a:avLst/>
              <a:gdLst/>
              <a:ahLst/>
              <a:cxnLst/>
              <a:rect r="r" b="b" t="t" l="l"/>
              <a:pathLst>
                <a:path h="568833" w="3355594">
                  <a:moveTo>
                    <a:pt x="0" y="238125"/>
                  </a:moveTo>
                  <a:cubicBezTo>
                    <a:pt x="0" y="106680"/>
                    <a:pt x="106680" y="0"/>
                    <a:pt x="238125" y="0"/>
                  </a:cubicBezTo>
                  <a:lnTo>
                    <a:pt x="3117469" y="0"/>
                  </a:lnTo>
                  <a:cubicBezTo>
                    <a:pt x="3249041" y="0"/>
                    <a:pt x="3355594" y="106680"/>
                    <a:pt x="3355594" y="238125"/>
                  </a:cubicBezTo>
                  <a:lnTo>
                    <a:pt x="3355594" y="330708"/>
                  </a:lnTo>
                  <a:cubicBezTo>
                    <a:pt x="3355594" y="462280"/>
                    <a:pt x="3248914" y="568833"/>
                    <a:pt x="3117469" y="568833"/>
                  </a:cubicBezTo>
                  <a:lnTo>
                    <a:pt x="238125" y="568833"/>
                  </a:lnTo>
                  <a:cubicBezTo>
                    <a:pt x="106680" y="568960"/>
                    <a:pt x="0" y="462280"/>
                    <a:pt x="0" y="330708"/>
                  </a:cubicBezTo>
                  <a:close/>
                </a:path>
              </a:pathLst>
            </a:custGeom>
            <a:solidFill>
              <a:srgbClr val="5678F0"/>
            </a:solidFill>
          </p:spPr>
        </p:sp>
      </p:grpSp>
      <p:sp>
        <p:nvSpPr>
          <p:cNvPr name="TextBox 8" id="8"/>
          <p:cNvSpPr txBox="true"/>
          <p:nvPr/>
        </p:nvSpPr>
        <p:spPr>
          <a:xfrm rot="0">
            <a:off x="1141066" y="2644226"/>
            <a:ext cx="2219030" cy="265113"/>
          </a:xfrm>
          <a:prstGeom prst="rect">
            <a:avLst/>
          </a:prstGeom>
        </p:spPr>
        <p:txBody>
          <a:bodyPr anchor="t" rtlCol="false" tIns="0" lIns="0" bIns="0" rIns="0">
            <a:spAutoFit/>
          </a:bodyPr>
          <a:lstStyle/>
          <a:p>
            <a:pPr algn="l">
              <a:lnSpc>
                <a:spcPts val="2187"/>
              </a:lnSpc>
            </a:pPr>
            <a:r>
              <a:rPr lang="en-US" sz="1562">
                <a:solidFill>
                  <a:srgbClr val="FFFFFF"/>
                </a:solidFill>
                <a:latin typeface="Inter"/>
                <a:ea typeface="Inter"/>
                <a:cs typeface="Inter"/>
                <a:sym typeface="Inter"/>
              </a:rPr>
              <a:t>PHẦN 6: THỰC CHỨNG</a:t>
            </a:r>
          </a:p>
        </p:txBody>
      </p:sp>
      <p:sp>
        <p:nvSpPr>
          <p:cNvPr name="TextBox 9" id="9"/>
          <p:cNvSpPr txBox="true"/>
          <p:nvPr/>
        </p:nvSpPr>
        <p:spPr>
          <a:xfrm rot="0">
            <a:off x="5782628" y="3133725"/>
            <a:ext cx="6722745" cy="1468438"/>
          </a:xfrm>
          <a:prstGeom prst="rect">
            <a:avLst/>
          </a:prstGeom>
        </p:spPr>
        <p:txBody>
          <a:bodyPr anchor="t" rtlCol="false" tIns="0" lIns="0" bIns="0" rIns="0">
            <a:spAutoFit/>
          </a:bodyPr>
          <a:lstStyle/>
          <a:p>
            <a:pPr algn="ctr">
              <a:lnSpc>
                <a:spcPts val="11687"/>
              </a:lnSpc>
            </a:pPr>
            <a:r>
              <a:rPr lang="en-US" sz="9750" b="true">
                <a:solidFill>
                  <a:srgbClr val="303030"/>
                </a:solidFill>
                <a:latin typeface="Inter Bold"/>
                <a:ea typeface="Inter Bold"/>
                <a:cs typeface="Inter Bold"/>
                <a:sym typeface="Inter Bold"/>
              </a:rPr>
              <a:t>LIVE DEMO</a:t>
            </a:r>
          </a:p>
        </p:txBody>
      </p:sp>
      <p:sp>
        <p:nvSpPr>
          <p:cNvPr name="TextBox 10" id="10"/>
          <p:cNvSpPr txBox="true"/>
          <p:nvPr/>
        </p:nvSpPr>
        <p:spPr>
          <a:xfrm rot="0">
            <a:off x="992238" y="4946752"/>
            <a:ext cx="16303523" cy="325438"/>
          </a:xfrm>
          <a:prstGeom prst="rect">
            <a:avLst/>
          </a:prstGeom>
        </p:spPr>
        <p:txBody>
          <a:bodyPr anchor="t" rtlCol="false" tIns="0" lIns="0" bIns="0" rIns="0">
            <a:spAutoFit/>
          </a:bodyPr>
          <a:lstStyle/>
          <a:p>
            <a:pPr algn="ctr">
              <a:lnSpc>
                <a:spcPts val="2687"/>
              </a:lnSpc>
            </a:pPr>
            <a:r>
              <a:rPr lang="en-US" sz="1937">
                <a:solidFill>
                  <a:srgbClr val="303030"/>
                </a:solidFill>
                <a:latin typeface="Inter"/>
                <a:ea typeface="Inter"/>
                <a:cs typeface="Inter"/>
                <a:sym typeface="Inter"/>
              </a:rPr>
              <a:t>Trình diễn trực tiếp hệ thống phát hiện Deepfake trên môi trường Web thực tế.</a:t>
            </a:r>
          </a:p>
        </p:txBody>
      </p:sp>
      <p:grpSp>
        <p:nvGrpSpPr>
          <p:cNvPr name="Group 11" id="11"/>
          <p:cNvGrpSpPr/>
          <p:nvPr/>
        </p:nvGrpSpPr>
        <p:grpSpPr>
          <a:xfrm rot="0">
            <a:off x="992238" y="5611120"/>
            <a:ext cx="16303523" cy="2077488"/>
            <a:chOff x="0" y="0"/>
            <a:chExt cx="21738031" cy="2769984"/>
          </a:xfrm>
        </p:grpSpPr>
        <p:sp>
          <p:nvSpPr>
            <p:cNvPr name="Freeform 12" id="12"/>
            <p:cNvSpPr/>
            <p:nvPr/>
          </p:nvSpPr>
          <p:spPr>
            <a:xfrm flipH="false" flipV="false" rot="0">
              <a:off x="0" y="0"/>
              <a:ext cx="21737955" cy="2769997"/>
            </a:xfrm>
            <a:custGeom>
              <a:avLst/>
              <a:gdLst/>
              <a:ahLst/>
              <a:cxnLst/>
              <a:rect r="r" b="b" t="t" l="l"/>
              <a:pathLst>
                <a:path h="2769997" w="21737955">
                  <a:moveTo>
                    <a:pt x="0" y="297688"/>
                  </a:moveTo>
                  <a:cubicBezTo>
                    <a:pt x="0" y="133350"/>
                    <a:pt x="133350" y="0"/>
                    <a:pt x="297688" y="0"/>
                  </a:cubicBezTo>
                  <a:lnTo>
                    <a:pt x="21440267" y="0"/>
                  </a:lnTo>
                  <a:cubicBezTo>
                    <a:pt x="21604731" y="0"/>
                    <a:pt x="21737955" y="133350"/>
                    <a:pt x="21737955" y="297688"/>
                  </a:cubicBezTo>
                  <a:lnTo>
                    <a:pt x="21737955" y="2472309"/>
                  </a:lnTo>
                  <a:cubicBezTo>
                    <a:pt x="21737955" y="2636774"/>
                    <a:pt x="21604605" y="2769997"/>
                    <a:pt x="21440267" y="2769997"/>
                  </a:cubicBezTo>
                  <a:lnTo>
                    <a:pt x="297688" y="2769997"/>
                  </a:lnTo>
                  <a:cubicBezTo>
                    <a:pt x="133350" y="2769997"/>
                    <a:pt x="0" y="2636647"/>
                    <a:pt x="0" y="2472309"/>
                  </a:cubicBezTo>
                  <a:close/>
                </a:path>
              </a:pathLst>
            </a:custGeom>
            <a:solidFill>
              <a:srgbClr val="5678F0"/>
            </a:solidFill>
          </p:spPr>
        </p:sp>
      </p:grpSp>
      <p:grpSp>
        <p:nvGrpSpPr>
          <p:cNvPr name="Group 13" id="13"/>
          <p:cNvGrpSpPr/>
          <p:nvPr/>
        </p:nvGrpSpPr>
        <p:grpSpPr>
          <a:xfrm rot="0">
            <a:off x="992238" y="5611120"/>
            <a:ext cx="5434460" cy="2077488"/>
            <a:chOff x="0" y="0"/>
            <a:chExt cx="7245947" cy="2769984"/>
          </a:xfrm>
        </p:grpSpPr>
        <p:sp>
          <p:nvSpPr>
            <p:cNvPr name="Freeform 14" id="14"/>
            <p:cNvSpPr/>
            <p:nvPr/>
          </p:nvSpPr>
          <p:spPr>
            <a:xfrm flipH="false" flipV="false" rot="0">
              <a:off x="0" y="0"/>
              <a:ext cx="7245858" cy="2769997"/>
            </a:xfrm>
            <a:custGeom>
              <a:avLst/>
              <a:gdLst/>
              <a:ahLst/>
              <a:cxnLst/>
              <a:rect r="r" b="b" t="t" l="l"/>
              <a:pathLst>
                <a:path h="2769997" w="7245858">
                  <a:moveTo>
                    <a:pt x="0" y="297688"/>
                  </a:moveTo>
                  <a:cubicBezTo>
                    <a:pt x="0" y="133350"/>
                    <a:pt x="133350" y="0"/>
                    <a:pt x="297688" y="0"/>
                  </a:cubicBezTo>
                  <a:lnTo>
                    <a:pt x="6948170" y="0"/>
                  </a:lnTo>
                  <a:cubicBezTo>
                    <a:pt x="7112635" y="0"/>
                    <a:pt x="7245858" y="133350"/>
                    <a:pt x="7245858" y="297688"/>
                  </a:cubicBezTo>
                  <a:lnTo>
                    <a:pt x="7245858" y="2472309"/>
                  </a:lnTo>
                  <a:cubicBezTo>
                    <a:pt x="7245858" y="2636774"/>
                    <a:pt x="7112508" y="2769997"/>
                    <a:pt x="6948170" y="2769997"/>
                  </a:cubicBezTo>
                  <a:lnTo>
                    <a:pt x="297688" y="2769997"/>
                  </a:lnTo>
                  <a:cubicBezTo>
                    <a:pt x="133350" y="2769997"/>
                    <a:pt x="0" y="2636647"/>
                    <a:pt x="0" y="2472309"/>
                  </a:cubicBezTo>
                  <a:close/>
                </a:path>
              </a:pathLst>
            </a:custGeom>
            <a:solidFill>
              <a:srgbClr val="5678F0"/>
            </a:solidFill>
          </p:spPr>
        </p:sp>
      </p:grpSp>
      <p:sp>
        <p:nvSpPr>
          <p:cNvPr name="TextBox 15" id="15"/>
          <p:cNvSpPr txBox="true"/>
          <p:nvPr/>
        </p:nvSpPr>
        <p:spPr>
          <a:xfrm rot="0">
            <a:off x="1240184" y="5859066"/>
            <a:ext cx="3644384" cy="368300"/>
          </a:xfrm>
          <a:prstGeom prst="rect">
            <a:avLst/>
          </a:prstGeom>
        </p:spPr>
        <p:txBody>
          <a:bodyPr anchor="t" rtlCol="false" tIns="0" lIns="0" bIns="0" rIns="0">
            <a:spAutoFit/>
          </a:bodyPr>
          <a:lstStyle/>
          <a:p>
            <a:pPr algn="l">
              <a:lnSpc>
                <a:spcPts val="2875"/>
              </a:lnSpc>
            </a:pPr>
            <a:r>
              <a:rPr lang="en-US" sz="2437" b="true">
                <a:solidFill>
                  <a:srgbClr val="000000"/>
                </a:solidFill>
                <a:latin typeface="Inter Bold"/>
                <a:ea typeface="Inter Bold"/>
                <a:cs typeface="Inter Bold"/>
                <a:sym typeface="Inter Bold"/>
              </a:rPr>
              <a:t>📤</a:t>
            </a:r>
            <a:r>
              <a:rPr lang="en-US" sz="2437" b="true">
                <a:solidFill>
                  <a:srgbClr val="FFFFFF"/>
                </a:solidFill>
                <a:latin typeface="Inter Bold"/>
                <a:ea typeface="Inter Bold"/>
                <a:cs typeface="Inter Bold"/>
                <a:sym typeface="Inter Bold"/>
              </a:rPr>
              <a:t> Bước 1: Upload Video</a:t>
            </a:r>
          </a:p>
        </p:txBody>
      </p:sp>
      <p:sp>
        <p:nvSpPr>
          <p:cNvPr name="TextBox 16" id="16"/>
          <p:cNvSpPr txBox="true"/>
          <p:nvPr/>
        </p:nvSpPr>
        <p:spPr>
          <a:xfrm rot="0">
            <a:off x="1240184" y="6360909"/>
            <a:ext cx="4938560" cy="992188"/>
          </a:xfrm>
          <a:prstGeom prst="rect">
            <a:avLst/>
          </a:prstGeom>
        </p:spPr>
        <p:txBody>
          <a:bodyPr anchor="t" rtlCol="false" tIns="0" lIns="0" bIns="0" rIns="0">
            <a:spAutoFit/>
          </a:bodyPr>
          <a:lstStyle/>
          <a:p>
            <a:pPr algn="l">
              <a:lnSpc>
                <a:spcPts val="2687"/>
              </a:lnSpc>
            </a:pPr>
            <a:r>
              <a:rPr lang="en-US" sz="1937">
                <a:solidFill>
                  <a:srgbClr val="FFFFFF"/>
                </a:solidFill>
                <a:latin typeface="Inter"/>
                <a:ea typeface="Inter"/>
                <a:cs typeface="Inter"/>
                <a:sym typeface="Inter"/>
              </a:rPr>
              <a:t>Tải lên video cần kiểm tra qua giao diện Web. Hệ thống chấp nhận định dạng MP4, AVI, MOV.</a:t>
            </a:r>
          </a:p>
        </p:txBody>
      </p:sp>
      <p:grpSp>
        <p:nvGrpSpPr>
          <p:cNvPr name="Group 17" id="17"/>
          <p:cNvGrpSpPr/>
          <p:nvPr/>
        </p:nvGrpSpPr>
        <p:grpSpPr>
          <a:xfrm rot="0">
            <a:off x="6426698" y="5611120"/>
            <a:ext cx="5434460" cy="2077488"/>
            <a:chOff x="0" y="0"/>
            <a:chExt cx="7245947" cy="2769984"/>
          </a:xfrm>
        </p:grpSpPr>
        <p:sp>
          <p:nvSpPr>
            <p:cNvPr name="Freeform 18" id="18"/>
            <p:cNvSpPr/>
            <p:nvPr/>
          </p:nvSpPr>
          <p:spPr>
            <a:xfrm flipH="false" flipV="false" rot="0">
              <a:off x="0" y="0"/>
              <a:ext cx="7245985" cy="2769997"/>
            </a:xfrm>
            <a:custGeom>
              <a:avLst/>
              <a:gdLst/>
              <a:ahLst/>
              <a:cxnLst/>
              <a:rect r="r" b="b" t="t" l="l"/>
              <a:pathLst>
                <a:path h="2769997" w="7245985">
                  <a:moveTo>
                    <a:pt x="0" y="0"/>
                  </a:moveTo>
                  <a:lnTo>
                    <a:pt x="7245985" y="0"/>
                  </a:lnTo>
                  <a:lnTo>
                    <a:pt x="7245985" y="2769997"/>
                  </a:lnTo>
                  <a:lnTo>
                    <a:pt x="0" y="2769997"/>
                  </a:lnTo>
                  <a:close/>
                </a:path>
              </a:pathLst>
            </a:custGeom>
            <a:solidFill>
              <a:srgbClr val="5678F0"/>
            </a:solidFill>
          </p:spPr>
        </p:sp>
      </p:grpSp>
      <p:grpSp>
        <p:nvGrpSpPr>
          <p:cNvPr name="Group 19" id="19"/>
          <p:cNvGrpSpPr/>
          <p:nvPr/>
        </p:nvGrpSpPr>
        <p:grpSpPr>
          <a:xfrm rot="0">
            <a:off x="6426698" y="5611120"/>
            <a:ext cx="28575" cy="2077488"/>
            <a:chOff x="0" y="0"/>
            <a:chExt cx="38100" cy="2769984"/>
          </a:xfrm>
        </p:grpSpPr>
        <p:sp>
          <p:nvSpPr>
            <p:cNvPr name="Freeform 20" id="20"/>
            <p:cNvSpPr/>
            <p:nvPr/>
          </p:nvSpPr>
          <p:spPr>
            <a:xfrm flipH="false" flipV="false" rot="0">
              <a:off x="0" y="0"/>
              <a:ext cx="38100" cy="2769997"/>
            </a:xfrm>
            <a:custGeom>
              <a:avLst/>
              <a:gdLst/>
              <a:ahLst/>
              <a:cxnLst/>
              <a:rect r="r" b="b" t="t" l="l"/>
              <a:pathLst>
                <a:path h="2769997" w="38100">
                  <a:moveTo>
                    <a:pt x="0" y="19050"/>
                  </a:moveTo>
                  <a:cubicBezTo>
                    <a:pt x="0" y="8509"/>
                    <a:pt x="8509" y="0"/>
                    <a:pt x="19050" y="0"/>
                  </a:cubicBezTo>
                  <a:cubicBezTo>
                    <a:pt x="29591" y="0"/>
                    <a:pt x="38100" y="8509"/>
                    <a:pt x="38100" y="19050"/>
                  </a:cubicBezTo>
                  <a:lnTo>
                    <a:pt x="38100" y="2750947"/>
                  </a:lnTo>
                  <a:cubicBezTo>
                    <a:pt x="38100" y="2761488"/>
                    <a:pt x="29591" y="2769997"/>
                    <a:pt x="19050" y="2769997"/>
                  </a:cubicBezTo>
                  <a:cubicBezTo>
                    <a:pt x="8509" y="2769997"/>
                    <a:pt x="0" y="2761488"/>
                    <a:pt x="0" y="2750947"/>
                  </a:cubicBezTo>
                  <a:close/>
                </a:path>
              </a:pathLst>
            </a:custGeom>
            <a:solidFill>
              <a:srgbClr val="79B4D7"/>
            </a:solidFill>
          </p:spPr>
        </p:sp>
      </p:grpSp>
      <p:sp>
        <p:nvSpPr>
          <p:cNvPr name="TextBox 21" id="21"/>
          <p:cNvSpPr txBox="true"/>
          <p:nvPr/>
        </p:nvSpPr>
        <p:spPr>
          <a:xfrm rot="0">
            <a:off x="6674644" y="5859066"/>
            <a:ext cx="4214694" cy="368300"/>
          </a:xfrm>
          <a:prstGeom prst="rect">
            <a:avLst/>
          </a:prstGeom>
        </p:spPr>
        <p:txBody>
          <a:bodyPr anchor="t" rtlCol="false" tIns="0" lIns="0" bIns="0" rIns="0">
            <a:spAutoFit/>
          </a:bodyPr>
          <a:lstStyle/>
          <a:p>
            <a:pPr algn="l">
              <a:lnSpc>
                <a:spcPts val="2875"/>
              </a:lnSpc>
            </a:pPr>
            <a:r>
              <a:rPr lang="en-US" sz="2437" b="true">
                <a:solidFill>
                  <a:srgbClr val="000000"/>
                </a:solidFill>
                <a:latin typeface="Inter Bold"/>
                <a:ea typeface="Inter Bold"/>
                <a:cs typeface="Inter Bold"/>
                <a:sym typeface="Inter Bold"/>
              </a:rPr>
              <a:t>⚙️</a:t>
            </a:r>
            <a:r>
              <a:rPr lang="en-US" sz="2437" b="true">
                <a:solidFill>
                  <a:srgbClr val="FFFFFF"/>
                </a:solidFill>
                <a:latin typeface="Inter Bold"/>
                <a:ea typeface="Inter Bold"/>
                <a:cs typeface="Inter Bold"/>
                <a:sym typeface="Inter Bold"/>
              </a:rPr>
              <a:t> Bước 2: Xử lý &amp; Phân tích</a:t>
            </a:r>
          </a:p>
        </p:txBody>
      </p:sp>
      <p:sp>
        <p:nvSpPr>
          <p:cNvPr name="TextBox 22" id="22"/>
          <p:cNvSpPr txBox="true"/>
          <p:nvPr/>
        </p:nvSpPr>
        <p:spPr>
          <a:xfrm rot="0">
            <a:off x="6674644" y="6360909"/>
            <a:ext cx="4938560" cy="992188"/>
          </a:xfrm>
          <a:prstGeom prst="rect">
            <a:avLst/>
          </a:prstGeom>
        </p:spPr>
        <p:txBody>
          <a:bodyPr anchor="t" rtlCol="false" tIns="0" lIns="0" bIns="0" rIns="0">
            <a:spAutoFit/>
          </a:bodyPr>
          <a:lstStyle/>
          <a:p>
            <a:pPr algn="l">
              <a:lnSpc>
                <a:spcPts val="2687"/>
              </a:lnSpc>
            </a:pPr>
            <a:r>
              <a:rPr lang="en-US" sz="1937">
                <a:solidFill>
                  <a:srgbClr val="FFFFFF"/>
                </a:solidFill>
                <a:latin typeface="Inter"/>
                <a:ea typeface="Inter"/>
                <a:cs typeface="Inter"/>
                <a:sym typeface="Inter"/>
              </a:rPr>
              <a:t>Mô hình Advanced trích xuất chuỗi 10 khung hình, chạy EfficientNet + Swin Transformer + Bi-LSTM.</a:t>
            </a:r>
          </a:p>
        </p:txBody>
      </p:sp>
      <p:grpSp>
        <p:nvGrpSpPr>
          <p:cNvPr name="Group 23" id="23"/>
          <p:cNvGrpSpPr/>
          <p:nvPr/>
        </p:nvGrpSpPr>
        <p:grpSpPr>
          <a:xfrm rot="0">
            <a:off x="11861159" y="5611120"/>
            <a:ext cx="5434460" cy="2077488"/>
            <a:chOff x="0" y="0"/>
            <a:chExt cx="7245947" cy="2769984"/>
          </a:xfrm>
        </p:grpSpPr>
        <p:sp>
          <p:nvSpPr>
            <p:cNvPr name="Freeform 24" id="24"/>
            <p:cNvSpPr/>
            <p:nvPr/>
          </p:nvSpPr>
          <p:spPr>
            <a:xfrm flipH="false" flipV="false" rot="0">
              <a:off x="0" y="0"/>
              <a:ext cx="7245985" cy="2769997"/>
            </a:xfrm>
            <a:custGeom>
              <a:avLst/>
              <a:gdLst/>
              <a:ahLst/>
              <a:cxnLst/>
              <a:rect r="r" b="b" t="t" l="l"/>
              <a:pathLst>
                <a:path h="2769997" w="7245985">
                  <a:moveTo>
                    <a:pt x="0" y="0"/>
                  </a:moveTo>
                  <a:lnTo>
                    <a:pt x="7245985" y="0"/>
                  </a:lnTo>
                  <a:lnTo>
                    <a:pt x="7245985" y="2769997"/>
                  </a:lnTo>
                  <a:lnTo>
                    <a:pt x="0" y="2769997"/>
                  </a:lnTo>
                  <a:close/>
                </a:path>
              </a:pathLst>
            </a:custGeom>
            <a:solidFill>
              <a:srgbClr val="5678F0"/>
            </a:solidFill>
          </p:spPr>
        </p:sp>
      </p:grpSp>
      <p:grpSp>
        <p:nvGrpSpPr>
          <p:cNvPr name="Group 25" id="25"/>
          <p:cNvGrpSpPr/>
          <p:nvPr/>
        </p:nvGrpSpPr>
        <p:grpSpPr>
          <a:xfrm rot="0">
            <a:off x="11861159" y="5611120"/>
            <a:ext cx="28575" cy="2077488"/>
            <a:chOff x="0" y="0"/>
            <a:chExt cx="38100" cy="2769984"/>
          </a:xfrm>
        </p:grpSpPr>
        <p:sp>
          <p:nvSpPr>
            <p:cNvPr name="Freeform 26" id="26"/>
            <p:cNvSpPr/>
            <p:nvPr/>
          </p:nvSpPr>
          <p:spPr>
            <a:xfrm flipH="false" flipV="false" rot="0">
              <a:off x="0" y="0"/>
              <a:ext cx="38100" cy="2769997"/>
            </a:xfrm>
            <a:custGeom>
              <a:avLst/>
              <a:gdLst/>
              <a:ahLst/>
              <a:cxnLst/>
              <a:rect r="r" b="b" t="t" l="l"/>
              <a:pathLst>
                <a:path h="2769997" w="38100">
                  <a:moveTo>
                    <a:pt x="0" y="19050"/>
                  </a:moveTo>
                  <a:cubicBezTo>
                    <a:pt x="0" y="8509"/>
                    <a:pt x="8509" y="0"/>
                    <a:pt x="19050" y="0"/>
                  </a:cubicBezTo>
                  <a:cubicBezTo>
                    <a:pt x="29591" y="0"/>
                    <a:pt x="38100" y="8509"/>
                    <a:pt x="38100" y="19050"/>
                  </a:cubicBezTo>
                  <a:lnTo>
                    <a:pt x="38100" y="2750947"/>
                  </a:lnTo>
                  <a:cubicBezTo>
                    <a:pt x="38100" y="2761488"/>
                    <a:pt x="29591" y="2769997"/>
                    <a:pt x="19050" y="2769997"/>
                  </a:cubicBezTo>
                  <a:cubicBezTo>
                    <a:pt x="8509" y="2769997"/>
                    <a:pt x="0" y="2761488"/>
                    <a:pt x="0" y="2750947"/>
                  </a:cubicBezTo>
                  <a:close/>
                </a:path>
              </a:pathLst>
            </a:custGeom>
            <a:solidFill>
              <a:srgbClr val="7A71C8"/>
            </a:solidFill>
          </p:spPr>
        </p:sp>
      </p:grpSp>
      <p:sp>
        <p:nvSpPr>
          <p:cNvPr name="TextBox 27" id="27"/>
          <p:cNvSpPr txBox="true"/>
          <p:nvPr/>
        </p:nvSpPr>
        <p:spPr>
          <a:xfrm rot="0">
            <a:off x="12109104" y="5859066"/>
            <a:ext cx="4608433" cy="368300"/>
          </a:xfrm>
          <a:prstGeom prst="rect">
            <a:avLst/>
          </a:prstGeom>
        </p:spPr>
        <p:txBody>
          <a:bodyPr anchor="t" rtlCol="false" tIns="0" lIns="0" bIns="0" rIns="0">
            <a:spAutoFit/>
          </a:bodyPr>
          <a:lstStyle/>
          <a:p>
            <a:pPr algn="l">
              <a:lnSpc>
                <a:spcPts val="2875"/>
              </a:lnSpc>
            </a:pPr>
            <a:r>
              <a:rPr lang="en-US" sz="2437" b="true">
                <a:solidFill>
                  <a:srgbClr val="000000"/>
                </a:solidFill>
                <a:latin typeface="Inter Bold"/>
                <a:ea typeface="Inter Bold"/>
                <a:cs typeface="Inter Bold"/>
                <a:sym typeface="Inter Bold"/>
              </a:rPr>
              <a:t>📊</a:t>
            </a:r>
            <a:r>
              <a:rPr lang="en-US" sz="2437" b="true">
                <a:solidFill>
                  <a:srgbClr val="FFFFFF"/>
                </a:solidFill>
                <a:latin typeface="Inter Bold"/>
                <a:ea typeface="Inter Bold"/>
                <a:cs typeface="Inter Bold"/>
                <a:sym typeface="Inter Bold"/>
              </a:rPr>
              <a:t> Bước 3: Kết quả &amp; Giải thích</a:t>
            </a:r>
          </a:p>
        </p:txBody>
      </p:sp>
      <p:sp>
        <p:nvSpPr>
          <p:cNvPr name="TextBox 28" id="28"/>
          <p:cNvSpPr txBox="true"/>
          <p:nvPr/>
        </p:nvSpPr>
        <p:spPr>
          <a:xfrm rot="0">
            <a:off x="12109104" y="6360909"/>
            <a:ext cx="4938560" cy="992188"/>
          </a:xfrm>
          <a:prstGeom prst="rect">
            <a:avLst/>
          </a:prstGeom>
        </p:spPr>
        <p:txBody>
          <a:bodyPr anchor="t" rtlCol="false" tIns="0" lIns="0" bIns="0" rIns="0">
            <a:spAutoFit/>
          </a:bodyPr>
          <a:lstStyle/>
          <a:p>
            <a:pPr algn="l">
              <a:lnSpc>
                <a:spcPts val="2687"/>
              </a:lnSpc>
            </a:pPr>
            <a:r>
              <a:rPr lang="en-US" sz="1937">
                <a:solidFill>
                  <a:srgbClr val="FFFFFF"/>
                </a:solidFill>
                <a:latin typeface="Inter"/>
                <a:ea typeface="Inter"/>
                <a:cs typeface="Inter"/>
                <a:sym typeface="Inter"/>
              </a:rPr>
              <a:t>Hiển thị phán quyết REAL/FAKE, Heatmap Grad-CAM và tư vấn từ Chatbot Gemini + RAG.</a:t>
            </a:r>
          </a:p>
        </p:txBody>
      </p:sp>
      <p:grpSp>
        <p:nvGrpSpPr>
          <p:cNvPr name="Group 29" id="29"/>
          <p:cNvGrpSpPr/>
          <p:nvPr/>
        </p:nvGrpSpPr>
        <p:grpSpPr>
          <a:xfrm rot="0">
            <a:off x="15989351" y="0"/>
            <a:ext cx="2212924" cy="2212924"/>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0" t="0" r="0" b="0"/>
              </a:stretch>
            </a:blipFill>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377C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FBFE"/>
            </a:solidFill>
          </p:spPr>
        </p:sp>
      </p:grpSp>
      <p:grpSp>
        <p:nvGrpSpPr>
          <p:cNvPr name="Group 6" id="6"/>
          <p:cNvGrpSpPr/>
          <p:nvPr/>
        </p:nvGrpSpPr>
        <p:grpSpPr>
          <a:xfrm rot="0">
            <a:off x="992238" y="1220838"/>
            <a:ext cx="2139706" cy="426691"/>
            <a:chOff x="0" y="0"/>
            <a:chExt cx="2852941" cy="568922"/>
          </a:xfrm>
        </p:grpSpPr>
        <p:sp>
          <p:nvSpPr>
            <p:cNvPr name="Freeform 7" id="7"/>
            <p:cNvSpPr/>
            <p:nvPr/>
          </p:nvSpPr>
          <p:spPr>
            <a:xfrm flipH="false" flipV="false" rot="0">
              <a:off x="0" y="0"/>
              <a:ext cx="2852928" cy="568833"/>
            </a:xfrm>
            <a:custGeom>
              <a:avLst/>
              <a:gdLst/>
              <a:ahLst/>
              <a:cxnLst/>
              <a:rect r="r" b="b" t="t" l="l"/>
              <a:pathLst>
                <a:path h="568833" w="2852928">
                  <a:moveTo>
                    <a:pt x="0" y="238125"/>
                  </a:moveTo>
                  <a:cubicBezTo>
                    <a:pt x="0" y="106680"/>
                    <a:pt x="106680" y="0"/>
                    <a:pt x="238125" y="0"/>
                  </a:cubicBezTo>
                  <a:lnTo>
                    <a:pt x="2614803" y="0"/>
                  </a:lnTo>
                  <a:cubicBezTo>
                    <a:pt x="2746375" y="0"/>
                    <a:pt x="2852928" y="106680"/>
                    <a:pt x="2852928" y="238125"/>
                  </a:cubicBezTo>
                  <a:lnTo>
                    <a:pt x="2852928" y="330708"/>
                  </a:lnTo>
                  <a:cubicBezTo>
                    <a:pt x="2852928" y="462280"/>
                    <a:pt x="2746248" y="568833"/>
                    <a:pt x="2614803" y="568833"/>
                  </a:cubicBezTo>
                  <a:lnTo>
                    <a:pt x="238125" y="568833"/>
                  </a:lnTo>
                  <a:cubicBezTo>
                    <a:pt x="106680" y="568960"/>
                    <a:pt x="0" y="462280"/>
                    <a:pt x="0" y="330708"/>
                  </a:cubicBezTo>
                  <a:close/>
                </a:path>
              </a:pathLst>
            </a:custGeom>
            <a:solidFill>
              <a:srgbClr val="5678F0"/>
            </a:solidFill>
          </p:spPr>
        </p:sp>
      </p:grpSp>
      <p:sp>
        <p:nvSpPr>
          <p:cNvPr name="TextBox 8" id="8"/>
          <p:cNvSpPr txBox="true"/>
          <p:nvPr/>
        </p:nvSpPr>
        <p:spPr>
          <a:xfrm rot="0">
            <a:off x="1141066" y="1266673"/>
            <a:ext cx="1842049" cy="541337"/>
          </a:xfrm>
          <a:prstGeom prst="rect">
            <a:avLst/>
          </a:prstGeom>
        </p:spPr>
        <p:txBody>
          <a:bodyPr anchor="t" rtlCol="false" tIns="0" lIns="0" bIns="0" rIns="0">
            <a:spAutoFit/>
          </a:bodyPr>
          <a:lstStyle/>
          <a:p>
            <a:pPr algn="l">
              <a:lnSpc>
                <a:spcPts val="2187"/>
              </a:lnSpc>
            </a:pPr>
            <a:r>
              <a:rPr lang="en-US" sz="1562">
                <a:solidFill>
                  <a:srgbClr val="FFFFFF"/>
                </a:solidFill>
                <a:latin typeface="Inter"/>
                <a:ea typeface="Inter"/>
                <a:cs typeface="Inter"/>
                <a:sym typeface="Inter"/>
              </a:rPr>
              <a:t>PHẦN 6: TỔNG KẾT</a:t>
            </a:r>
          </a:p>
        </p:txBody>
      </p:sp>
      <p:sp>
        <p:nvSpPr>
          <p:cNvPr name="TextBox 9" id="9"/>
          <p:cNvSpPr txBox="true"/>
          <p:nvPr/>
        </p:nvSpPr>
        <p:spPr>
          <a:xfrm rot="0">
            <a:off x="992238" y="1746647"/>
            <a:ext cx="2455664" cy="738188"/>
          </a:xfrm>
          <a:prstGeom prst="rect">
            <a:avLst/>
          </a:prstGeom>
        </p:spPr>
        <p:txBody>
          <a:bodyPr anchor="t" rtlCol="false" tIns="0" lIns="0" bIns="0" rIns="0">
            <a:spAutoFit/>
          </a:bodyPr>
          <a:lstStyle/>
          <a:p>
            <a:pPr algn="l">
              <a:lnSpc>
                <a:spcPts val="5812"/>
              </a:lnSpc>
            </a:pPr>
            <a:r>
              <a:rPr lang="en-US" sz="4875" b="true">
                <a:solidFill>
                  <a:srgbClr val="000000"/>
                </a:solidFill>
                <a:latin typeface="Inter Bold"/>
                <a:ea typeface="Inter Bold"/>
                <a:cs typeface="Inter Bold"/>
                <a:sym typeface="Inter Bold"/>
              </a:rPr>
              <a:t>Kết luận</a:t>
            </a:r>
          </a:p>
        </p:txBody>
      </p:sp>
      <p:grpSp>
        <p:nvGrpSpPr>
          <p:cNvPr name="Group 10" id="10"/>
          <p:cNvGrpSpPr/>
          <p:nvPr/>
        </p:nvGrpSpPr>
        <p:grpSpPr>
          <a:xfrm rot="0">
            <a:off x="992238" y="2986792"/>
            <a:ext cx="16303523" cy="40481"/>
            <a:chOff x="0" y="0"/>
            <a:chExt cx="21738031" cy="53975"/>
          </a:xfrm>
        </p:grpSpPr>
        <p:sp>
          <p:nvSpPr>
            <p:cNvPr name="Freeform 11" id="11"/>
            <p:cNvSpPr/>
            <p:nvPr/>
          </p:nvSpPr>
          <p:spPr>
            <a:xfrm flipH="false" flipV="false" rot="0">
              <a:off x="0" y="0"/>
              <a:ext cx="21738082" cy="53975"/>
            </a:xfrm>
            <a:custGeom>
              <a:avLst/>
              <a:gdLst/>
              <a:ahLst/>
              <a:cxnLst/>
              <a:rect r="r" b="b" t="t" l="l"/>
              <a:pathLst>
                <a:path h="53975" w="21738082">
                  <a:moveTo>
                    <a:pt x="0" y="0"/>
                  </a:moveTo>
                  <a:lnTo>
                    <a:pt x="21738082" y="0"/>
                  </a:lnTo>
                  <a:lnTo>
                    <a:pt x="21738082" y="53975"/>
                  </a:lnTo>
                  <a:lnTo>
                    <a:pt x="0" y="53975"/>
                  </a:lnTo>
                  <a:close/>
                </a:path>
              </a:pathLst>
            </a:custGeom>
            <a:solidFill>
              <a:srgbClr val="303030">
                <a:alpha val="24706"/>
              </a:srgbClr>
            </a:solidFill>
          </p:spPr>
        </p:sp>
      </p:grpSp>
      <p:sp>
        <p:nvSpPr>
          <p:cNvPr name="TextBox 12" id="12"/>
          <p:cNvSpPr txBox="true"/>
          <p:nvPr/>
        </p:nvSpPr>
        <p:spPr>
          <a:xfrm rot="0">
            <a:off x="992238" y="3268113"/>
            <a:ext cx="16303523" cy="325438"/>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Dự án đã hoàn thiện một hệ thống phát hiện Deepfake toàn diện — từ dữ liệu thô đến ứng dụng thực tế sẵn sàng triển khai.</a:t>
            </a:r>
          </a:p>
        </p:txBody>
      </p:sp>
      <p:grpSp>
        <p:nvGrpSpPr>
          <p:cNvPr name="Group 13" id="13"/>
          <p:cNvGrpSpPr/>
          <p:nvPr/>
        </p:nvGrpSpPr>
        <p:grpSpPr>
          <a:xfrm rot="0">
            <a:off x="992238" y="3932482"/>
            <a:ext cx="1240336" cy="1463278"/>
            <a:chOff x="0" y="0"/>
            <a:chExt cx="1653781" cy="1951038"/>
          </a:xfrm>
        </p:grpSpPr>
        <p:sp>
          <p:nvSpPr>
            <p:cNvPr name="Freeform 14" id="14" descr="preencoded.png"/>
            <p:cNvSpPr/>
            <p:nvPr/>
          </p:nvSpPr>
          <p:spPr>
            <a:xfrm flipH="false" flipV="false" rot="0">
              <a:off x="0" y="0"/>
              <a:ext cx="1653794" cy="1950974"/>
            </a:xfrm>
            <a:custGeom>
              <a:avLst/>
              <a:gdLst/>
              <a:ahLst/>
              <a:cxnLst/>
              <a:rect r="r" b="b" t="t" l="l"/>
              <a:pathLst>
                <a:path h="1950974" w="1653794">
                  <a:moveTo>
                    <a:pt x="0" y="0"/>
                  </a:moveTo>
                  <a:lnTo>
                    <a:pt x="1653794" y="0"/>
                  </a:lnTo>
                  <a:lnTo>
                    <a:pt x="1653794" y="1950974"/>
                  </a:lnTo>
                  <a:lnTo>
                    <a:pt x="0" y="1950974"/>
                  </a:lnTo>
                  <a:lnTo>
                    <a:pt x="0" y="0"/>
                  </a:lnTo>
                  <a:close/>
                </a:path>
              </a:pathLst>
            </a:custGeom>
            <a:blipFill>
              <a:blip r:embed="rId2"/>
              <a:stretch>
                <a:fillRect l="0" t="-206" r="0" b="-209"/>
              </a:stretch>
            </a:blipFill>
          </p:spPr>
        </p:sp>
      </p:grpSp>
      <p:sp>
        <p:nvSpPr>
          <p:cNvPr name="TextBox 15" id="15"/>
          <p:cNvSpPr txBox="true"/>
          <p:nvPr/>
        </p:nvSpPr>
        <p:spPr>
          <a:xfrm rot="0">
            <a:off x="2480520" y="3932482"/>
            <a:ext cx="6181606" cy="368300"/>
          </a:xfrm>
          <a:prstGeom prst="rect">
            <a:avLst/>
          </a:prstGeom>
        </p:spPr>
        <p:txBody>
          <a:bodyPr anchor="t" rtlCol="false" tIns="0" lIns="0" bIns="0" rIns="0">
            <a:spAutoFit/>
          </a:bodyPr>
          <a:lstStyle/>
          <a:p>
            <a:pPr algn="l">
              <a:lnSpc>
                <a:spcPts val="2875"/>
              </a:lnSpc>
            </a:pPr>
            <a:r>
              <a:rPr lang="en-US" sz="2437" b="true">
                <a:solidFill>
                  <a:srgbClr val="303030"/>
                </a:solidFill>
                <a:latin typeface="Inter Bold"/>
                <a:ea typeface="Inter Bold"/>
                <a:cs typeface="Inter Bold"/>
                <a:sym typeface="Inter Bold"/>
              </a:rPr>
              <a:t>Xây dựng Pipeline Dữ liệu Chất lượng Cao</a:t>
            </a:r>
          </a:p>
        </p:txBody>
      </p:sp>
      <p:sp>
        <p:nvSpPr>
          <p:cNvPr name="TextBox 16" id="16"/>
          <p:cNvSpPr txBox="true"/>
          <p:nvPr/>
        </p:nvSpPr>
        <p:spPr>
          <a:xfrm rot="0">
            <a:off x="2480520" y="4415285"/>
            <a:ext cx="14815242" cy="658812"/>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Hoàn thiện quy trình làm sạch dữ liệu, cân bằng tập REAL/FAKE và augmentation, tạo nền tảng vững chắc cho cả hai mô hình Standard và Advanced.</a:t>
            </a:r>
          </a:p>
        </p:txBody>
      </p:sp>
      <p:grpSp>
        <p:nvGrpSpPr>
          <p:cNvPr name="Group 17" id="17"/>
          <p:cNvGrpSpPr/>
          <p:nvPr/>
        </p:nvGrpSpPr>
        <p:grpSpPr>
          <a:xfrm rot="0">
            <a:off x="992238" y="5643715"/>
            <a:ext cx="1240336" cy="1463278"/>
            <a:chOff x="0" y="0"/>
            <a:chExt cx="1653781" cy="1951038"/>
          </a:xfrm>
        </p:grpSpPr>
        <p:sp>
          <p:nvSpPr>
            <p:cNvPr name="Freeform 18" id="18" descr="preencoded.png"/>
            <p:cNvSpPr/>
            <p:nvPr/>
          </p:nvSpPr>
          <p:spPr>
            <a:xfrm flipH="false" flipV="false" rot="0">
              <a:off x="0" y="0"/>
              <a:ext cx="1653794" cy="1950974"/>
            </a:xfrm>
            <a:custGeom>
              <a:avLst/>
              <a:gdLst/>
              <a:ahLst/>
              <a:cxnLst/>
              <a:rect r="r" b="b" t="t" l="l"/>
              <a:pathLst>
                <a:path h="1950974" w="1653794">
                  <a:moveTo>
                    <a:pt x="0" y="0"/>
                  </a:moveTo>
                  <a:lnTo>
                    <a:pt x="1653794" y="0"/>
                  </a:lnTo>
                  <a:lnTo>
                    <a:pt x="1653794" y="1950974"/>
                  </a:lnTo>
                  <a:lnTo>
                    <a:pt x="0" y="1950974"/>
                  </a:lnTo>
                  <a:lnTo>
                    <a:pt x="0" y="0"/>
                  </a:lnTo>
                  <a:close/>
                </a:path>
              </a:pathLst>
            </a:custGeom>
            <a:blipFill>
              <a:blip r:embed="rId3"/>
              <a:stretch>
                <a:fillRect l="0" t="-206" r="0" b="-209"/>
              </a:stretch>
            </a:blipFill>
          </p:spPr>
        </p:sp>
      </p:grpSp>
      <p:sp>
        <p:nvSpPr>
          <p:cNvPr name="TextBox 19" id="19"/>
          <p:cNvSpPr txBox="true"/>
          <p:nvPr/>
        </p:nvSpPr>
        <p:spPr>
          <a:xfrm rot="0">
            <a:off x="2480520" y="5643715"/>
            <a:ext cx="5742265" cy="368300"/>
          </a:xfrm>
          <a:prstGeom prst="rect">
            <a:avLst/>
          </a:prstGeom>
        </p:spPr>
        <p:txBody>
          <a:bodyPr anchor="t" rtlCol="false" tIns="0" lIns="0" bIns="0" rIns="0">
            <a:spAutoFit/>
          </a:bodyPr>
          <a:lstStyle/>
          <a:p>
            <a:pPr algn="l">
              <a:lnSpc>
                <a:spcPts val="2875"/>
              </a:lnSpc>
            </a:pPr>
            <a:r>
              <a:rPr lang="en-US" sz="2437" b="true">
                <a:solidFill>
                  <a:srgbClr val="303030"/>
                </a:solidFill>
                <a:latin typeface="Inter Bold"/>
                <a:ea typeface="Inter Bold"/>
                <a:cs typeface="Inter Bold"/>
                <a:sym typeface="Inter Bold"/>
              </a:rPr>
              <a:t>Kiến trúc Mạng Kép Đặc thù cho Video</a:t>
            </a:r>
          </a:p>
        </p:txBody>
      </p:sp>
      <p:sp>
        <p:nvSpPr>
          <p:cNvPr name="TextBox 20" id="20"/>
          <p:cNvSpPr txBox="true"/>
          <p:nvPr/>
        </p:nvSpPr>
        <p:spPr>
          <a:xfrm rot="0">
            <a:off x="2480520" y="6126509"/>
            <a:ext cx="14815242" cy="658812"/>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Thiết kế và triển khai thành công luồng kép </a:t>
            </a:r>
            <a:r>
              <a:rPr lang="en-US" sz="1937" b="true">
                <a:solidFill>
                  <a:srgbClr val="303030"/>
                </a:solidFill>
                <a:latin typeface="Inter Bold"/>
                <a:ea typeface="Inter Bold"/>
                <a:cs typeface="Inter Bold"/>
                <a:sym typeface="Inter Bold"/>
              </a:rPr>
              <a:t>EfficientNet + Swin Transformer → Bi-LSTM</a:t>
            </a:r>
            <a:r>
              <a:rPr lang="en-US" sz="1937">
                <a:solidFill>
                  <a:srgbClr val="303030"/>
                </a:solidFill>
                <a:latin typeface="Inter"/>
                <a:ea typeface="Inter"/>
                <a:cs typeface="Inter"/>
                <a:sym typeface="Inter"/>
              </a:rPr>
              <a:t>, đạt Accuracy 98.76% (Standard) và khả năng phân tích thời gian thực tiễn (Advanced 91.56%).</a:t>
            </a:r>
          </a:p>
        </p:txBody>
      </p:sp>
      <p:grpSp>
        <p:nvGrpSpPr>
          <p:cNvPr name="Group 21" id="21"/>
          <p:cNvGrpSpPr/>
          <p:nvPr/>
        </p:nvGrpSpPr>
        <p:grpSpPr>
          <a:xfrm rot="0">
            <a:off x="992238" y="7354938"/>
            <a:ext cx="1240336" cy="1463278"/>
            <a:chOff x="0" y="0"/>
            <a:chExt cx="1653781" cy="1951038"/>
          </a:xfrm>
        </p:grpSpPr>
        <p:sp>
          <p:nvSpPr>
            <p:cNvPr name="Freeform 22" id="22" descr="preencoded.png"/>
            <p:cNvSpPr/>
            <p:nvPr/>
          </p:nvSpPr>
          <p:spPr>
            <a:xfrm flipH="false" flipV="false" rot="0">
              <a:off x="0" y="0"/>
              <a:ext cx="1653794" cy="1950974"/>
            </a:xfrm>
            <a:custGeom>
              <a:avLst/>
              <a:gdLst/>
              <a:ahLst/>
              <a:cxnLst/>
              <a:rect r="r" b="b" t="t" l="l"/>
              <a:pathLst>
                <a:path h="1950974" w="1653794">
                  <a:moveTo>
                    <a:pt x="0" y="0"/>
                  </a:moveTo>
                  <a:lnTo>
                    <a:pt x="1653794" y="0"/>
                  </a:lnTo>
                  <a:lnTo>
                    <a:pt x="1653794" y="1950974"/>
                  </a:lnTo>
                  <a:lnTo>
                    <a:pt x="0" y="1950974"/>
                  </a:lnTo>
                  <a:lnTo>
                    <a:pt x="0" y="0"/>
                  </a:lnTo>
                  <a:close/>
                </a:path>
              </a:pathLst>
            </a:custGeom>
            <a:blipFill>
              <a:blip r:embed="rId4"/>
              <a:stretch>
                <a:fillRect l="0" t="-206" r="0" b="-209"/>
              </a:stretch>
            </a:blipFill>
          </p:spPr>
        </p:sp>
      </p:grpSp>
      <p:sp>
        <p:nvSpPr>
          <p:cNvPr name="TextBox 23" id="23"/>
          <p:cNvSpPr txBox="true"/>
          <p:nvPr/>
        </p:nvSpPr>
        <p:spPr>
          <a:xfrm rot="0">
            <a:off x="2480520" y="7354938"/>
            <a:ext cx="4980861" cy="368300"/>
          </a:xfrm>
          <a:prstGeom prst="rect">
            <a:avLst/>
          </a:prstGeom>
        </p:spPr>
        <p:txBody>
          <a:bodyPr anchor="t" rtlCol="false" tIns="0" lIns="0" bIns="0" rIns="0">
            <a:spAutoFit/>
          </a:bodyPr>
          <a:lstStyle/>
          <a:p>
            <a:pPr algn="l">
              <a:lnSpc>
                <a:spcPts val="2875"/>
              </a:lnSpc>
            </a:pPr>
            <a:r>
              <a:rPr lang="en-US" sz="2437" b="true">
                <a:solidFill>
                  <a:srgbClr val="303030"/>
                </a:solidFill>
                <a:latin typeface="Inter Bold"/>
                <a:ea typeface="Inter Bold"/>
                <a:cs typeface="Inter Bold"/>
                <a:sym typeface="Inter Bold"/>
              </a:rPr>
              <a:t>Triển khai Ứng dụng Web Thực tế</a:t>
            </a:r>
          </a:p>
        </p:txBody>
      </p:sp>
      <p:sp>
        <p:nvSpPr>
          <p:cNvPr name="TextBox 24" id="24"/>
          <p:cNvSpPr txBox="true"/>
          <p:nvPr/>
        </p:nvSpPr>
        <p:spPr>
          <a:xfrm rot="0">
            <a:off x="2480520" y="7837732"/>
            <a:ext cx="14815242" cy="658812"/>
          </a:xfrm>
          <a:prstGeom prst="rect">
            <a:avLst/>
          </a:prstGeom>
        </p:spPr>
        <p:txBody>
          <a:bodyPr anchor="t" rtlCol="false" tIns="0" lIns="0" bIns="0" rIns="0">
            <a:spAutoFit/>
          </a:bodyPr>
          <a:lstStyle/>
          <a:p>
            <a:pPr algn="l">
              <a:lnSpc>
                <a:spcPts val="2687"/>
              </a:lnSpc>
            </a:pPr>
            <a:r>
              <a:rPr lang="en-US" sz="1937">
                <a:solidFill>
                  <a:srgbClr val="303030"/>
                </a:solidFill>
                <a:latin typeface="Inter"/>
                <a:ea typeface="Inter"/>
                <a:cs typeface="Inter"/>
                <a:sym typeface="Inter"/>
              </a:rPr>
              <a:t>Giải quyết bài toán OOM bằng Singleton Pattern, tích hợp Grad-CAM để minh bạch hóa AI và Chatbot Gemini + RAG để tư vấn đáng tin cậy — hoàn thiện vòng đời sản phẩm AI end-to-end.</a:t>
            </a:r>
          </a:p>
        </p:txBody>
      </p:sp>
      <p:grpSp>
        <p:nvGrpSpPr>
          <p:cNvPr name="Group 25" id="25"/>
          <p:cNvGrpSpPr/>
          <p:nvPr/>
        </p:nvGrpSpPr>
        <p:grpSpPr>
          <a:xfrm rot="0">
            <a:off x="15989351" y="0"/>
            <a:ext cx="2212924" cy="2212924"/>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0" t="0" r="0" b="0"/>
              </a:stretch>
            </a:blipFill>
          </p:spPr>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7491" y="-101450"/>
            <a:ext cx="18462967" cy="10489398"/>
          </a:xfrm>
          <a:custGeom>
            <a:avLst/>
            <a:gdLst/>
            <a:ahLst/>
            <a:cxnLst/>
            <a:rect r="r" b="b" t="t" l="l"/>
            <a:pathLst>
              <a:path h="10489398" w="18462967">
                <a:moveTo>
                  <a:pt x="0" y="0"/>
                </a:moveTo>
                <a:lnTo>
                  <a:pt x="18462967" y="0"/>
                </a:lnTo>
                <a:lnTo>
                  <a:pt x="18462967" y="10489398"/>
                </a:lnTo>
                <a:lnTo>
                  <a:pt x="0" y="104893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130958" y="697280"/>
            <a:ext cx="2609493" cy="241756"/>
          </a:xfrm>
          <a:prstGeom prst="rect">
            <a:avLst/>
          </a:prstGeom>
        </p:spPr>
        <p:txBody>
          <a:bodyPr anchor="t" rtlCol="false" tIns="0" lIns="0" bIns="0" rIns="0">
            <a:spAutoFit/>
          </a:bodyPr>
          <a:lstStyle/>
          <a:p>
            <a:pPr algn="l">
              <a:lnSpc>
                <a:spcPts val="2011"/>
              </a:lnSpc>
            </a:pPr>
            <a:r>
              <a:rPr lang="en-US" sz="1325">
                <a:solidFill>
                  <a:srgbClr val="FFFFFF"/>
                </a:solidFill>
                <a:latin typeface="Inter"/>
                <a:ea typeface="Inter"/>
                <a:cs typeface="Inter"/>
                <a:sym typeface="Inter"/>
              </a:rPr>
              <a:t>HẠN CHẾ &amp; HƯỚNG PHÁT TRIỂN</a:t>
            </a:r>
          </a:p>
        </p:txBody>
      </p:sp>
      <p:sp>
        <p:nvSpPr>
          <p:cNvPr name="TextBox 4" id="4"/>
          <p:cNvSpPr txBox="true"/>
          <p:nvPr/>
        </p:nvSpPr>
        <p:spPr>
          <a:xfrm rot="0">
            <a:off x="1088524" y="885825"/>
            <a:ext cx="18400554" cy="2405739"/>
          </a:xfrm>
          <a:prstGeom prst="rect">
            <a:avLst/>
          </a:prstGeom>
        </p:spPr>
        <p:txBody>
          <a:bodyPr anchor="t" rtlCol="false" tIns="0" lIns="0" bIns="0" rIns="0">
            <a:spAutoFit/>
          </a:bodyPr>
          <a:lstStyle/>
          <a:p>
            <a:pPr algn="l">
              <a:lnSpc>
                <a:spcPts val="7292"/>
              </a:lnSpc>
            </a:pPr>
            <a:r>
              <a:rPr lang="en-US" b="true" sz="4803">
                <a:solidFill>
                  <a:srgbClr val="5678F0"/>
                </a:solidFill>
                <a:latin typeface="Inter Bold"/>
                <a:ea typeface="Inter Bold"/>
                <a:cs typeface="Inter Bold"/>
                <a:sym typeface="Inter Bold"/>
              </a:rPr>
              <a:t>Hạn Chế &amp; Hướng Phát Triển</a:t>
            </a:r>
          </a:p>
          <a:p>
            <a:pPr algn="l">
              <a:lnSpc>
                <a:spcPts val="5884"/>
              </a:lnSpc>
            </a:pPr>
          </a:p>
          <a:p>
            <a:pPr algn="l">
              <a:lnSpc>
                <a:spcPts val="5884"/>
              </a:lnSpc>
            </a:pPr>
          </a:p>
        </p:txBody>
      </p:sp>
      <p:sp>
        <p:nvSpPr>
          <p:cNvPr name="TextBox 5" id="5"/>
          <p:cNvSpPr txBox="true"/>
          <p:nvPr/>
        </p:nvSpPr>
        <p:spPr>
          <a:xfrm rot="0">
            <a:off x="9450689" y="2110904"/>
            <a:ext cx="4345305" cy="422626"/>
          </a:xfrm>
          <a:prstGeom prst="rect">
            <a:avLst/>
          </a:prstGeom>
        </p:spPr>
        <p:txBody>
          <a:bodyPr anchor="t" rtlCol="false" tIns="0" lIns="0" bIns="0" rIns="0">
            <a:spAutoFit/>
          </a:bodyPr>
          <a:lstStyle/>
          <a:p>
            <a:pPr algn="l">
              <a:lnSpc>
                <a:spcPts val="3480"/>
              </a:lnSpc>
            </a:pPr>
            <a:r>
              <a:rPr lang="en-US" sz="2486">
                <a:solidFill>
                  <a:srgbClr val="5678F0"/>
                </a:solidFill>
                <a:latin typeface="Inter"/>
                <a:ea typeface="Inter"/>
                <a:cs typeface="Inter"/>
                <a:sym typeface="Inter"/>
              </a:rPr>
              <a:t>Lộ Trình Phát Triển Tương Lai</a:t>
            </a:r>
          </a:p>
        </p:txBody>
      </p:sp>
      <p:sp>
        <p:nvSpPr>
          <p:cNvPr name="TextBox 6" id="6"/>
          <p:cNvSpPr txBox="true"/>
          <p:nvPr/>
        </p:nvSpPr>
        <p:spPr>
          <a:xfrm rot="0">
            <a:off x="1336871" y="2924021"/>
            <a:ext cx="7224008" cy="905932"/>
          </a:xfrm>
          <a:prstGeom prst="rect">
            <a:avLst/>
          </a:prstGeom>
        </p:spPr>
        <p:txBody>
          <a:bodyPr anchor="t" rtlCol="false" tIns="0" lIns="0" bIns="0" rIns="0">
            <a:spAutoFit/>
          </a:bodyPr>
          <a:lstStyle/>
          <a:p>
            <a:pPr algn="l">
              <a:lnSpc>
                <a:spcPts val="2900"/>
              </a:lnSpc>
            </a:pPr>
            <a:r>
              <a:rPr lang="en-US" b="true" sz="2071">
                <a:solidFill>
                  <a:srgbClr val="303030"/>
                </a:solidFill>
                <a:latin typeface="Inter Bold"/>
                <a:ea typeface="Inter Bold"/>
                <a:cs typeface="Inter Bold"/>
                <a:sym typeface="Inter Bold"/>
              </a:rPr>
              <a:t>Dữ liệu huấn luyện</a:t>
            </a:r>
          </a:p>
          <a:p>
            <a:pPr algn="l">
              <a:lnSpc>
                <a:spcPts val="2157"/>
              </a:lnSpc>
            </a:pPr>
            <a:r>
              <a:rPr lang="en-US" sz="1657">
                <a:solidFill>
                  <a:srgbClr val="303030"/>
                </a:solidFill>
                <a:latin typeface="Inter"/>
                <a:ea typeface="Inter"/>
                <a:cs typeface="Inter"/>
                <a:sym typeface="Inter"/>
              </a:rPr>
              <a:t>Phụ thuộc vào FaceForensics++, chưa bao quát trọn vẹn điều kiện thực tế mạng xã hội (in-the-wild).</a:t>
            </a:r>
          </a:p>
        </p:txBody>
      </p:sp>
      <p:sp>
        <p:nvSpPr>
          <p:cNvPr name="TextBox 7" id="7"/>
          <p:cNvSpPr txBox="true"/>
          <p:nvPr/>
        </p:nvSpPr>
        <p:spPr>
          <a:xfrm rot="0">
            <a:off x="1336871" y="8021627"/>
            <a:ext cx="7408815" cy="905932"/>
          </a:xfrm>
          <a:prstGeom prst="rect">
            <a:avLst/>
          </a:prstGeom>
        </p:spPr>
        <p:txBody>
          <a:bodyPr anchor="t" rtlCol="false" tIns="0" lIns="0" bIns="0" rIns="0">
            <a:spAutoFit/>
          </a:bodyPr>
          <a:lstStyle/>
          <a:p>
            <a:pPr algn="l">
              <a:lnSpc>
                <a:spcPts val="2900"/>
              </a:lnSpc>
            </a:pPr>
            <a:r>
              <a:rPr lang="en-US" b="true" sz="2071">
                <a:solidFill>
                  <a:srgbClr val="303030"/>
                </a:solidFill>
                <a:latin typeface="Inter Bold"/>
                <a:ea typeface="Inter Bold"/>
                <a:cs typeface="Inter Bold"/>
                <a:sym typeface="Inter Bold"/>
              </a:rPr>
              <a:t>Môi trường triển khai</a:t>
            </a:r>
          </a:p>
          <a:p>
            <a:pPr algn="l">
              <a:lnSpc>
                <a:spcPts val="2157"/>
              </a:lnSpc>
            </a:pPr>
            <a:r>
              <a:rPr lang="en-US" sz="1657">
                <a:solidFill>
                  <a:srgbClr val="303030"/>
                </a:solidFill>
                <a:latin typeface="Inter"/>
                <a:ea typeface="Inter"/>
                <a:cs typeface="Inter"/>
                <a:sym typeface="Inter"/>
              </a:rPr>
              <a:t>Web App hiện hành dễ gặp nút thắt cổ chai VRAM (Bottleneck) nếu chịu tải lượng truy cập đồng thời lớn.</a:t>
            </a:r>
          </a:p>
        </p:txBody>
      </p:sp>
      <p:sp>
        <p:nvSpPr>
          <p:cNvPr name="TextBox 8" id="8"/>
          <p:cNvSpPr txBox="true"/>
          <p:nvPr/>
        </p:nvSpPr>
        <p:spPr>
          <a:xfrm rot="0">
            <a:off x="1286384" y="4666721"/>
            <a:ext cx="7343581" cy="905932"/>
          </a:xfrm>
          <a:prstGeom prst="rect">
            <a:avLst/>
          </a:prstGeom>
        </p:spPr>
        <p:txBody>
          <a:bodyPr anchor="t" rtlCol="false" tIns="0" lIns="0" bIns="0" rIns="0">
            <a:spAutoFit/>
          </a:bodyPr>
          <a:lstStyle/>
          <a:p>
            <a:pPr algn="l">
              <a:lnSpc>
                <a:spcPts val="2900"/>
              </a:lnSpc>
            </a:pPr>
            <a:r>
              <a:rPr lang="en-US" b="true" sz="2071">
                <a:solidFill>
                  <a:srgbClr val="303030"/>
                </a:solidFill>
                <a:latin typeface="Inter Bold"/>
                <a:ea typeface="Inter Bold"/>
                <a:cs typeface="Inter Bold"/>
                <a:sym typeface="Inter Bold"/>
              </a:rPr>
              <a:t>Hiện tượng quá khớp (Overfitting)</a:t>
            </a:r>
          </a:p>
          <a:p>
            <a:pPr algn="l">
              <a:lnSpc>
                <a:spcPts val="2157"/>
              </a:lnSpc>
            </a:pPr>
            <a:r>
              <a:rPr lang="en-US" sz="1657">
                <a:solidFill>
                  <a:srgbClr val="303030"/>
                </a:solidFill>
                <a:latin typeface="Inter"/>
                <a:ea typeface="Inter"/>
                <a:cs typeface="Inter"/>
                <a:sym typeface="Inter"/>
              </a:rPr>
              <a:t>Xuất hiện nhẹ ở nhánh Swin Transformer do giới hạn tài nguyên phần cứng và quy mô dữ liệu.</a:t>
            </a:r>
          </a:p>
        </p:txBody>
      </p:sp>
      <p:sp>
        <p:nvSpPr>
          <p:cNvPr name="TextBox 9" id="9"/>
          <p:cNvSpPr txBox="true"/>
          <p:nvPr/>
        </p:nvSpPr>
        <p:spPr>
          <a:xfrm rot="0">
            <a:off x="1336871" y="6410854"/>
            <a:ext cx="7124095" cy="905932"/>
          </a:xfrm>
          <a:prstGeom prst="rect">
            <a:avLst/>
          </a:prstGeom>
        </p:spPr>
        <p:txBody>
          <a:bodyPr anchor="t" rtlCol="false" tIns="0" lIns="0" bIns="0" rIns="0">
            <a:spAutoFit/>
          </a:bodyPr>
          <a:lstStyle/>
          <a:p>
            <a:pPr algn="l">
              <a:lnSpc>
                <a:spcPts val="2900"/>
              </a:lnSpc>
            </a:pPr>
            <a:r>
              <a:rPr lang="en-US" b="true" sz="2071">
                <a:solidFill>
                  <a:srgbClr val="303030"/>
                </a:solidFill>
                <a:latin typeface="Inter Bold"/>
                <a:ea typeface="Inter Bold"/>
                <a:cs typeface="Inter Bold"/>
                <a:sym typeface="Inter Bold"/>
              </a:rPr>
              <a:t>Khuyết thiếu phân tích Đa phương thức</a:t>
            </a:r>
          </a:p>
          <a:p>
            <a:pPr algn="l">
              <a:lnSpc>
                <a:spcPts val="2157"/>
              </a:lnSpc>
            </a:pPr>
            <a:r>
              <a:rPr lang="en-US" sz="1657">
                <a:solidFill>
                  <a:srgbClr val="303030"/>
                </a:solidFill>
                <a:latin typeface="Inter"/>
                <a:ea typeface="Inter"/>
                <a:cs typeface="Inter"/>
                <a:sym typeface="Inter"/>
              </a:rPr>
              <a:t>Mới dừng ở xử lý thị giác, bỏ ngỏ các hình thức giả mạo âm thanh (Audio Deepfake).</a:t>
            </a:r>
          </a:p>
        </p:txBody>
      </p:sp>
      <p:sp>
        <p:nvSpPr>
          <p:cNvPr name="TextBox 10" id="10"/>
          <p:cNvSpPr txBox="true"/>
          <p:nvPr/>
        </p:nvSpPr>
        <p:spPr>
          <a:xfrm rot="0">
            <a:off x="9748150" y="2924021"/>
            <a:ext cx="7485447" cy="905932"/>
          </a:xfrm>
          <a:prstGeom prst="rect">
            <a:avLst/>
          </a:prstGeom>
        </p:spPr>
        <p:txBody>
          <a:bodyPr anchor="t" rtlCol="false" tIns="0" lIns="0" bIns="0" rIns="0">
            <a:spAutoFit/>
          </a:bodyPr>
          <a:lstStyle/>
          <a:p>
            <a:pPr algn="l">
              <a:lnSpc>
                <a:spcPts val="2900"/>
              </a:lnSpc>
            </a:pPr>
            <a:r>
              <a:rPr lang="en-US" b="true" sz="2071">
                <a:solidFill>
                  <a:srgbClr val="303030"/>
                </a:solidFill>
                <a:latin typeface="Inter Bold"/>
                <a:ea typeface="Inter Bold"/>
                <a:cs typeface="Inter Bold"/>
                <a:sym typeface="Inter Bold"/>
              </a:rPr>
              <a:t>Nâng cấp lõi AI</a:t>
            </a:r>
          </a:p>
          <a:p>
            <a:pPr algn="l">
              <a:lnSpc>
                <a:spcPts val="2157"/>
              </a:lnSpc>
            </a:pPr>
            <a:r>
              <a:rPr lang="en-US" sz="1657">
                <a:solidFill>
                  <a:srgbClr val="303030"/>
                </a:solidFill>
                <a:latin typeface="Inter"/>
                <a:ea typeface="Inter"/>
                <a:cs typeface="Inter"/>
                <a:sym typeface="Inter"/>
              </a:rPr>
              <a:t>Áp dụng Augmentation nâng cao (MixUp, CutMix) và các mạng xương sống thế hệ mới (EfficientNetV2, ConvNeXt).</a:t>
            </a:r>
          </a:p>
        </p:txBody>
      </p:sp>
      <p:sp>
        <p:nvSpPr>
          <p:cNvPr name="TextBox 11" id="11"/>
          <p:cNvSpPr txBox="true"/>
          <p:nvPr/>
        </p:nvSpPr>
        <p:spPr>
          <a:xfrm rot="0">
            <a:off x="9748150" y="6317353"/>
            <a:ext cx="7119484" cy="905932"/>
          </a:xfrm>
          <a:prstGeom prst="rect">
            <a:avLst/>
          </a:prstGeom>
        </p:spPr>
        <p:txBody>
          <a:bodyPr anchor="t" rtlCol="false" tIns="0" lIns="0" bIns="0" rIns="0">
            <a:spAutoFit/>
          </a:bodyPr>
          <a:lstStyle/>
          <a:p>
            <a:pPr algn="l">
              <a:lnSpc>
                <a:spcPts val="2900"/>
              </a:lnSpc>
            </a:pPr>
            <a:r>
              <a:rPr lang="en-US" b="true" sz="2071">
                <a:solidFill>
                  <a:srgbClr val="303030"/>
                </a:solidFill>
                <a:latin typeface="Inter Bold"/>
                <a:ea typeface="Inter Bold"/>
                <a:cs typeface="Inter Bold"/>
                <a:sym typeface="Inter Bold"/>
              </a:rPr>
              <a:t>Hệ sinh thái ứng dụng</a:t>
            </a:r>
          </a:p>
          <a:p>
            <a:pPr algn="l">
              <a:lnSpc>
                <a:spcPts val="2157"/>
              </a:lnSpc>
            </a:pPr>
            <a:r>
              <a:rPr lang="en-US" sz="1657">
                <a:solidFill>
                  <a:srgbClr val="303030"/>
                </a:solidFill>
                <a:latin typeface="Inter"/>
                <a:ea typeface="Inter"/>
                <a:cs typeface="Inter"/>
                <a:sym typeface="Inter"/>
              </a:rPr>
              <a:t>Đóng gói Cloud (Docker) và tối ưu hóa mô hình Standard (ONNX/TFLite) thành Mobile App chạy trực tiếp trên thiết bị di động.</a:t>
            </a:r>
          </a:p>
        </p:txBody>
      </p:sp>
      <p:sp>
        <p:nvSpPr>
          <p:cNvPr name="TextBox 12" id="12"/>
          <p:cNvSpPr txBox="true"/>
          <p:nvPr/>
        </p:nvSpPr>
        <p:spPr>
          <a:xfrm rot="0">
            <a:off x="9748150" y="4613078"/>
            <a:ext cx="7233473" cy="905932"/>
          </a:xfrm>
          <a:prstGeom prst="rect">
            <a:avLst/>
          </a:prstGeom>
        </p:spPr>
        <p:txBody>
          <a:bodyPr anchor="t" rtlCol="false" tIns="0" lIns="0" bIns="0" rIns="0">
            <a:spAutoFit/>
          </a:bodyPr>
          <a:lstStyle/>
          <a:p>
            <a:pPr algn="l">
              <a:lnSpc>
                <a:spcPts val="2900"/>
              </a:lnSpc>
            </a:pPr>
            <a:r>
              <a:rPr lang="en-US" b="true" sz="2071">
                <a:solidFill>
                  <a:srgbClr val="303030"/>
                </a:solidFill>
                <a:latin typeface="Inter Bold"/>
                <a:ea typeface="Inter Bold"/>
                <a:cs typeface="Inter Bold"/>
                <a:sym typeface="Inter Bold"/>
              </a:rPr>
              <a:t>Phân tích Đa phương thức (Multimodal)</a:t>
            </a:r>
          </a:p>
          <a:p>
            <a:pPr algn="l">
              <a:lnSpc>
                <a:spcPts val="2157"/>
              </a:lnSpc>
            </a:pPr>
            <a:r>
              <a:rPr lang="en-US" sz="1657">
                <a:solidFill>
                  <a:srgbClr val="303030"/>
                </a:solidFill>
                <a:latin typeface="Inter"/>
                <a:ea typeface="Inter"/>
                <a:cs typeface="Inter"/>
                <a:sym typeface="Inter"/>
              </a:rPr>
              <a:t>Tích hợp phân tích phổ âm thanh (Wav2Vec) để so khớp độ trễ giữa giọng nói và cử động môi.</a:t>
            </a:r>
          </a:p>
        </p:txBody>
      </p:sp>
      <p:sp>
        <p:nvSpPr>
          <p:cNvPr name="TextBox 13" id="13"/>
          <p:cNvSpPr txBox="true"/>
          <p:nvPr/>
        </p:nvSpPr>
        <p:spPr>
          <a:xfrm rot="0">
            <a:off x="1088524" y="2110904"/>
            <a:ext cx="3869650" cy="422626"/>
          </a:xfrm>
          <a:prstGeom prst="rect">
            <a:avLst/>
          </a:prstGeom>
        </p:spPr>
        <p:txBody>
          <a:bodyPr anchor="t" rtlCol="false" tIns="0" lIns="0" bIns="0" rIns="0">
            <a:spAutoFit/>
          </a:bodyPr>
          <a:lstStyle/>
          <a:p>
            <a:pPr algn="l">
              <a:lnSpc>
                <a:spcPts val="3480"/>
              </a:lnSpc>
            </a:pPr>
            <a:r>
              <a:rPr lang="en-US" sz="2486">
                <a:solidFill>
                  <a:srgbClr val="5678F0"/>
                </a:solidFill>
                <a:latin typeface="Inter"/>
                <a:ea typeface="Inter"/>
                <a:cs typeface="Inter"/>
                <a:sym typeface="Inter"/>
              </a:rPr>
              <a:t>Những hạn chế còn tồn tại</a:t>
            </a:r>
          </a:p>
        </p:txBody>
      </p:sp>
      <p:grpSp>
        <p:nvGrpSpPr>
          <p:cNvPr name="Group 14" id="14"/>
          <p:cNvGrpSpPr/>
          <p:nvPr/>
        </p:nvGrpSpPr>
        <p:grpSpPr>
          <a:xfrm rot="0">
            <a:off x="15989351" y="0"/>
            <a:ext cx="2212924" cy="221292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0" r="0" b="0"/>
              </a:stretch>
            </a:blipFill>
          </p:spPr>
        </p:sp>
      </p:grpSp>
    </p:spTree>
  </p:cSld>
  <p:clrMapOvr>
    <a:masterClrMapping/>
  </p:clrMapOvr>
</p:sld>
</file>

<file path=ppt/slides/slide18.xml><?xml version="1.0" encoding="utf-8"?>
<p:sld xmlns:p="http://schemas.openxmlformats.org/presentationml/2006/main" xmlns:a="http://schemas.openxmlformats.org/drawingml/2006/main">
  <p:cSld>
    <p:bg>
      <p:bgPr>
        <a:gradFill rotWithShape="true">
          <a:gsLst>
            <a:gs pos="0">
              <a:srgbClr val="8C52FF">
                <a:alpha val="100000"/>
              </a:srgbClr>
            </a:gs>
            <a:gs pos="100000">
              <a:srgbClr val="5CE1E6">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4887260" y="4107163"/>
            <a:ext cx="8513479" cy="1872648"/>
          </a:xfrm>
          <a:prstGeom prst="rect">
            <a:avLst/>
          </a:prstGeom>
        </p:spPr>
        <p:txBody>
          <a:bodyPr anchor="t" rtlCol="false" tIns="0" lIns="0" bIns="0" rIns="0">
            <a:spAutoFit/>
          </a:bodyPr>
          <a:lstStyle/>
          <a:p>
            <a:pPr algn="ctr">
              <a:lnSpc>
                <a:spcPts val="15233"/>
              </a:lnSpc>
              <a:spcBef>
                <a:spcPct val="0"/>
              </a:spcBef>
            </a:pPr>
            <a:r>
              <a:rPr lang="en-US" sz="10982">
                <a:solidFill>
                  <a:srgbClr val="FFFFFF"/>
                </a:solidFill>
                <a:latin typeface="Inters"/>
                <a:ea typeface="Inters"/>
                <a:cs typeface="Inters"/>
                <a:sym typeface="Inters"/>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DAHEUnMlQtg</dc:identifier>
  <dcterms:modified xsi:type="dcterms:W3CDTF">2011-08-01T06:04:30Z</dcterms:modified>
  <cp:revision>1</cp:revision>
  <dc:title>Hướng phát triển</dc:title>
</cp:coreProperties>
</file>